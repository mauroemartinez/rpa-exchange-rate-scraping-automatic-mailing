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300" b="1">
                <a:solidFill>
                  <a:srgbClr val="2C3E50"/>
                </a:solidFill>
              </a:defRPr>
            </a:pPr>
            <a:r>
              <a:t>Cotizaciones paralelas (ARS por USD)</a:t>
            </a:r>
          </a:p>
        </c:rich>
      </c:tx>
      <c:layout/>
      <c:overlay val="0"/>
    </c:title>
    <c:autoTitleDeleted val="0"/>
    <c:plotArea>
      <c:lineChart>
        <c:grouping val="standard"/>
        <c:varyColors val="0"/>
        <c:ser>
          <c:idx val="0"/>
          <c:order val="0"/>
          <c:tx>
            <c:strRef>
              <c:f>Sheet1!$B$1</c:f>
              <c:strCache>
                <c:ptCount val="1"/>
                <c:pt idx="0">
                  <c:v>Euro blue</c:v>
                </c:pt>
              </c:strCache>
            </c:strRef>
          </c:tx>
          <c:spPr>
            <a:ln w="25400">
              <a:solidFill>
                <a:srgbClr val="001C7F"/>
              </a:solidFill>
            </a:ln>
          </c:spPr>
          <c:marker>
            <c:symbol val="circle"/>
            <c:size val="5"/>
            <c:spPr>
              <a:solidFill>
                <a:srgbClr val="001C7F"/>
              </a:solidFill>
              <a:ln>
                <a:solidFill>
                  <a:srgbClr val="001C7F"/>
                </a:solidFill>
              </a:ln>
            </c:spPr>
          </c:marker>
          <c:cat>
            <c:strRef>
              <c:f>Sheet1!$A$2:$A$26</c:f>
              <c:strCache>
                <c:ptCount val="25"/>
                <c:pt idx="0">
                  <c:v>23/09</c:v>
                </c:pt>
                <c:pt idx="1">
                  <c:v>25/09</c:v>
                </c:pt>
                <c:pt idx="2">
                  <c:v>28/09</c:v>
                </c:pt>
                <c:pt idx="3">
                  <c:v>29/09</c:v>
                </c:pt>
                <c:pt idx="4">
                  <c:v>30/09</c:v>
                </c:pt>
                <c:pt idx="5">
                  <c:v>01/10</c:v>
                </c:pt>
                <c:pt idx="6">
                  <c:v>05/10</c:v>
                </c:pt>
                <c:pt idx="7">
                  <c:v>06/10</c:v>
                </c:pt>
                <c:pt idx="8">
                  <c:v>07/10</c:v>
                </c:pt>
                <c:pt idx="9">
                  <c:v>08/10</c:v>
                </c:pt>
                <c:pt idx="10">
                  <c:v>09/10</c:v>
                </c:pt>
                <c:pt idx="11">
                  <c:v>13/10</c:v>
                </c:pt>
                <c:pt idx="12">
                  <c:v>14/10</c:v>
                </c:pt>
                <c:pt idx="13">
                  <c:v>15/10</c:v>
                </c:pt>
                <c:pt idx="14">
                  <c:v>16/10</c:v>
                </c:pt>
                <c:pt idx="15">
                  <c:v>19/10</c:v>
                </c:pt>
                <c:pt idx="16">
                  <c:v>20/10</c:v>
                </c:pt>
                <c:pt idx="17">
                  <c:v>21/10</c:v>
                </c:pt>
                <c:pt idx="18">
                  <c:v>22/10</c:v>
                </c:pt>
                <c:pt idx="19">
                  <c:v>23/10</c:v>
                </c:pt>
                <c:pt idx="20">
                  <c:v>26/10</c:v>
                </c:pt>
                <c:pt idx="21">
                  <c:v>27/10</c:v>
                </c:pt>
                <c:pt idx="22">
                  <c:v>28/10</c:v>
                </c:pt>
                <c:pt idx="23">
                  <c:v>29/10</c:v>
                </c:pt>
                <c:pt idx="24">
                  <c:v>30/10</c:v>
                </c:pt>
              </c:strCache>
            </c:strRef>
          </c:cat>
          <c:val>
            <c:numRef>
              <c:f>Sheet1!$B$2:$B$26</c:f>
              <c:numCache>
                <c:formatCode>#,##0</c:formatCode>
                <c:ptCount val="25"/>
                <c:pt idx="0">
                  <c:v>1778.57</c:v>
                </c:pt>
                <c:pt idx="1">
                  <c:v>1772.56</c:v>
                </c:pt>
                <c:pt idx="2">
                  <c:v>1780.74</c:v>
                </c:pt>
                <c:pt idx="3">
                  <c:v>1780.74</c:v>
                </c:pt>
                <c:pt idx="4">
                  <c:v>1764.66</c:v>
                </c:pt>
                <c:pt idx="5">
                  <c:v>1746.82</c:v>
                </c:pt>
                <c:pt idx="6">
                  <c:v>1756.44</c:v>
                </c:pt>
                <c:pt idx="7">
                  <c:v>1733.22</c:v>
                </c:pt>
                <c:pt idx="8">
                  <c:v>1739.12</c:v>
                </c:pt>
                <c:pt idx="9">
                  <c:v>1739.12</c:v>
                </c:pt>
                <c:pt idx="10">
                  <c:v>1727.89</c:v>
                </c:pt>
                <c:pt idx="11">
                  <c:v>1727.89</c:v>
                </c:pt>
                <c:pt idx="12">
                  <c:v>1733.01</c:v>
                </c:pt>
                <c:pt idx="13">
                  <c:v>1725.38</c:v>
                </c:pt>
                <c:pt idx="14">
                  <c:v>1737.6</c:v>
                </c:pt>
                <c:pt idx="15">
                  <c:v>1750.4</c:v>
                </c:pt>
                <c:pt idx="16">
                  <c:v>1755.87</c:v>
                </c:pt>
                <c:pt idx="17">
                  <c:v>1761.04</c:v>
                </c:pt>
                <c:pt idx="18">
                  <c:v>1761.04</c:v>
                </c:pt>
                <c:pt idx="19">
                  <c:v>1754.91</c:v>
                </c:pt>
                <c:pt idx="20">
                  <c:v>1751.79</c:v>
                </c:pt>
                <c:pt idx="21">
                  <c:v>1763.92</c:v>
                </c:pt>
                <c:pt idx="22">
                  <c:v>1752.13</c:v>
                </c:pt>
                <c:pt idx="23">
                  <c:v>1745.55</c:v>
                </c:pt>
                <c:pt idx="24">
                  <c:v>1747.62</c:v>
                </c:pt>
              </c:numCache>
            </c:numRef>
          </c:val>
          <c:smooth val="0"/>
        </c:ser>
        <c:ser>
          <c:idx val="1"/>
          <c:order val="1"/>
          <c:tx>
            <c:strRef>
              <c:f>Sheet1!$C$1</c:f>
              <c:strCache>
                <c:ptCount val="1"/>
                <c:pt idx="0">
                  <c:v>Blue venta</c:v>
                </c:pt>
              </c:strCache>
            </c:strRef>
          </c:tx>
          <c:spPr>
            <a:ln w="25400">
              <a:solidFill>
                <a:srgbClr val="B1400D"/>
              </a:solidFill>
            </a:ln>
          </c:spPr>
          <c:marker>
            <c:symbol val="circle"/>
            <c:size val="5"/>
            <c:spPr>
              <a:solidFill>
                <a:srgbClr val="B1400D"/>
              </a:solidFill>
              <a:ln>
                <a:solidFill>
                  <a:srgbClr val="B1400D"/>
                </a:solidFill>
              </a:ln>
            </c:spPr>
          </c:marker>
          <c:cat>
            <c:strRef>
              <c:f>Sheet1!$A$2:$A$26</c:f>
              <c:strCache>
                <c:ptCount val="25"/>
                <c:pt idx="0">
                  <c:v>23/09</c:v>
                </c:pt>
                <c:pt idx="1">
                  <c:v>25/09</c:v>
                </c:pt>
                <c:pt idx="2">
                  <c:v>28/09</c:v>
                </c:pt>
                <c:pt idx="3">
                  <c:v>29/09</c:v>
                </c:pt>
                <c:pt idx="4">
                  <c:v>30/09</c:v>
                </c:pt>
                <c:pt idx="5">
                  <c:v>01/10</c:v>
                </c:pt>
                <c:pt idx="6">
                  <c:v>05/10</c:v>
                </c:pt>
                <c:pt idx="7">
                  <c:v>06/10</c:v>
                </c:pt>
                <c:pt idx="8">
                  <c:v>07/10</c:v>
                </c:pt>
                <c:pt idx="9">
                  <c:v>08/10</c:v>
                </c:pt>
                <c:pt idx="10">
                  <c:v>09/10</c:v>
                </c:pt>
                <c:pt idx="11">
                  <c:v>13/10</c:v>
                </c:pt>
                <c:pt idx="12">
                  <c:v>14/10</c:v>
                </c:pt>
                <c:pt idx="13">
                  <c:v>15/10</c:v>
                </c:pt>
                <c:pt idx="14">
                  <c:v>16/10</c:v>
                </c:pt>
                <c:pt idx="15">
                  <c:v>19/10</c:v>
                </c:pt>
                <c:pt idx="16">
                  <c:v>20/10</c:v>
                </c:pt>
                <c:pt idx="17">
                  <c:v>21/10</c:v>
                </c:pt>
                <c:pt idx="18">
                  <c:v>22/10</c:v>
                </c:pt>
                <c:pt idx="19">
                  <c:v>23/10</c:v>
                </c:pt>
                <c:pt idx="20">
                  <c:v>26/10</c:v>
                </c:pt>
                <c:pt idx="21">
                  <c:v>27/10</c:v>
                </c:pt>
                <c:pt idx="22">
                  <c:v>28/10</c:v>
                </c:pt>
                <c:pt idx="23">
                  <c:v>29/10</c:v>
                </c:pt>
                <c:pt idx="24">
                  <c:v>30/10</c:v>
                </c:pt>
              </c:strCache>
            </c:strRef>
          </c:cat>
          <c:val>
            <c:numRef>
              <c:f>Sheet1!$C$2:$C$26</c:f>
              <c:numCache>
                <c:formatCode>#,##0</c:formatCode>
                <c:ptCount val="25"/>
                <c:pt idx="0">
                  <c:v>1560.0</c:v>
                </c:pt>
                <c:pt idx="1">
                  <c:v>1560.0</c:v>
                </c:pt>
                <c:pt idx="2">
                  <c:v>1565.0</c:v>
                </c:pt>
                <c:pt idx="3">
                  <c:v>1560.0</c:v>
                </c:pt>
                <c:pt idx="4">
                  <c:v>1560.0</c:v>
                </c:pt>
                <c:pt idx="5">
                  <c:v>1555.0</c:v>
                </c:pt>
                <c:pt idx="6">
                  <c:v>1545.0</c:v>
                </c:pt>
                <c:pt idx="7">
                  <c:v>1550.0</c:v>
                </c:pt>
                <c:pt idx="8">
                  <c:v>1555.0</c:v>
                </c:pt>
                <c:pt idx="9">
                  <c:v>1540.0</c:v>
                </c:pt>
                <c:pt idx="10">
                  <c:v>1540.0</c:v>
                </c:pt>
                <c:pt idx="11">
                  <c:v>1550.0</c:v>
                </c:pt>
                <c:pt idx="12">
                  <c:v>1550.0</c:v>
                </c:pt>
                <c:pt idx="13">
                  <c:v>1545.0</c:v>
                </c:pt>
                <c:pt idx="14">
                  <c:v>1555.0</c:v>
                </c:pt>
                <c:pt idx="15">
                  <c:v>1560.0</c:v>
                </c:pt>
                <c:pt idx="16">
                  <c:v>1570.0</c:v>
                </c:pt>
                <c:pt idx="17">
                  <c:v>1565.0</c:v>
                </c:pt>
                <c:pt idx="18">
                  <c:v>1565.0</c:v>
                </c:pt>
                <c:pt idx="19">
                  <c:v>1565.0</c:v>
                </c:pt>
                <c:pt idx="20">
                  <c:v>1575.0</c:v>
                </c:pt>
                <c:pt idx="21">
                  <c:v>1575.0</c:v>
                </c:pt>
                <c:pt idx="22">
                  <c:v>1565.0</c:v>
                </c:pt>
                <c:pt idx="23">
                  <c:v>1565.0</c:v>
                </c:pt>
                <c:pt idx="24">
                  <c:v>1565.0</c:v>
                </c:pt>
              </c:numCache>
            </c:numRef>
          </c:val>
          <c:smooth val="0"/>
        </c:ser>
        <c:ser>
          <c:idx val="2"/>
          <c:order val="2"/>
          <c:tx>
            <c:strRef>
              <c:f>Sheet1!$D$1</c:f>
              <c:strCache>
                <c:ptCount val="1"/>
                <c:pt idx="0">
                  <c:v>Blue compra</c:v>
                </c:pt>
              </c:strCache>
            </c:strRef>
          </c:tx>
          <c:spPr>
            <a:ln w="25400">
              <a:solidFill>
                <a:srgbClr val="12711C"/>
              </a:solidFill>
            </a:ln>
          </c:spPr>
          <c:marker>
            <c:symbol val="circle"/>
            <c:size val="5"/>
            <c:spPr>
              <a:solidFill>
                <a:srgbClr val="12711C"/>
              </a:solidFill>
              <a:ln>
                <a:solidFill>
                  <a:srgbClr val="12711C"/>
                </a:solidFill>
              </a:ln>
            </c:spPr>
          </c:marker>
          <c:cat>
            <c:strRef>
              <c:f>Sheet1!$A$2:$A$26</c:f>
              <c:strCache>
                <c:ptCount val="25"/>
                <c:pt idx="0">
                  <c:v>23/09</c:v>
                </c:pt>
                <c:pt idx="1">
                  <c:v>25/09</c:v>
                </c:pt>
                <c:pt idx="2">
                  <c:v>28/09</c:v>
                </c:pt>
                <c:pt idx="3">
                  <c:v>29/09</c:v>
                </c:pt>
                <c:pt idx="4">
                  <c:v>30/09</c:v>
                </c:pt>
                <c:pt idx="5">
                  <c:v>01/10</c:v>
                </c:pt>
                <c:pt idx="6">
                  <c:v>05/10</c:v>
                </c:pt>
                <c:pt idx="7">
                  <c:v>06/10</c:v>
                </c:pt>
                <c:pt idx="8">
                  <c:v>07/10</c:v>
                </c:pt>
                <c:pt idx="9">
                  <c:v>08/10</c:v>
                </c:pt>
                <c:pt idx="10">
                  <c:v>09/10</c:v>
                </c:pt>
                <c:pt idx="11">
                  <c:v>13/10</c:v>
                </c:pt>
                <c:pt idx="12">
                  <c:v>14/10</c:v>
                </c:pt>
                <c:pt idx="13">
                  <c:v>15/10</c:v>
                </c:pt>
                <c:pt idx="14">
                  <c:v>16/10</c:v>
                </c:pt>
                <c:pt idx="15">
                  <c:v>19/10</c:v>
                </c:pt>
                <c:pt idx="16">
                  <c:v>20/10</c:v>
                </c:pt>
                <c:pt idx="17">
                  <c:v>21/10</c:v>
                </c:pt>
                <c:pt idx="18">
                  <c:v>22/10</c:v>
                </c:pt>
                <c:pt idx="19">
                  <c:v>23/10</c:v>
                </c:pt>
                <c:pt idx="20">
                  <c:v>26/10</c:v>
                </c:pt>
                <c:pt idx="21">
                  <c:v>27/10</c:v>
                </c:pt>
                <c:pt idx="22">
                  <c:v>28/10</c:v>
                </c:pt>
                <c:pt idx="23">
                  <c:v>29/10</c:v>
                </c:pt>
                <c:pt idx="24">
                  <c:v>30/10</c:v>
                </c:pt>
              </c:strCache>
            </c:strRef>
          </c:cat>
          <c:val>
            <c:numRef>
              <c:f>Sheet1!$D$2:$D$26</c:f>
              <c:numCache>
                <c:formatCode>#,##0</c:formatCode>
                <c:ptCount val="25"/>
                <c:pt idx="0">
                  <c:v>1540.0</c:v>
                </c:pt>
                <c:pt idx="1">
                  <c:v>1540.0</c:v>
                </c:pt>
                <c:pt idx="2">
                  <c:v>1545.0</c:v>
                </c:pt>
                <c:pt idx="3">
                  <c:v>1540.0</c:v>
                </c:pt>
                <c:pt idx="4">
                  <c:v>1540.0</c:v>
                </c:pt>
                <c:pt idx="5">
                  <c:v>1535.0</c:v>
                </c:pt>
                <c:pt idx="6">
                  <c:v>1525.0</c:v>
                </c:pt>
                <c:pt idx="7">
                  <c:v>1530.0</c:v>
                </c:pt>
                <c:pt idx="8">
                  <c:v>1535.0</c:v>
                </c:pt>
                <c:pt idx="9">
                  <c:v>1520.0</c:v>
                </c:pt>
                <c:pt idx="10">
                  <c:v>1520.0</c:v>
                </c:pt>
                <c:pt idx="11">
                  <c:v>1530.0</c:v>
                </c:pt>
                <c:pt idx="12">
                  <c:v>1530.0</c:v>
                </c:pt>
                <c:pt idx="13">
                  <c:v>1525.0</c:v>
                </c:pt>
                <c:pt idx="14">
                  <c:v>1535.0</c:v>
                </c:pt>
                <c:pt idx="15">
                  <c:v>1540.0</c:v>
                </c:pt>
                <c:pt idx="16">
                  <c:v>1550.0</c:v>
                </c:pt>
                <c:pt idx="17">
                  <c:v>1545.0</c:v>
                </c:pt>
                <c:pt idx="18">
                  <c:v>1545.0</c:v>
                </c:pt>
                <c:pt idx="19">
                  <c:v>1545.0</c:v>
                </c:pt>
                <c:pt idx="20">
                  <c:v>1555.0</c:v>
                </c:pt>
                <c:pt idx="21">
                  <c:v>1555.0</c:v>
                </c:pt>
                <c:pt idx="22">
                  <c:v>1545.0</c:v>
                </c:pt>
                <c:pt idx="23">
                  <c:v>1545.0</c:v>
                </c:pt>
                <c:pt idx="24">
                  <c:v>1545.0</c:v>
                </c:pt>
              </c:numCache>
            </c:numRef>
          </c:val>
          <c:smooth val="0"/>
        </c:ser>
        <c:ser>
          <c:idx val="3"/>
          <c:order val="3"/>
          <c:tx>
            <c:strRef>
              <c:f>Sheet1!$E$1</c:f>
              <c:strCache>
                <c:ptCount val="1"/>
                <c:pt idx="0">
                  <c:v>MEP</c:v>
                </c:pt>
              </c:strCache>
            </c:strRef>
          </c:tx>
          <c:spPr>
            <a:ln w="25400">
              <a:solidFill>
                <a:srgbClr val="8C0800"/>
              </a:solidFill>
            </a:ln>
          </c:spPr>
          <c:marker>
            <c:symbol val="circle"/>
            <c:size val="5"/>
            <c:spPr>
              <a:solidFill>
                <a:srgbClr val="8C0800"/>
              </a:solidFill>
              <a:ln>
                <a:solidFill>
                  <a:srgbClr val="8C0800"/>
                </a:solidFill>
              </a:ln>
            </c:spPr>
          </c:marker>
          <c:cat>
            <c:strRef>
              <c:f>Sheet1!$A$2:$A$26</c:f>
              <c:strCache>
                <c:ptCount val="25"/>
                <c:pt idx="0">
                  <c:v>23/09</c:v>
                </c:pt>
                <c:pt idx="1">
                  <c:v>25/09</c:v>
                </c:pt>
                <c:pt idx="2">
                  <c:v>28/09</c:v>
                </c:pt>
                <c:pt idx="3">
                  <c:v>29/09</c:v>
                </c:pt>
                <c:pt idx="4">
                  <c:v>30/09</c:v>
                </c:pt>
                <c:pt idx="5">
                  <c:v>01/10</c:v>
                </c:pt>
                <c:pt idx="6">
                  <c:v>05/10</c:v>
                </c:pt>
                <c:pt idx="7">
                  <c:v>06/10</c:v>
                </c:pt>
                <c:pt idx="8">
                  <c:v>07/10</c:v>
                </c:pt>
                <c:pt idx="9">
                  <c:v>08/10</c:v>
                </c:pt>
                <c:pt idx="10">
                  <c:v>09/10</c:v>
                </c:pt>
                <c:pt idx="11">
                  <c:v>13/10</c:v>
                </c:pt>
                <c:pt idx="12">
                  <c:v>14/10</c:v>
                </c:pt>
                <c:pt idx="13">
                  <c:v>15/10</c:v>
                </c:pt>
                <c:pt idx="14">
                  <c:v>16/10</c:v>
                </c:pt>
                <c:pt idx="15">
                  <c:v>19/10</c:v>
                </c:pt>
                <c:pt idx="16">
                  <c:v>20/10</c:v>
                </c:pt>
                <c:pt idx="17">
                  <c:v>21/10</c:v>
                </c:pt>
                <c:pt idx="18">
                  <c:v>22/10</c:v>
                </c:pt>
                <c:pt idx="19">
                  <c:v>23/10</c:v>
                </c:pt>
                <c:pt idx="20">
                  <c:v>26/10</c:v>
                </c:pt>
                <c:pt idx="21">
                  <c:v>27/10</c:v>
                </c:pt>
                <c:pt idx="22">
                  <c:v>28/10</c:v>
                </c:pt>
                <c:pt idx="23">
                  <c:v>29/10</c:v>
                </c:pt>
                <c:pt idx="24">
                  <c:v>30/10</c:v>
                </c:pt>
              </c:strCache>
            </c:strRef>
          </c:cat>
          <c:val>
            <c:numRef>
              <c:f>Sheet1!$E$2:$E$26</c:f>
              <c:numCache>
                <c:formatCode>#,##0</c:formatCode>
                <c:ptCount val="25"/>
                <c:pt idx="0">
                  <c:v>1539.52</c:v>
                </c:pt>
                <c:pt idx="1">
                  <c:v>1549.17</c:v>
                </c:pt>
                <c:pt idx="2">
                  <c:v>1555.31</c:v>
                </c:pt>
                <c:pt idx="3">
                  <c:v>1543.2</c:v>
                </c:pt>
                <c:pt idx="4">
                  <c:v>1543.66</c:v>
                </c:pt>
                <c:pt idx="5">
                  <c:v>1552.44</c:v>
                </c:pt>
                <c:pt idx="6">
                  <c:v>1535.65</c:v>
                </c:pt>
                <c:pt idx="7">
                  <c:v>1538.89</c:v>
                </c:pt>
                <c:pt idx="8">
                  <c:v>1539.01</c:v>
                </c:pt>
                <c:pt idx="9">
                  <c:v>1539.24</c:v>
                </c:pt>
                <c:pt idx="10">
                  <c:v>1539.28</c:v>
                </c:pt>
                <c:pt idx="11">
                  <c:v>1538.06</c:v>
                </c:pt>
                <c:pt idx="12">
                  <c:v>1537.13</c:v>
                </c:pt>
                <c:pt idx="13">
                  <c:v>1535.36</c:v>
                </c:pt>
                <c:pt idx="14">
                  <c:v>1536.04</c:v>
                </c:pt>
                <c:pt idx="15">
                  <c:v>1539.59</c:v>
                </c:pt>
                <c:pt idx="16">
                  <c:v>1544.17</c:v>
                </c:pt>
                <c:pt idx="17">
                  <c:v>1547.78</c:v>
                </c:pt>
                <c:pt idx="18">
                  <c:v>1556.2</c:v>
                </c:pt>
                <c:pt idx="19">
                  <c:v>1554.93</c:v>
                </c:pt>
                <c:pt idx="20">
                  <c:v>1568.39</c:v>
                </c:pt>
                <c:pt idx="21">
                  <c:v>1559.24</c:v>
                </c:pt>
                <c:pt idx="22">
                  <c:v>1567.5</c:v>
                </c:pt>
                <c:pt idx="23">
                  <c:v>1566.16</c:v>
                </c:pt>
                <c:pt idx="24">
                  <c:v>1568.96</c:v>
                </c:pt>
              </c:numCache>
            </c:numRef>
          </c:val>
          <c:smooth val="0"/>
        </c:ser>
        <c:ser>
          <c:idx val="4"/>
          <c:order val="4"/>
          <c:tx>
            <c:strRef>
              <c:f>Sheet1!$F$1</c:f>
              <c:strCache>
                <c:ptCount val="1"/>
                <c:pt idx="0">
                  <c:v>Solidario</c:v>
                </c:pt>
              </c:strCache>
            </c:strRef>
          </c:tx>
          <c:spPr>
            <a:ln w="25400">
              <a:solidFill>
                <a:srgbClr val="591E71"/>
              </a:solidFill>
            </a:ln>
          </c:spPr>
          <c:marker>
            <c:symbol val="circle"/>
            <c:size val="5"/>
            <c:spPr>
              <a:solidFill>
                <a:srgbClr val="591E71"/>
              </a:solidFill>
              <a:ln>
                <a:solidFill>
                  <a:srgbClr val="591E71"/>
                </a:solidFill>
              </a:ln>
            </c:spPr>
          </c:marker>
          <c:cat>
            <c:strRef>
              <c:f>Sheet1!$A$2:$A$26</c:f>
              <c:strCache>
                <c:ptCount val="25"/>
                <c:pt idx="0">
                  <c:v>23/09</c:v>
                </c:pt>
                <c:pt idx="1">
                  <c:v>25/09</c:v>
                </c:pt>
                <c:pt idx="2">
                  <c:v>28/09</c:v>
                </c:pt>
                <c:pt idx="3">
                  <c:v>29/09</c:v>
                </c:pt>
                <c:pt idx="4">
                  <c:v>30/09</c:v>
                </c:pt>
                <c:pt idx="5">
                  <c:v>01/10</c:v>
                </c:pt>
                <c:pt idx="6">
                  <c:v>05/10</c:v>
                </c:pt>
                <c:pt idx="7">
                  <c:v>06/10</c:v>
                </c:pt>
                <c:pt idx="8">
                  <c:v>07/10</c:v>
                </c:pt>
                <c:pt idx="9">
                  <c:v>08/10</c:v>
                </c:pt>
                <c:pt idx="10">
                  <c:v>09/10</c:v>
                </c:pt>
                <c:pt idx="11">
                  <c:v>13/10</c:v>
                </c:pt>
                <c:pt idx="12">
                  <c:v>14/10</c:v>
                </c:pt>
                <c:pt idx="13">
                  <c:v>15/10</c:v>
                </c:pt>
                <c:pt idx="14">
                  <c:v>16/10</c:v>
                </c:pt>
                <c:pt idx="15">
                  <c:v>19/10</c:v>
                </c:pt>
                <c:pt idx="16">
                  <c:v>20/10</c:v>
                </c:pt>
                <c:pt idx="17">
                  <c:v>21/10</c:v>
                </c:pt>
                <c:pt idx="18">
                  <c:v>22/10</c:v>
                </c:pt>
                <c:pt idx="19">
                  <c:v>23/10</c:v>
                </c:pt>
                <c:pt idx="20">
                  <c:v>26/10</c:v>
                </c:pt>
                <c:pt idx="21">
                  <c:v>27/10</c:v>
                </c:pt>
                <c:pt idx="22">
                  <c:v>28/10</c:v>
                </c:pt>
                <c:pt idx="23">
                  <c:v>29/10</c:v>
                </c:pt>
                <c:pt idx="24">
                  <c:v>30/10</c:v>
                </c:pt>
              </c:strCache>
            </c:strRef>
          </c:cat>
          <c:val>
            <c:numRef>
              <c:f>Sheet1!$F$2:$F$26</c:f>
              <c:numCache>
                <c:formatCode>#,##0</c:formatCode>
                <c:ptCount val="25"/>
                <c:pt idx="0">
                  <c:v>1995.5</c:v>
                </c:pt>
                <c:pt idx="1">
                  <c:v>2008.5</c:v>
                </c:pt>
                <c:pt idx="2">
                  <c:v>2008.5</c:v>
                </c:pt>
                <c:pt idx="3">
                  <c:v>2008.5</c:v>
                </c:pt>
                <c:pt idx="4">
                  <c:v>2002.0</c:v>
                </c:pt>
                <c:pt idx="5">
                  <c:v>2008.5</c:v>
                </c:pt>
                <c:pt idx="6">
                  <c:v>2002.0</c:v>
                </c:pt>
                <c:pt idx="7">
                  <c:v>2002.0</c:v>
                </c:pt>
                <c:pt idx="8">
                  <c:v>2002.0</c:v>
                </c:pt>
                <c:pt idx="9">
                  <c:v>2002.0</c:v>
                </c:pt>
                <c:pt idx="10">
                  <c:v>1995.5</c:v>
                </c:pt>
                <c:pt idx="11">
                  <c:v>1995.5</c:v>
                </c:pt>
                <c:pt idx="12">
                  <c:v>1995.5</c:v>
                </c:pt>
                <c:pt idx="13">
                  <c:v>1989.0</c:v>
                </c:pt>
                <c:pt idx="14">
                  <c:v>1995.5</c:v>
                </c:pt>
                <c:pt idx="15">
                  <c:v>2002.0</c:v>
                </c:pt>
                <c:pt idx="16">
                  <c:v>2008.5</c:v>
                </c:pt>
                <c:pt idx="17">
                  <c:v>2008.5</c:v>
                </c:pt>
                <c:pt idx="18">
                  <c:v>2015.0</c:v>
                </c:pt>
                <c:pt idx="19">
                  <c:v>2015.0</c:v>
                </c:pt>
                <c:pt idx="20">
                  <c:v>2028.0</c:v>
                </c:pt>
                <c:pt idx="21">
                  <c:v>2028.0</c:v>
                </c:pt>
                <c:pt idx="22">
                  <c:v>2028.0</c:v>
                </c:pt>
                <c:pt idx="23">
                  <c:v>2028.0</c:v>
                </c:pt>
                <c:pt idx="24">
                  <c:v>2028.0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6EF"/>
            </a:solidFill>
          </a:ln>
        </c:spPr>
        <c:crossAx val="2140495176"/>
        <c:crosses val="autoZero"/>
        <c:auto val="1"/>
        <c:lblAlgn val="ctr"/>
        <c:lblOffset val="100"/>
        <c:noMultiLvlLbl val="0"/>
      </c:catAx>
      <c:valAx>
        <c:axId val="2140495176"/>
        <c:scaling>
          <c:max val="2200.0"/>
          <c:min val="1400.0"/>
        </c:scaling>
        <c:delete val="0"/>
        <c:axPos val="l"/>
        <c:majorGridlines>
          <c:spPr>
            <a:ln w="9525">
              <a:solidFill>
                <a:srgbClr val="DCE6EF"/>
              </a:solidFill>
            </a:ln>
          </c:spPr>
        </c:majorGridlines>
        <c:numFmt formatCode="#,##0" sourceLinked="0"/>
        <c:majorTickMark val="out"/>
        <c:minorTickMark val="none"/>
        <c:tickLblPos val="nextTo"/>
        <c:spPr>
          <a:ln>
            <a:noFill/>
          </a:ln>
        </c:spPr>
        <c:crossAx val="2118791784"/>
        <c:crosses val="autoZero"/>
        <c:majorUnit val="200.0"/>
      </c:valAx>
    </c:plotArea>
    <c:legend>
      <c:legendPos val="b"/>
      <c:layout/>
      <c:overlay val="0"/>
      <c:txPr>
        <a:bodyPr/>
        <a:lstStyle/>
        <a:p>
          <a:pPr>
            <a:defRPr sz="900"/>
          </a:pPr>
        </a:p>
      </c:txPr>
    </c:legend>
    <c:plotVisOnly val="1"/>
    <c:dispBlanksAs val="gap"/>
    <c:showDLblsOverMax val="0"/>
  </c:chart>
  <c:txPr>
    <a:bodyPr/>
    <a:lstStyle/>
    <a:p>
      <a:pPr>
        <a:defRPr sz="1000">
          <a:solidFill>
            <a:srgbClr val="2C3E50"/>
          </a:solidFil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300" b="1">
                <a:solidFill>
                  <a:srgbClr val="2C3E50"/>
                </a:solidFill>
              </a:defRPr>
            </a:pPr>
            <a:r>
              <a:t>Cotizaciones oficiales del BNA (ARS por USD)</a:t>
            </a:r>
          </a:p>
        </c:rich>
      </c:tx>
      <c:layout/>
      <c:overlay val="0"/>
    </c:title>
    <c:autoTitleDeleted val="0"/>
    <c:plotArea>
      <c:lineChart>
        <c:grouping val="standard"/>
        <c:varyColors val="0"/>
        <c:ser>
          <c:idx val="0"/>
          <c:order val="0"/>
          <c:tx>
            <c:strRef>
              <c:f>Sheet1!$B$1</c:f>
              <c:strCache>
                <c:ptCount val="1"/>
                <c:pt idx="0">
                  <c:v>Billete venta</c:v>
                </c:pt>
              </c:strCache>
            </c:strRef>
          </c:tx>
          <c:spPr>
            <a:ln w="25400">
              <a:solidFill>
                <a:srgbClr val="023EFF"/>
              </a:solidFill>
            </a:ln>
          </c:spPr>
          <c:marker>
            <c:symbol val="circle"/>
            <c:size val="5"/>
            <c:spPr>
              <a:solidFill>
                <a:srgbClr val="023EFF"/>
              </a:solidFill>
              <a:ln>
                <a:solidFill>
                  <a:srgbClr val="023EFF"/>
                </a:solidFill>
              </a:ln>
            </c:spPr>
          </c:marker>
          <c:cat>
            <c:strRef>
              <c:f>Sheet1!$A$2:$A$26</c:f>
              <c:strCache>
                <c:ptCount val="25"/>
                <c:pt idx="0">
                  <c:v>23/09</c:v>
                </c:pt>
                <c:pt idx="1">
                  <c:v>25/09</c:v>
                </c:pt>
                <c:pt idx="2">
                  <c:v>28/09</c:v>
                </c:pt>
                <c:pt idx="3">
                  <c:v>29/09</c:v>
                </c:pt>
                <c:pt idx="4">
                  <c:v>30/09</c:v>
                </c:pt>
                <c:pt idx="5">
                  <c:v>01/10</c:v>
                </c:pt>
                <c:pt idx="6">
                  <c:v>05/10</c:v>
                </c:pt>
                <c:pt idx="7">
                  <c:v>06/10</c:v>
                </c:pt>
                <c:pt idx="8">
                  <c:v>07/10</c:v>
                </c:pt>
                <c:pt idx="9">
                  <c:v>08/10</c:v>
                </c:pt>
                <c:pt idx="10">
                  <c:v>09/10</c:v>
                </c:pt>
                <c:pt idx="11">
                  <c:v>13/10</c:v>
                </c:pt>
                <c:pt idx="12">
                  <c:v>14/10</c:v>
                </c:pt>
                <c:pt idx="13">
                  <c:v>15/10</c:v>
                </c:pt>
                <c:pt idx="14">
                  <c:v>16/10</c:v>
                </c:pt>
                <c:pt idx="15">
                  <c:v>19/10</c:v>
                </c:pt>
                <c:pt idx="16">
                  <c:v>20/10</c:v>
                </c:pt>
                <c:pt idx="17">
                  <c:v>21/10</c:v>
                </c:pt>
                <c:pt idx="18">
                  <c:v>22/10</c:v>
                </c:pt>
                <c:pt idx="19">
                  <c:v>23/10</c:v>
                </c:pt>
                <c:pt idx="20">
                  <c:v>26/10</c:v>
                </c:pt>
                <c:pt idx="21">
                  <c:v>27/10</c:v>
                </c:pt>
                <c:pt idx="22">
                  <c:v>28/10</c:v>
                </c:pt>
                <c:pt idx="23">
                  <c:v>29/10</c:v>
                </c:pt>
                <c:pt idx="24">
                  <c:v>30/10</c:v>
                </c:pt>
              </c:strCache>
            </c:strRef>
          </c:cat>
          <c:val>
            <c:numRef>
              <c:f>Sheet1!$B$2:$B$26</c:f>
              <c:numCache>
                <c:formatCode>#,##0</c:formatCode>
                <c:ptCount val="25"/>
                <c:pt idx="0">
                  <c:v>1535.0</c:v>
                </c:pt>
                <c:pt idx="1">
                  <c:v>1545.0</c:v>
                </c:pt>
                <c:pt idx="2">
                  <c:v>1545.0</c:v>
                </c:pt>
                <c:pt idx="3">
                  <c:v>1545.0</c:v>
                </c:pt>
                <c:pt idx="4">
                  <c:v>1540.0</c:v>
                </c:pt>
                <c:pt idx="5">
                  <c:v>1545.0</c:v>
                </c:pt>
                <c:pt idx="6">
                  <c:v>1540.0</c:v>
                </c:pt>
                <c:pt idx="7">
                  <c:v>1540.0</c:v>
                </c:pt>
                <c:pt idx="8">
                  <c:v>1540.0</c:v>
                </c:pt>
                <c:pt idx="9">
                  <c:v>1540.0</c:v>
                </c:pt>
                <c:pt idx="10">
                  <c:v>1535.0</c:v>
                </c:pt>
                <c:pt idx="11">
                  <c:v>1535.0</c:v>
                </c:pt>
                <c:pt idx="12">
                  <c:v>1535.0</c:v>
                </c:pt>
                <c:pt idx="13">
                  <c:v>1530.0</c:v>
                </c:pt>
                <c:pt idx="14">
                  <c:v>1535.0</c:v>
                </c:pt>
                <c:pt idx="15">
                  <c:v>1540.0</c:v>
                </c:pt>
                <c:pt idx="16">
                  <c:v>1545.0</c:v>
                </c:pt>
                <c:pt idx="17">
                  <c:v>1545.0</c:v>
                </c:pt>
                <c:pt idx="18">
                  <c:v>1550.0</c:v>
                </c:pt>
                <c:pt idx="19">
                  <c:v>1550.0</c:v>
                </c:pt>
                <c:pt idx="20">
                  <c:v>1560.0</c:v>
                </c:pt>
                <c:pt idx="21">
                  <c:v>1560.0</c:v>
                </c:pt>
                <c:pt idx="22">
                  <c:v>1560.0</c:v>
                </c:pt>
                <c:pt idx="23">
                  <c:v>1560.0</c:v>
                </c:pt>
                <c:pt idx="24">
                  <c:v>1560.0</c:v>
                </c:pt>
              </c:numCache>
            </c:numRef>
          </c:val>
          <c:smooth val="0"/>
        </c:ser>
        <c:ser>
          <c:idx val="1"/>
          <c:order val="1"/>
          <c:tx>
            <c:strRef>
              <c:f>Sheet1!$C$1</c:f>
              <c:strCache>
                <c:ptCount val="1"/>
                <c:pt idx="0">
                  <c:v>Divisas venta</c:v>
                </c:pt>
              </c:strCache>
            </c:strRef>
          </c:tx>
          <c:spPr>
            <a:ln w="25400">
              <a:solidFill>
                <a:srgbClr val="FF7C00"/>
              </a:solidFill>
            </a:ln>
          </c:spPr>
          <c:marker>
            <c:symbol val="circle"/>
            <c:size val="5"/>
            <c:spPr>
              <a:solidFill>
                <a:srgbClr val="FF7C00"/>
              </a:solidFill>
              <a:ln>
                <a:solidFill>
                  <a:srgbClr val="FF7C00"/>
                </a:solidFill>
              </a:ln>
            </c:spPr>
          </c:marker>
          <c:cat>
            <c:strRef>
              <c:f>Sheet1!$A$2:$A$26</c:f>
              <c:strCache>
                <c:ptCount val="25"/>
                <c:pt idx="0">
                  <c:v>23/09</c:v>
                </c:pt>
                <c:pt idx="1">
                  <c:v>25/09</c:v>
                </c:pt>
                <c:pt idx="2">
                  <c:v>28/09</c:v>
                </c:pt>
                <c:pt idx="3">
                  <c:v>29/09</c:v>
                </c:pt>
                <c:pt idx="4">
                  <c:v>30/09</c:v>
                </c:pt>
                <c:pt idx="5">
                  <c:v>01/10</c:v>
                </c:pt>
                <c:pt idx="6">
                  <c:v>05/10</c:v>
                </c:pt>
                <c:pt idx="7">
                  <c:v>06/10</c:v>
                </c:pt>
                <c:pt idx="8">
                  <c:v>07/10</c:v>
                </c:pt>
                <c:pt idx="9">
                  <c:v>08/10</c:v>
                </c:pt>
                <c:pt idx="10">
                  <c:v>09/10</c:v>
                </c:pt>
                <c:pt idx="11">
                  <c:v>13/10</c:v>
                </c:pt>
                <c:pt idx="12">
                  <c:v>14/10</c:v>
                </c:pt>
                <c:pt idx="13">
                  <c:v>15/10</c:v>
                </c:pt>
                <c:pt idx="14">
                  <c:v>16/10</c:v>
                </c:pt>
                <c:pt idx="15">
                  <c:v>19/10</c:v>
                </c:pt>
                <c:pt idx="16">
                  <c:v>20/10</c:v>
                </c:pt>
                <c:pt idx="17">
                  <c:v>21/10</c:v>
                </c:pt>
                <c:pt idx="18">
                  <c:v>22/10</c:v>
                </c:pt>
                <c:pt idx="19">
                  <c:v>23/10</c:v>
                </c:pt>
                <c:pt idx="20">
                  <c:v>26/10</c:v>
                </c:pt>
                <c:pt idx="21">
                  <c:v>27/10</c:v>
                </c:pt>
                <c:pt idx="22">
                  <c:v>28/10</c:v>
                </c:pt>
                <c:pt idx="23">
                  <c:v>29/10</c:v>
                </c:pt>
                <c:pt idx="24">
                  <c:v>30/10</c:v>
                </c:pt>
              </c:strCache>
            </c:strRef>
          </c:cat>
          <c:val>
            <c:numRef>
              <c:f>Sheet1!$C$2:$C$26</c:f>
              <c:numCache>
                <c:formatCode>#,##0</c:formatCode>
                <c:ptCount val="25"/>
                <c:pt idx="0">
                  <c:v>1516.0</c:v>
                </c:pt>
                <c:pt idx="1">
                  <c:v>1525.5</c:v>
                </c:pt>
                <c:pt idx="2">
                  <c:v>1524.5</c:v>
                </c:pt>
                <c:pt idx="3">
                  <c:v>1522.0</c:v>
                </c:pt>
                <c:pt idx="4">
                  <c:v>1517.0</c:v>
                </c:pt>
                <c:pt idx="5">
                  <c:v>1524.5</c:v>
                </c:pt>
                <c:pt idx="6">
                  <c:v>1520.0</c:v>
                </c:pt>
                <c:pt idx="7">
                  <c:v>1520.0</c:v>
                </c:pt>
                <c:pt idx="8">
                  <c:v>1517.0</c:v>
                </c:pt>
                <c:pt idx="9">
                  <c:v>1515.5</c:v>
                </c:pt>
                <c:pt idx="10">
                  <c:v>1517.0</c:v>
                </c:pt>
                <c:pt idx="11">
                  <c:v>1512.5</c:v>
                </c:pt>
                <c:pt idx="12">
                  <c:v>1513.0</c:v>
                </c:pt>
                <c:pt idx="13">
                  <c:v>1513.0</c:v>
                </c:pt>
                <c:pt idx="14">
                  <c:v>1518.0</c:v>
                </c:pt>
                <c:pt idx="15">
                  <c:v>1524.5</c:v>
                </c:pt>
                <c:pt idx="16">
                  <c:v>1525.0</c:v>
                </c:pt>
                <c:pt idx="17">
                  <c:v>1526.0</c:v>
                </c:pt>
                <c:pt idx="18">
                  <c:v>1528.0</c:v>
                </c:pt>
                <c:pt idx="19">
                  <c:v>1529.5</c:v>
                </c:pt>
                <c:pt idx="20">
                  <c:v>1541.0</c:v>
                </c:pt>
                <c:pt idx="21">
                  <c:v>1538.0</c:v>
                </c:pt>
                <c:pt idx="22">
                  <c:v>1542.0</c:v>
                </c:pt>
                <c:pt idx="23">
                  <c:v>1539.0</c:v>
                </c:pt>
                <c:pt idx="24">
                  <c:v>1534.0</c:v>
                </c:pt>
              </c:numCache>
            </c:numRef>
          </c:val>
          <c:smooth val="0"/>
        </c:ser>
        <c:ser>
          <c:idx val="2"/>
          <c:order val="2"/>
          <c:tx>
            <c:strRef>
              <c:f>Sheet1!$D$1</c:f>
              <c:strCache>
                <c:ptCount val="1"/>
                <c:pt idx="0">
                  <c:v>Divisas compra</c:v>
                </c:pt>
              </c:strCache>
            </c:strRef>
          </c:tx>
          <c:spPr>
            <a:ln w="25400">
              <a:solidFill>
                <a:srgbClr val="1AC938"/>
              </a:solidFill>
            </a:ln>
          </c:spPr>
          <c:marker>
            <c:symbol val="circle"/>
            <c:size val="5"/>
            <c:spPr>
              <a:solidFill>
                <a:srgbClr val="1AC938"/>
              </a:solidFill>
              <a:ln>
                <a:solidFill>
                  <a:srgbClr val="1AC938"/>
                </a:solidFill>
              </a:ln>
            </c:spPr>
          </c:marker>
          <c:cat>
            <c:strRef>
              <c:f>Sheet1!$A$2:$A$26</c:f>
              <c:strCache>
                <c:ptCount val="25"/>
                <c:pt idx="0">
                  <c:v>23/09</c:v>
                </c:pt>
                <c:pt idx="1">
                  <c:v>25/09</c:v>
                </c:pt>
                <c:pt idx="2">
                  <c:v>28/09</c:v>
                </c:pt>
                <c:pt idx="3">
                  <c:v>29/09</c:v>
                </c:pt>
                <c:pt idx="4">
                  <c:v>30/09</c:v>
                </c:pt>
                <c:pt idx="5">
                  <c:v>01/10</c:v>
                </c:pt>
                <c:pt idx="6">
                  <c:v>05/10</c:v>
                </c:pt>
                <c:pt idx="7">
                  <c:v>06/10</c:v>
                </c:pt>
                <c:pt idx="8">
                  <c:v>07/10</c:v>
                </c:pt>
                <c:pt idx="9">
                  <c:v>08/10</c:v>
                </c:pt>
                <c:pt idx="10">
                  <c:v>09/10</c:v>
                </c:pt>
                <c:pt idx="11">
                  <c:v>13/10</c:v>
                </c:pt>
                <c:pt idx="12">
                  <c:v>14/10</c:v>
                </c:pt>
                <c:pt idx="13">
                  <c:v>15/10</c:v>
                </c:pt>
                <c:pt idx="14">
                  <c:v>16/10</c:v>
                </c:pt>
                <c:pt idx="15">
                  <c:v>19/10</c:v>
                </c:pt>
                <c:pt idx="16">
                  <c:v>20/10</c:v>
                </c:pt>
                <c:pt idx="17">
                  <c:v>21/10</c:v>
                </c:pt>
                <c:pt idx="18">
                  <c:v>22/10</c:v>
                </c:pt>
                <c:pt idx="19">
                  <c:v>23/10</c:v>
                </c:pt>
                <c:pt idx="20">
                  <c:v>26/10</c:v>
                </c:pt>
                <c:pt idx="21">
                  <c:v>27/10</c:v>
                </c:pt>
                <c:pt idx="22">
                  <c:v>28/10</c:v>
                </c:pt>
                <c:pt idx="23">
                  <c:v>29/10</c:v>
                </c:pt>
                <c:pt idx="24">
                  <c:v>30/10</c:v>
                </c:pt>
              </c:strCache>
            </c:strRef>
          </c:cat>
          <c:val>
            <c:numRef>
              <c:f>Sheet1!$D$2:$D$26</c:f>
              <c:numCache>
                <c:formatCode>#,##0</c:formatCode>
                <c:ptCount val="25"/>
                <c:pt idx="0">
                  <c:v>1507.0</c:v>
                </c:pt>
                <c:pt idx="1">
                  <c:v>1516.5</c:v>
                </c:pt>
                <c:pt idx="2">
                  <c:v>1515.5</c:v>
                </c:pt>
                <c:pt idx="3">
                  <c:v>1513.0</c:v>
                </c:pt>
                <c:pt idx="4">
                  <c:v>1508.0</c:v>
                </c:pt>
                <c:pt idx="5">
                  <c:v>1515.5</c:v>
                </c:pt>
                <c:pt idx="6">
                  <c:v>1511.0</c:v>
                </c:pt>
                <c:pt idx="7">
                  <c:v>1511.0</c:v>
                </c:pt>
                <c:pt idx="8">
                  <c:v>1508.0</c:v>
                </c:pt>
                <c:pt idx="9">
                  <c:v>1506.5</c:v>
                </c:pt>
                <c:pt idx="10">
                  <c:v>1508.0</c:v>
                </c:pt>
                <c:pt idx="11">
                  <c:v>1503.5</c:v>
                </c:pt>
                <c:pt idx="12">
                  <c:v>1504.0</c:v>
                </c:pt>
                <c:pt idx="13">
                  <c:v>1504.0</c:v>
                </c:pt>
                <c:pt idx="14">
                  <c:v>1509.0</c:v>
                </c:pt>
                <c:pt idx="15">
                  <c:v>1515.5</c:v>
                </c:pt>
                <c:pt idx="16">
                  <c:v>1516.0</c:v>
                </c:pt>
                <c:pt idx="17">
                  <c:v>1517.0</c:v>
                </c:pt>
                <c:pt idx="18">
                  <c:v>1519.0</c:v>
                </c:pt>
                <c:pt idx="19">
                  <c:v>1520.5</c:v>
                </c:pt>
                <c:pt idx="20">
                  <c:v>1532.0</c:v>
                </c:pt>
                <c:pt idx="21">
                  <c:v>1529.0</c:v>
                </c:pt>
                <c:pt idx="22">
                  <c:v>1533.0</c:v>
                </c:pt>
                <c:pt idx="23">
                  <c:v>1530.0</c:v>
                </c:pt>
                <c:pt idx="24">
                  <c:v>1525.0</c:v>
                </c:pt>
              </c:numCache>
            </c:numRef>
          </c:val>
          <c:smooth val="0"/>
        </c:ser>
        <c:ser>
          <c:idx val="3"/>
          <c:order val="3"/>
          <c:tx>
            <c:strRef>
              <c:f>Sheet1!$E$1</c:f>
              <c:strCache>
                <c:ptCount val="1"/>
                <c:pt idx="0">
                  <c:v>Billete compra</c:v>
                </c:pt>
              </c:strCache>
            </c:strRef>
          </c:tx>
          <c:spPr>
            <a:ln w="25400">
              <a:solidFill>
                <a:srgbClr val="E8000B"/>
              </a:solidFill>
            </a:ln>
          </c:spPr>
          <c:marker>
            <c:symbol val="circle"/>
            <c:size val="5"/>
            <c:spPr>
              <a:solidFill>
                <a:srgbClr val="E8000B"/>
              </a:solidFill>
              <a:ln>
                <a:solidFill>
                  <a:srgbClr val="E8000B"/>
                </a:solidFill>
              </a:ln>
            </c:spPr>
          </c:marker>
          <c:cat>
            <c:strRef>
              <c:f>Sheet1!$A$2:$A$26</c:f>
              <c:strCache>
                <c:ptCount val="25"/>
                <c:pt idx="0">
                  <c:v>23/09</c:v>
                </c:pt>
                <c:pt idx="1">
                  <c:v>25/09</c:v>
                </c:pt>
                <c:pt idx="2">
                  <c:v>28/09</c:v>
                </c:pt>
                <c:pt idx="3">
                  <c:v>29/09</c:v>
                </c:pt>
                <c:pt idx="4">
                  <c:v>30/09</c:v>
                </c:pt>
                <c:pt idx="5">
                  <c:v>01/10</c:v>
                </c:pt>
                <c:pt idx="6">
                  <c:v>05/10</c:v>
                </c:pt>
                <c:pt idx="7">
                  <c:v>06/10</c:v>
                </c:pt>
                <c:pt idx="8">
                  <c:v>07/10</c:v>
                </c:pt>
                <c:pt idx="9">
                  <c:v>08/10</c:v>
                </c:pt>
                <c:pt idx="10">
                  <c:v>09/10</c:v>
                </c:pt>
                <c:pt idx="11">
                  <c:v>13/10</c:v>
                </c:pt>
                <c:pt idx="12">
                  <c:v>14/10</c:v>
                </c:pt>
                <c:pt idx="13">
                  <c:v>15/10</c:v>
                </c:pt>
                <c:pt idx="14">
                  <c:v>16/10</c:v>
                </c:pt>
                <c:pt idx="15">
                  <c:v>19/10</c:v>
                </c:pt>
                <c:pt idx="16">
                  <c:v>20/10</c:v>
                </c:pt>
                <c:pt idx="17">
                  <c:v>21/10</c:v>
                </c:pt>
                <c:pt idx="18">
                  <c:v>22/10</c:v>
                </c:pt>
                <c:pt idx="19">
                  <c:v>23/10</c:v>
                </c:pt>
                <c:pt idx="20">
                  <c:v>26/10</c:v>
                </c:pt>
                <c:pt idx="21">
                  <c:v>27/10</c:v>
                </c:pt>
                <c:pt idx="22">
                  <c:v>28/10</c:v>
                </c:pt>
                <c:pt idx="23">
                  <c:v>29/10</c:v>
                </c:pt>
                <c:pt idx="24">
                  <c:v>30/10</c:v>
                </c:pt>
              </c:strCache>
            </c:strRef>
          </c:cat>
          <c:val>
            <c:numRef>
              <c:f>Sheet1!$E$2:$E$26</c:f>
              <c:numCache>
                <c:formatCode>#,##0</c:formatCode>
                <c:ptCount val="25"/>
                <c:pt idx="0">
                  <c:v>1485.0</c:v>
                </c:pt>
                <c:pt idx="1">
                  <c:v>1495.0</c:v>
                </c:pt>
                <c:pt idx="2">
                  <c:v>1495.0</c:v>
                </c:pt>
                <c:pt idx="3">
                  <c:v>1495.0</c:v>
                </c:pt>
                <c:pt idx="4">
                  <c:v>1490.0</c:v>
                </c:pt>
                <c:pt idx="5">
                  <c:v>1495.0</c:v>
                </c:pt>
                <c:pt idx="6">
                  <c:v>1490.0</c:v>
                </c:pt>
                <c:pt idx="7">
                  <c:v>1490.0</c:v>
                </c:pt>
                <c:pt idx="8">
                  <c:v>1490.0</c:v>
                </c:pt>
                <c:pt idx="9">
                  <c:v>1490.0</c:v>
                </c:pt>
                <c:pt idx="10">
                  <c:v>1485.0</c:v>
                </c:pt>
                <c:pt idx="11">
                  <c:v>1485.0</c:v>
                </c:pt>
                <c:pt idx="12">
                  <c:v>1485.0</c:v>
                </c:pt>
                <c:pt idx="13">
                  <c:v>1480.0</c:v>
                </c:pt>
                <c:pt idx="14">
                  <c:v>1485.0</c:v>
                </c:pt>
                <c:pt idx="15">
                  <c:v>1490.0</c:v>
                </c:pt>
                <c:pt idx="16">
                  <c:v>1495.0</c:v>
                </c:pt>
                <c:pt idx="17">
                  <c:v>1495.0</c:v>
                </c:pt>
                <c:pt idx="18">
                  <c:v>1500.0</c:v>
                </c:pt>
                <c:pt idx="19">
                  <c:v>1500.0</c:v>
                </c:pt>
                <c:pt idx="20">
                  <c:v>1510.0</c:v>
                </c:pt>
                <c:pt idx="21">
                  <c:v>1510.0</c:v>
                </c:pt>
                <c:pt idx="22">
                  <c:v>1510.0</c:v>
                </c:pt>
                <c:pt idx="23">
                  <c:v>1510.0</c:v>
                </c:pt>
                <c:pt idx="24">
                  <c:v>1510.0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DCE6EF"/>
            </a:solidFill>
          </a:ln>
        </c:spPr>
        <c:crossAx val="2140495176"/>
        <c:crosses val="autoZero"/>
        <c:auto val="1"/>
        <c:lblAlgn val="ctr"/>
        <c:lblOffset val="100"/>
        <c:noMultiLvlLbl val="0"/>
      </c:catAx>
      <c:valAx>
        <c:axId val="2140495176"/>
        <c:scaling>
          <c:max val="1560.0"/>
          <c:min val="1480.0"/>
        </c:scaling>
        <c:delete val="0"/>
        <c:axPos val="l"/>
        <c:majorGridlines>
          <c:spPr>
            <a:ln w="9525">
              <a:solidFill>
                <a:srgbClr val="DCE6EF"/>
              </a:solidFill>
            </a:ln>
          </c:spPr>
        </c:majorGridlines>
        <c:numFmt formatCode="#,##0" sourceLinked="0"/>
        <c:majorTickMark val="out"/>
        <c:minorTickMark val="none"/>
        <c:tickLblPos val="nextTo"/>
        <c:spPr>
          <a:ln>
            <a:noFill/>
          </a:ln>
        </c:spPr>
        <c:crossAx val="2118791784"/>
        <c:crosses val="autoZero"/>
        <c:majorUnit val="20.0"/>
      </c:valAx>
    </c:plotArea>
    <c:legend>
      <c:legendPos val="b"/>
      <c:layout/>
      <c:overlay val="0"/>
      <c:txPr>
        <a:bodyPr/>
        <a:lstStyle/>
        <a:p>
          <a:pPr>
            <a:defRPr sz="900"/>
          </a:pPr>
        </a:p>
      </c:txPr>
    </c:legend>
    <c:plotVisOnly val="1"/>
    <c:dispBlanksAs val="gap"/>
    <c:showDLblsOverMax val="0"/>
  </c:chart>
  <c:txPr>
    <a:bodyPr/>
    <a:lstStyle/>
    <a:p>
      <a:pPr>
        <a:defRPr sz="1000">
          <a:solidFill>
            <a:srgbClr val="2C3E50"/>
          </a:solidFil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300" b="1">
                <a:solidFill>
                  <a:srgbClr val="2C3E50"/>
                </a:solidFill>
              </a:defRPr>
            </a:pPr>
            <a:r>
              <a:t>Riesgo país, últimas 25 ruedas (puntos básicos)</a:t>
            </a:r>
          </a:p>
        </c:rich>
      </c:tx>
      <c:layout/>
      <c:overlay val="0"/>
    </c:title>
    <c:autoTitleDeleted val="0"/>
    <c:plotArea>
      <c:barChart>
        <c:barDir val="col"/>
        <c:grouping val="clustered"/>
        <c:ser>
          <c:idx val="0"/>
          <c:order val="0"/>
          <c:tx>
            <c:strRef>
              <c:f>Sheet1!$B$1</c:f>
              <c:strCache>
                <c:ptCount val="1"/>
                <c:pt idx="0">
                  <c:v>Riesgo país (puntos básicos)</c:v>
                </c:pt>
              </c:strCache>
            </c:strRef>
          </c:tx>
          <c:spPr>
            <a:solidFill>
              <a:srgbClr val="C0C0C0"/>
            </a:solidFill>
          </c:spPr>
          <c:dPt>
            <c:idx val="0"/>
            <c:spPr>
              <a:solidFill>
                <a:srgbClr val="1E8449"/>
              </a:solidFill>
            </c:spPr>
          </c:dPt>
          <c:dPt>
            <c:idx val="21"/>
            <c:spPr>
              <a:solidFill>
                <a:srgbClr val="C0392B"/>
              </a:solidFill>
            </c:spPr>
          </c:dPt>
          <c:cat>
            <c:strRef>
              <c:f>Sheet1!$A$2:$A$26</c:f>
              <c:strCache>
                <c:ptCount val="25"/>
                <c:pt idx="0">
                  <c:v>23/09</c:v>
                </c:pt>
                <c:pt idx="1">
                  <c:v>25/09</c:v>
                </c:pt>
                <c:pt idx="2">
                  <c:v>28/09</c:v>
                </c:pt>
                <c:pt idx="3">
                  <c:v>29/09</c:v>
                </c:pt>
                <c:pt idx="4">
                  <c:v>30/09</c:v>
                </c:pt>
                <c:pt idx="5">
                  <c:v>01/10</c:v>
                </c:pt>
                <c:pt idx="6">
                  <c:v>05/10</c:v>
                </c:pt>
                <c:pt idx="7">
                  <c:v>06/10</c:v>
                </c:pt>
                <c:pt idx="8">
                  <c:v>07/10</c:v>
                </c:pt>
                <c:pt idx="9">
                  <c:v>08/10</c:v>
                </c:pt>
                <c:pt idx="10">
                  <c:v>09/10</c:v>
                </c:pt>
                <c:pt idx="11">
                  <c:v>13/10</c:v>
                </c:pt>
                <c:pt idx="12">
                  <c:v>14/10</c:v>
                </c:pt>
                <c:pt idx="13">
                  <c:v>15/10</c:v>
                </c:pt>
                <c:pt idx="14">
                  <c:v>16/10</c:v>
                </c:pt>
                <c:pt idx="15">
                  <c:v>19/10</c:v>
                </c:pt>
                <c:pt idx="16">
                  <c:v>20/10</c:v>
                </c:pt>
                <c:pt idx="17">
                  <c:v>21/10</c:v>
                </c:pt>
                <c:pt idx="18">
                  <c:v>22/10</c:v>
                </c:pt>
                <c:pt idx="19">
                  <c:v>23/10</c:v>
                </c:pt>
                <c:pt idx="20">
                  <c:v>26/10</c:v>
                </c:pt>
                <c:pt idx="21">
                  <c:v>27/10</c:v>
                </c:pt>
                <c:pt idx="22">
                  <c:v>28/10</c:v>
                </c:pt>
                <c:pt idx="23">
                  <c:v>29/10</c:v>
                </c:pt>
                <c:pt idx="24">
                  <c:v>30/10</c:v>
                </c:pt>
              </c:strCache>
            </c:strRef>
          </c:cat>
          <c:val>
            <c:numRef>
              <c:f>Sheet1!$B$2:$B$26</c:f>
              <c:numCache>
                <c:formatCode>#,##0</c:formatCode>
                <c:ptCount val="25"/>
                <c:pt idx="0">
                  <c:v>555.0</c:v>
                </c:pt>
                <c:pt idx="1">
                  <c:v>578.0</c:v>
                </c:pt>
                <c:pt idx="2">
                  <c:v>609.0</c:v>
                </c:pt>
                <c:pt idx="3">
                  <c:v>628.0</c:v>
                </c:pt>
                <c:pt idx="4">
                  <c:v>607.0</c:v>
                </c:pt>
                <c:pt idx="5">
                  <c:v>607.0</c:v>
                </c:pt>
                <c:pt idx="6">
                  <c:v>655.0</c:v>
                </c:pt>
                <c:pt idx="7">
                  <c:v>599.0</c:v>
                </c:pt>
                <c:pt idx="8">
                  <c:v>573.0</c:v>
                </c:pt>
                <c:pt idx="9">
                  <c:v>586.0</c:v>
                </c:pt>
                <c:pt idx="10">
                  <c:v>588.0</c:v>
                </c:pt>
                <c:pt idx="11">
                  <c:v>589.0</c:v>
                </c:pt>
                <c:pt idx="12">
                  <c:v>597.0</c:v>
                </c:pt>
                <c:pt idx="13">
                  <c:v>611.0</c:v>
                </c:pt>
                <c:pt idx="14">
                  <c:v>622.0</c:v>
                </c:pt>
                <c:pt idx="15">
                  <c:v>648.0</c:v>
                </c:pt>
                <c:pt idx="16">
                  <c:v>675.0</c:v>
                </c:pt>
                <c:pt idx="17">
                  <c:v>672.0</c:v>
                </c:pt>
                <c:pt idx="18">
                  <c:v>674.0</c:v>
                </c:pt>
                <c:pt idx="19">
                  <c:v>704.0</c:v>
                </c:pt>
                <c:pt idx="20">
                  <c:v>707.0</c:v>
                </c:pt>
                <c:pt idx="21">
                  <c:v>765.0</c:v>
                </c:pt>
                <c:pt idx="22">
                  <c:v>753.0</c:v>
                </c:pt>
                <c:pt idx="23">
                  <c:v>763.0</c:v>
                </c:pt>
                <c:pt idx="24">
                  <c:v>741.0</c:v>
                </c:pt>
              </c:numCache>
            </c:numRef>
          </c:val>
        </c:ser>
        <c:dLbls>
          <c:numFmt formatCode="#,##0" sourceLinked="0"/>
          <c:txPr>
            <a:bodyPr/>
            <a:lstStyle/>
            <a:p>
              <a:pPr>
                <a:defRPr sz="800"/>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spPr>
          <a:ln>
            <a:solidFill>
              <a:srgbClr val="DCE6EF"/>
            </a:solidFill>
          </a:ln>
        </c:spPr>
        <c:crossAx val="-2113994440"/>
        <c:crosses val="autoZero"/>
        <c:auto val="1"/>
        <c:lblAlgn val="ctr"/>
        <c:lblOffset val="100"/>
        <c:noMultiLvlLbl val="0"/>
      </c:catAx>
      <c:valAx>
        <c:axId val="-2113994440"/>
        <c:scaling>
          <c:max val="1000.0"/>
          <c:min val="0.0"/>
        </c:scaling>
        <c:delete val="0"/>
        <c:axPos val="l"/>
        <c:majorGridlines>
          <c:spPr>
            <a:ln w="9525">
              <a:solidFill>
                <a:srgbClr val="DCE6EF"/>
              </a:solidFill>
            </a:ln>
          </c:spPr>
        </c:majorGridlines>
        <c:numFmt formatCode="#,##0" sourceLinked="0"/>
        <c:majorTickMark val="out"/>
        <c:minorTickMark val="none"/>
        <c:tickLblPos val="nextTo"/>
        <c:spPr>
          <a:ln>
            <a:noFill/>
          </a:ln>
        </c:spPr>
        <c:crossAx val="-2068027336"/>
        <c:crosses val="autoZero"/>
        <c:majorUnit val="200.0"/>
      </c:valAx>
    </c:plotArea>
    <c:dispBlanksAs val="gap"/>
  </c:chart>
  <c:txPr>
    <a:bodyPr/>
    <a:lstStyle/>
    <a:p>
      <a:pPr>
        <a:defRPr sz="1000">
          <a:solidFill>
            <a:srgbClr val="2C3E50"/>
          </a:solidFil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300" b="1">
                <a:solidFill>
                  <a:srgbClr val="2C3E50"/>
                </a:solidFill>
              </a:defRPr>
            </a:pPr>
            <a:r>
              <a:t>Inflación de los últimos 12 meses</a:t>
            </a:r>
          </a:p>
        </c:rich>
      </c:tx>
      <c:layout/>
      <c:overlay val="0"/>
    </c:title>
    <c:autoTitleDeleted val="0"/>
    <c:plotArea>
      <c:barChart>
        <c:barDir val="col"/>
        <c:grouping val="clustered"/>
        <c:ser>
          <c:idx val="0"/>
          <c:order val="0"/>
          <c:tx>
            <c:strRef>
              <c:f>Sheet1!$B$1</c:f>
              <c:strCache>
                <c:ptCount val="1"/>
                <c:pt idx="0">
                  <c:v>Inflación mensual</c:v>
                </c:pt>
              </c:strCache>
            </c:strRef>
          </c:tx>
          <c:spPr>
            <a:solidFill>
              <a:srgbClr val="A9A9A9"/>
            </a:solidFill>
          </c:spPr>
          <c:cat>
            <c:strRef>
              <c:f>Sheet1!$A$2:$A$13</c:f>
              <c:strCache>
                <c:ptCount val="12"/>
                <c:pt idx="0">
                  <c:v>oct/2025</c:v>
                </c:pt>
                <c:pt idx="1">
                  <c:v>nov/2025</c:v>
                </c:pt>
                <c:pt idx="2">
                  <c:v>dic/2025</c:v>
                </c:pt>
                <c:pt idx="3">
                  <c:v>ene/2026</c:v>
                </c:pt>
                <c:pt idx="4">
                  <c:v>feb/2026</c:v>
                </c:pt>
                <c:pt idx="5">
                  <c:v>mar/2026</c:v>
                </c:pt>
                <c:pt idx="6">
                  <c:v>abr/2026</c:v>
                </c:pt>
                <c:pt idx="7">
                  <c:v>may/2026</c:v>
                </c:pt>
                <c:pt idx="8">
                  <c:v>jun/2026</c:v>
                </c:pt>
                <c:pt idx="9">
                  <c:v>jul/2026</c:v>
                </c:pt>
                <c:pt idx="10">
                  <c:v>ago/2026</c:v>
                </c:pt>
                <c:pt idx="11">
                  <c:v>sep/2026</c:v>
                </c:pt>
              </c:strCache>
            </c:strRef>
          </c:cat>
          <c:val>
            <c:numRef>
              <c:f>Sheet1!$B$2:$B$13</c:f>
              <c:numCache>
                <c:formatCode>0.0"%"</c:formatCode>
                <c:ptCount val="12"/>
                <c:pt idx="0">
                  <c:v>2.3</c:v>
                </c:pt>
                <c:pt idx="1">
                  <c:v>2.5</c:v>
                </c:pt>
                <c:pt idx="2">
                  <c:v>2.8</c:v>
                </c:pt>
                <c:pt idx="3">
                  <c:v>2.9</c:v>
                </c:pt>
                <c:pt idx="4">
                  <c:v>2.9</c:v>
                </c:pt>
                <c:pt idx="5">
                  <c:v>3.4</c:v>
                </c:pt>
                <c:pt idx="6">
                  <c:v>2.6</c:v>
                </c:pt>
                <c:pt idx="7">
                  <c:v>2.1</c:v>
                </c:pt>
                <c:pt idx="8">
                  <c:v>1.9</c:v>
                </c:pt>
                <c:pt idx="9">
                  <c:v>2.1</c:v>
                </c:pt>
                <c:pt idx="10">
                  <c:v>1.7</c:v>
                </c:pt>
                <c:pt idx="11">
                  <c:v>1.9</c:v>
                </c:pt>
              </c:numCache>
            </c:numRef>
          </c:val>
        </c:ser>
        <c:dLbls>
          <c:numFmt formatCode="0.0&quot;%&quot;" sourceLinked="0"/>
          <c:txPr>
            <a:bodyPr/>
            <a:lstStyle/>
            <a:p>
              <a:pPr>
                <a:defRPr sz="800"/>
              </a:pPr>
            </a:p>
          </c:txPr>
          <c:dLblPos val="outEnd"/>
          <c:showLegendKey val="0"/>
          <c:showVal val="1"/>
          <c:showCatName val="0"/>
          <c:showSerName val="0"/>
          <c:showPercent val="0"/>
          <c:showBubbleSize val="0"/>
          <c:showLeaderLines val="1"/>
        </c:dLbls>
        <c:gapWidth val="60"/>
        <c:axId val="-2068027336"/>
        <c:axId val="-2113994440"/>
      </c:barChart>
      <c:lineChart>
        <c:grouping val="standard"/>
        <c:varyColors val="0"/>
        <c:ser>
          <c:idx val="1"/>
          <c:order val="1"/>
          <c:tx>
            <c:strRef>
              <c:f>Sheet1!$C$1</c:f>
              <c:strCache>
                <c:ptCount val="1"/>
                <c:pt idx="0">
                  <c:v>Inflación interanual (eje derecho)</c:v>
                </c:pt>
              </c:strCache>
            </c:strRef>
          </c:tx>
          <c:spPr>
            <a:ln w="31750">
              <a:solidFill>
                <a:srgbClr val="8B0000"/>
              </a:solidFill>
            </a:ln>
          </c:spPr>
          <c:marker>
            <c:symbol val="circle"/>
            <c:size val="6"/>
            <c:spPr>
              <a:solidFill>
                <a:srgbClr val="8B0000"/>
              </a:solidFill>
              <a:ln>
                <a:solidFill>
                  <a:srgbClr val="8B0000"/>
                </a:solidFill>
              </a:ln>
            </c:spPr>
          </c:marker>
          <c:dLbls>
            <c:dLbl>
              <c:idx val="11"/>
              <c:tx>
                <c:rich>
                  <a:bodyPr/>
                  <a:lstStyle/>
                  <a:p>
                    <a:pPr>
                      <a:defRPr sz="900" b="1">
                        <a:solidFill>
                          <a:srgbClr val="8B0000"/>
                        </a:solidFill>
                      </a:defRPr>
                    </a:pPr>
                    <a:r>
                      <a:t>33,3%</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Sheet1!$A$2:$A$13</c:f>
              <c:strCache>
                <c:ptCount val="12"/>
                <c:pt idx="0">
                  <c:v>oct/2025</c:v>
                </c:pt>
                <c:pt idx="1">
                  <c:v>nov/2025</c:v>
                </c:pt>
                <c:pt idx="2">
                  <c:v>dic/2025</c:v>
                </c:pt>
                <c:pt idx="3">
                  <c:v>ene/2026</c:v>
                </c:pt>
                <c:pt idx="4">
                  <c:v>feb/2026</c:v>
                </c:pt>
                <c:pt idx="5">
                  <c:v>mar/2026</c:v>
                </c:pt>
                <c:pt idx="6">
                  <c:v>abr/2026</c:v>
                </c:pt>
                <c:pt idx="7">
                  <c:v>may/2026</c:v>
                </c:pt>
                <c:pt idx="8">
                  <c:v>jun/2026</c:v>
                </c:pt>
                <c:pt idx="9">
                  <c:v>jul/2026</c:v>
                </c:pt>
                <c:pt idx="10">
                  <c:v>ago/2026</c:v>
                </c:pt>
                <c:pt idx="11">
                  <c:v>sep/2026</c:v>
                </c:pt>
              </c:strCache>
            </c:strRef>
          </c:cat>
          <c:val>
            <c:numRef>
              <c:f>Sheet1!$C$2:$C$13</c:f>
              <c:numCache>
                <c:formatCode>0.0"%"</c:formatCode>
                <c:ptCount val="12"/>
                <c:pt idx="0">
                  <c:v>31.22078083973023</c:v>
                </c:pt>
                <c:pt idx="1">
                  <c:v>31.348926133518983</c:v>
                </c:pt>
                <c:pt idx="2">
                  <c:v>31.476821874642248</c:v>
                </c:pt>
                <c:pt idx="3">
                  <c:v>32.37734805186574</c:v>
                </c:pt>
                <c:pt idx="4">
                  <c:v>33.02372182165028</c:v>
                </c:pt>
                <c:pt idx="5">
                  <c:v>32.63888945379592</c:v>
                </c:pt>
                <c:pt idx="6">
                  <c:v>32.380837139683514</c:v>
                </c:pt>
                <c:pt idx="7">
                  <c:v>33.1633839602137</c:v>
                </c:pt>
                <c:pt idx="8">
                  <c:v>33.55658292860013</c:v>
                </c:pt>
                <c:pt idx="9">
                  <c:v>33.818715574191074</c:v>
                </c:pt>
                <c:pt idx="10">
                  <c:v>33.55606843861851</c:v>
                </c:pt>
                <c:pt idx="11">
                  <c:v>33.29445028300915</c:v>
                </c:pt>
              </c:numCache>
            </c:numRef>
          </c:val>
          <c:smooth val="0"/>
        </c:ser>
        <c:marker val="1"/>
        <c:axId val="50020001"/>
        <c:axId val="50020002"/>
      </c:lineChart>
      <c:catAx>
        <c:axId val="-2068027336"/>
        <c:scaling>
          <c:orientation val="minMax"/>
        </c:scaling>
        <c:delete val="0"/>
        <c:axPos val="b"/>
        <c:majorTickMark val="out"/>
        <c:minorTickMark val="none"/>
        <c:tickLblPos val="nextTo"/>
        <c:spPr>
          <a:ln>
            <a:solidFill>
              <a:srgbClr val="DCE6EF"/>
            </a:solidFill>
          </a:ln>
        </c:spPr>
        <c:crossAx val="-2113994440"/>
        <c:crosses val="autoZero"/>
        <c:auto val="1"/>
        <c:lblAlgn val="ctr"/>
        <c:lblOffset val="100"/>
        <c:noMultiLvlLbl val="0"/>
      </c:catAx>
      <c:valAx>
        <c:axId val="-2113994440"/>
        <c:scaling>
          <c:max val="5.0"/>
          <c:min val="0.0"/>
        </c:scaling>
        <c:delete val="0"/>
        <c:axPos val="l"/>
        <c:majorGridlines>
          <c:spPr>
            <a:ln w="9525">
              <a:solidFill>
                <a:srgbClr val="DCE6EF"/>
              </a:solidFill>
            </a:ln>
          </c:spPr>
        </c:majorGridlines>
        <c:numFmt formatCode="0.0&quot;%&quot;" sourceLinked="0"/>
        <c:majorTickMark val="out"/>
        <c:minorTickMark val="none"/>
        <c:tickLblPos val="nextTo"/>
        <c:spPr>
          <a:ln>
            <a:noFill/>
          </a:ln>
        </c:spPr>
        <c:crossAx val="-2068027336"/>
        <c:crosses val="autoZero"/>
        <c:majorUnit val="1.0"/>
      </c:valAx>
      <c:catAx>
        <c:axId val="50020001"/>
        <c:scaling>
          <c:orientation val="minMax"/>
        </c:scaling>
        <c:delete val="1"/>
        <c:axPos val="b"/>
        <c:majorTickMark val="none"/>
        <c:minorTickMark val="none"/>
        <c:tickLblPos val="nextTo"/>
        <c:crossAx val="50020002"/>
        <c:crosses val="autoZero"/>
        <c:auto val="1"/>
        <c:lblAlgn val="ctr"/>
        <c:lblOffset val="100"/>
        <c:noMultiLvlLbl val="0"/>
      </c:catAx>
      <c:valAx>
        <c:axId val="50020002"/>
        <c:scaling>
          <c:orientation val="minMax"/>
          <c:max val="34.0"/>
          <c:min val="31.0"/>
        </c:scaling>
        <c:delete val="0"/>
        <c:axPos val="r"/>
        <c:numFmt formatCode="0.0&quot;%&quot;" sourceLinked="0"/>
        <c:majorTickMark val="out"/>
        <c:minorTickMark val="none"/>
        <c:tickLblPos val="nextTo"/>
        <c:crossAx val="50020001"/>
        <c:crosses val="max"/>
        <c:crossBetween val="between"/>
      </c:valAx>
    </c:plotArea>
    <c:legend>
      <c:legendPos val="b"/>
      <c:overlay val="0"/>
      <c:txPr>
        <a:bodyPr/>
        <a:lstStyle/>
        <a:p>
          <a:pPr>
            <a:defRPr sz="900"/>
          </a:pPr>
        </a:p>
      </c:txPr>
    </c:legend>
    <c:dispBlanksAs val="gap"/>
  </c:chart>
  <c:txPr>
    <a:bodyPr/>
    <a:lstStyle/>
    <a:p>
      <a:pPr>
        <a:defRPr sz="1000">
          <a:solidFill>
            <a:srgbClr val="2C3E50"/>
          </a:solidFil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300" b="1">
                <a:solidFill>
                  <a:srgbClr val="2C3E50"/>
                </a:solidFill>
              </a:defRPr>
            </a:pPr>
            <a:r>
              <a:t>Variaciones acumuladas desde 07/2025</a:t>
            </a:r>
          </a:p>
        </c:rich>
      </c:tx>
      <c:layout/>
      <c:overlay val="0"/>
    </c:title>
    <c:autoTitleDeleted val="0"/>
    <c:plotArea>
      <c:lineChart>
        <c:grouping val="standard"/>
        <c:varyColors val="0"/>
        <c:ser>
          <c:idx val="0"/>
          <c:order val="0"/>
          <c:tx>
            <c:strRef>
              <c:f>Sheet1!$B$1</c:f>
              <c:strCache>
                <c:ptCount val="1"/>
                <c:pt idx="0">
                  <c:v>Solidario acumulado</c:v>
                </c:pt>
              </c:strCache>
            </c:strRef>
          </c:tx>
          <c:spPr>
            <a:ln w="25400">
              <a:solidFill>
                <a:srgbClr val="4C72B0"/>
              </a:solidFill>
            </a:ln>
          </c:spPr>
          <c:marker>
            <c:symbol val="none"/>
          </c:marker>
          <c:cat>
            <c:numRef>
              <c:f>Sheet1!$A$2:$A$320</c:f>
              <c:numCache>
                <c:formatCode>yyyy\-mm\-dd</c:formatCode>
                <c:ptCount val="319"/>
                <c:pt idx="0">
                  <c:v>45839.0</c:v>
                </c:pt>
                <c:pt idx="1">
                  <c:v>45840.0</c:v>
                </c:pt>
                <c:pt idx="2">
                  <c:v>45841.0</c:v>
                </c:pt>
                <c:pt idx="3">
                  <c:v>45842.0</c:v>
                </c:pt>
                <c:pt idx="4">
                  <c:v>45845.0</c:v>
                </c:pt>
                <c:pt idx="5">
                  <c:v>45846.0</c:v>
                </c:pt>
                <c:pt idx="6">
                  <c:v>45848.0</c:v>
                </c:pt>
                <c:pt idx="7">
                  <c:v>45849.0</c:v>
                </c:pt>
                <c:pt idx="8">
                  <c:v>45852.0</c:v>
                </c:pt>
                <c:pt idx="9">
                  <c:v>45853.0</c:v>
                </c:pt>
                <c:pt idx="10">
                  <c:v>45854.0</c:v>
                </c:pt>
                <c:pt idx="11">
                  <c:v>45855.0</c:v>
                </c:pt>
                <c:pt idx="12">
                  <c:v>45856.0</c:v>
                </c:pt>
                <c:pt idx="13">
                  <c:v>45859.0</c:v>
                </c:pt>
                <c:pt idx="14">
                  <c:v>45860.0</c:v>
                </c:pt>
                <c:pt idx="15">
                  <c:v>45861.0</c:v>
                </c:pt>
                <c:pt idx="16">
                  <c:v>45862.0</c:v>
                </c:pt>
                <c:pt idx="17">
                  <c:v>45863.0</c:v>
                </c:pt>
                <c:pt idx="18">
                  <c:v>45866.0</c:v>
                </c:pt>
                <c:pt idx="19">
                  <c:v>45867.0</c:v>
                </c:pt>
                <c:pt idx="20">
                  <c:v>45868.0</c:v>
                </c:pt>
                <c:pt idx="21">
                  <c:v>45869.0</c:v>
                </c:pt>
                <c:pt idx="22">
                  <c:v>45870.0</c:v>
                </c:pt>
                <c:pt idx="23">
                  <c:v>45873.0</c:v>
                </c:pt>
                <c:pt idx="24">
                  <c:v>45874.0</c:v>
                </c:pt>
                <c:pt idx="25">
                  <c:v>45875.0</c:v>
                </c:pt>
                <c:pt idx="26">
                  <c:v>45876.0</c:v>
                </c:pt>
                <c:pt idx="27">
                  <c:v>45877.0</c:v>
                </c:pt>
                <c:pt idx="28">
                  <c:v>45880.0</c:v>
                </c:pt>
                <c:pt idx="29">
                  <c:v>45881.0</c:v>
                </c:pt>
                <c:pt idx="30">
                  <c:v>45882.0</c:v>
                </c:pt>
                <c:pt idx="31">
                  <c:v>45883.0</c:v>
                </c:pt>
                <c:pt idx="32">
                  <c:v>45884.0</c:v>
                </c:pt>
                <c:pt idx="33">
                  <c:v>45887.0</c:v>
                </c:pt>
                <c:pt idx="34">
                  <c:v>45888.0</c:v>
                </c:pt>
                <c:pt idx="35">
                  <c:v>45889.0</c:v>
                </c:pt>
                <c:pt idx="36">
                  <c:v>45890.0</c:v>
                </c:pt>
                <c:pt idx="37">
                  <c:v>45891.0</c:v>
                </c:pt>
                <c:pt idx="38">
                  <c:v>45894.0</c:v>
                </c:pt>
                <c:pt idx="39">
                  <c:v>45895.0</c:v>
                </c:pt>
                <c:pt idx="40">
                  <c:v>45896.0</c:v>
                </c:pt>
                <c:pt idx="41">
                  <c:v>45900.0</c:v>
                </c:pt>
                <c:pt idx="42">
                  <c:v>45901.0</c:v>
                </c:pt>
                <c:pt idx="43">
                  <c:v>45903.0</c:v>
                </c:pt>
                <c:pt idx="44">
                  <c:v>45904.0</c:v>
                </c:pt>
                <c:pt idx="45">
                  <c:v>45908.0</c:v>
                </c:pt>
                <c:pt idx="46">
                  <c:v>45910.0</c:v>
                </c:pt>
                <c:pt idx="47">
                  <c:v>45912.0</c:v>
                </c:pt>
                <c:pt idx="48">
                  <c:v>45915.0</c:v>
                </c:pt>
                <c:pt idx="49">
                  <c:v>45916.0</c:v>
                </c:pt>
                <c:pt idx="50">
                  <c:v>45917.0</c:v>
                </c:pt>
                <c:pt idx="51">
                  <c:v>45918.0</c:v>
                </c:pt>
                <c:pt idx="52">
                  <c:v>45919.0</c:v>
                </c:pt>
                <c:pt idx="53">
                  <c:v>45922.0</c:v>
                </c:pt>
                <c:pt idx="54">
                  <c:v>45923.0</c:v>
                </c:pt>
                <c:pt idx="55">
                  <c:v>45924.0</c:v>
                </c:pt>
                <c:pt idx="56">
                  <c:v>45925.0</c:v>
                </c:pt>
                <c:pt idx="57">
                  <c:v>45926.0</c:v>
                </c:pt>
                <c:pt idx="58">
                  <c:v>45929.0</c:v>
                </c:pt>
                <c:pt idx="59">
                  <c:v>45930.0</c:v>
                </c:pt>
                <c:pt idx="60">
                  <c:v>45931.0</c:v>
                </c:pt>
                <c:pt idx="61">
                  <c:v>45932.0</c:v>
                </c:pt>
                <c:pt idx="62">
                  <c:v>45933.0</c:v>
                </c:pt>
                <c:pt idx="63">
                  <c:v>45936.0</c:v>
                </c:pt>
                <c:pt idx="64">
                  <c:v>45937.0</c:v>
                </c:pt>
                <c:pt idx="65">
                  <c:v>45938.0</c:v>
                </c:pt>
                <c:pt idx="66">
                  <c:v>45939.0</c:v>
                </c:pt>
                <c:pt idx="67">
                  <c:v>45943.0</c:v>
                </c:pt>
                <c:pt idx="68">
                  <c:v>45944.0</c:v>
                </c:pt>
                <c:pt idx="69">
                  <c:v>45945.0</c:v>
                </c:pt>
                <c:pt idx="70">
                  <c:v>45946.0</c:v>
                </c:pt>
                <c:pt idx="71">
                  <c:v>45947.0</c:v>
                </c:pt>
                <c:pt idx="72">
                  <c:v>45950.0</c:v>
                </c:pt>
                <c:pt idx="73">
                  <c:v>45951.0</c:v>
                </c:pt>
                <c:pt idx="74">
                  <c:v>45952.0</c:v>
                </c:pt>
                <c:pt idx="75">
                  <c:v>45953.0</c:v>
                </c:pt>
                <c:pt idx="76">
                  <c:v>45954.0</c:v>
                </c:pt>
                <c:pt idx="77">
                  <c:v>45957.0</c:v>
                </c:pt>
                <c:pt idx="78">
                  <c:v>45958.0</c:v>
                </c:pt>
                <c:pt idx="79">
                  <c:v>45959.0</c:v>
                </c:pt>
                <c:pt idx="80">
                  <c:v>45960.0</c:v>
                </c:pt>
                <c:pt idx="81">
                  <c:v>45961.0</c:v>
                </c:pt>
                <c:pt idx="82">
                  <c:v>45964.0</c:v>
                </c:pt>
                <c:pt idx="83">
                  <c:v>45965.0</c:v>
                </c:pt>
                <c:pt idx="84">
                  <c:v>45966.0</c:v>
                </c:pt>
                <c:pt idx="85">
                  <c:v>45967.0</c:v>
                </c:pt>
                <c:pt idx="86">
                  <c:v>45968.0</c:v>
                </c:pt>
                <c:pt idx="87">
                  <c:v>45971.0</c:v>
                </c:pt>
                <c:pt idx="88">
                  <c:v>45972.0</c:v>
                </c:pt>
                <c:pt idx="89">
                  <c:v>45973.0</c:v>
                </c:pt>
                <c:pt idx="90">
                  <c:v>45978.0</c:v>
                </c:pt>
                <c:pt idx="91">
                  <c:v>45979.0</c:v>
                </c:pt>
                <c:pt idx="92">
                  <c:v>45980.0</c:v>
                </c:pt>
                <c:pt idx="93">
                  <c:v>45981.0</c:v>
                </c:pt>
                <c:pt idx="94">
                  <c:v>45986.0</c:v>
                </c:pt>
                <c:pt idx="95">
                  <c:v>45987.0</c:v>
                </c:pt>
                <c:pt idx="96">
                  <c:v>45988.0</c:v>
                </c:pt>
                <c:pt idx="97">
                  <c:v>45989.0</c:v>
                </c:pt>
                <c:pt idx="98">
                  <c:v>45991.0</c:v>
                </c:pt>
                <c:pt idx="99">
                  <c:v>45992.0</c:v>
                </c:pt>
                <c:pt idx="100">
                  <c:v>45993.0</c:v>
                </c:pt>
                <c:pt idx="101">
                  <c:v>45994.0</c:v>
                </c:pt>
                <c:pt idx="102">
                  <c:v>45995.0</c:v>
                </c:pt>
                <c:pt idx="103">
                  <c:v>45996.0</c:v>
                </c:pt>
                <c:pt idx="104">
                  <c:v>46000.0</c:v>
                </c:pt>
                <c:pt idx="105">
                  <c:v>46001.0</c:v>
                </c:pt>
                <c:pt idx="106">
                  <c:v>46002.0</c:v>
                </c:pt>
                <c:pt idx="107">
                  <c:v>46003.0</c:v>
                </c:pt>
                <c:pt idx="108">
                  <c:v>46006.0</c:v>
                </c:pt>
                <c:pt idx="109">
                  <c:v>46007.0</c:v>
                </c:pt>
                <c:pt idx="110">
                  <c:v>46009.0</c:v>
                </c:pt>
                <c:pt idx="111">
                  <c:v>46010.0</c:v>
                </c:pt>
                <c:pt idx="112">
                  <c:v>46013.0</c:v>
                </c:pt>
                <c:pt idx="113">
                  <c:v>46014.0</c:v>
                </c:pt>
                <c:pt idx="114">
                  <c:v>46017.0</c:v>
                </c:pt>
                <c:pt idx="115">
                  <c:v>46020.0</c:v>
                </c:pt>
                <c:pt idx="116">
                  <c:v>46021.0</c:v>
                </c:pt>
                <c:pt idx="117">
                  <c:v>46022.0</c:v>
                </c:pt>
                <c:pt idx="118">
                  <c:v>46024.0</c:v>
                </c:pt>
                <c:pt idx="119">
                  <c:v>46027.0</c:v>
                </c:pt>
                <c:pt idx="120">
                  <c:v>46028.0</c:v>
                </c:pt>
                <c:pt idx="121">
                  <c:v>46029.0</c:v>
                </c:pt>
                <c:pt idx="122">
                  <c:v>46030.0</c:v>
                </c:pt>
                <c:pt idx="123">
                  <c:v>46031.0</c:v>
                </c:pt>
                <c:pt idx="124">
                  <c:v>46034.0</c:v>
                </c:pt>
                <c:pt idx="125">
                  <c:v>46035.0</c:v>
                </c:pt>
                <c:pt idx="126">
                  <c:v>46036.0</c:v>
                </c:pt>
                <c:pt idx="127">
                  <c:v>46037.0</c:v>
                </c:pt>
                <c:pt idx="128">
                  <c:v>46038.0</c:v>
                </c:pt>
                <c:pt idx="129">
                  <c:v>46041.0</c:v>
                </c:pt>
                <c:pt idx="130">
                  <c:v>46042.0</c:v>
                </c:pt>
                <c:pt idx="131">
                  <c:v>46043.0</c:v>
                </c:pt>
                <c:pt idx="132">
                  <c:v>46044.0</c:v>
                </c:pt>
                <c:pt idx="133">
                  <c:v>46045.0</c:v>
                </c:pt>
                <c:pt idx="134">
                  <c:v>46048.0</c:v>
                </c:pt>
                <c:pt idx="135">
                  <c:v>46050.0</c:v>
                </c:pt>
                <c:pt idx="136">
                  <c:v>46051.0</c:v>
                </c:pt>
                <c:pt idx="137">
                  <c:v>46052.0</c:v>
                </c:pt>
                <c:pt idx="138">
                  <c:v>46053.0</c:v>
                </c:pt>
                <c:pt idx="139">
                  <c:v>46055.0</c:v>
                </c:pt>
                <c:pt idx="140">
                  <c:v>46056.0</c:v>
                </c:pt>
                <c:pt idx="141">
                  <c:v>46057.0</c:v>
                </c:pt>
                <c:pt idx="142">
                  <c:v>46058.0</c:v>
                </c:pt>
                <c:pt idx="143">
                  <c:v>46059.0</c:v>
                </c:pt>
                <c:pt idx="144">
                  <c:v>46062.0</c:v>
                </c:pt>
                <c:pt idx="145">
                  <c:v>46063.0</c:v>
                </c:pt>
                <c:pt idx="146">
                  <c:v>46064.0</c:v>
                </c:pt>
                <c:pt idx="147">
                  <c:v>46065.0</c:v>
                </c:pt>
                <c:pt idx="148">
                  <c:v>46066.0</c:v>
                </c:pt>
                <c:pt idx="149">
                  <c:v>46071.0</c:v>
                </c:pt>
                <c:pt idx="150">
                  <c:v>46072.0</c:v>
                </c:pt>
                <c:pt idx="151">
                  <c:v>46073.0</c:v>
                </c:pt>
                <c:pt idx="152">
                  <c:v>46076.0</c:v>
                </c:pt>
                <c:pt idx="153">
                  <c:v>46077.0</c:v>
                </c:pt>
                <c:pt idx="154">
                  <c:v>46078.0</c:v>
                </c:pt>
                <c:pt idx="155">
                  <c:v>46079.0</c:v>
                </c:pt>
                <c:pt idx="156">
                  <c:v>46080.0</c:v>
                </c:pt>
                <c:pt idx="157">
                  <c:v>46081.0</c:v>
                </c:pt>
                <c:pt idx="158">
                  <c:v>46083.0</c:v>
                </c:pt>
                <c:pt idx="159">
                  <c:v>46084.0</c:v>
                </c:pt>
                <c:pt idx="160">
                  <c:v>46085.0</c:v>
                </c:pt>
                <c:pt idx="161">
                  <c:v>46086.0</c:v>
                </c:pt>
                <c:pt idx="162">
                  <c:v>46087.0</c:v>
                </c:pt>
                <c:pt idx="163">
                  <c:v>46090.0</c:v>
                </c:pt>
                <c:pt idx="164">
                  <c:v>46091.0</c:v>
                </c:pt>
                <c:pt idx="165">
                  <c:v>46092.0</c:v>
                </c:pt>
                <c:pt idx="166">
                  <c:v>46093.0</c:v>
                </c:pt>
                <c:pt idx="167">
                  <c:v>46094.0</c:v>
                </c:pt>
                <c:pt idx="168">
                  <c:v>46097.0</c:v>
                </c:pt>
                <c:pt idx="169">
                  <c:v>46098.0</c:v>
                </c:pt>
                <c:pt idx="170">
                  <c:v>46099.0</c:v>
                </c:pt>
                <c:pt idx="171">
                  <c:v>46100.0</c:v>
                </c:pt>
                <c:pt idx="172">
                  <c:v>46101.0</c:v>
                </c:pt>
                <c:pt idx="173">
                  <c:v>46106.0</c:v>
                </c:pt>
                <c:pt idx="174">
                  <c:v>46107.0</c:v>
                </c:pt>
                <c:pt idx="175">
                  <c:v>46111.0</c:v>
                </c:pt>
                <c:pt idx="176">
                  <c:v>46112.0</c:v>
                </c:pt>
                <c:pt idx="177">
                  <c:v>46113.0</c:v>
                </c:pt>
                <c:pt idx="178">
                  <c:v>46118.0</c:v>
                </c:pt>
                <c:pt idx="179">
                  <c:v>46119.0</c:v>
                </c:pt>
                <c:pt idx="180">
                  <c:v>46120.0</c:v>
                </c:pt>
                <c:pt idx="181">
                  <c:v>46121.0</c:v>
                </c:pt>
                <c:pt idx="182">
                  <c:v>46122.0</c:v>
                </c:pt>
                <c:pt idx="183">
                  <c:v>46125.0</c:v>
                </c:pt>
                <c:pt idx="184">
                  <c:v>46126.0</c:v>
                </c:pt>
                <c:pt idx="185">
                  <c:v>46127.0</c:v>
                </c:pt>
                <c:pt idx="186">
                  <c:v>46128.0</c:v>
                </c:pt>
                <c:pt idx="187">
                  <c:v>46129.0</c:v>
                </c:pt>
                <c:pt idx="188">
                  <c:v>46132.0</c:v>
                </c:pt>
                <c:pt idx="189">
                  <c:v>46133.0</c:v>
                </c:pt>
                <c:pt idx="190">
                  <c:v>46134.0</c:v>
                </c:pt>
                <c:pt idx="191">
                  <c:v>46135.0</c:v>
                </c:pt>
                <c:pt idx="192">
                  <c:v>46136.0</c:v>
                </c:pt>
                <c:pt idx="193">
                  <c:v>46139.0</c:v>
                </c:pt>
                <c:pt idx="194">
                  <c:v>46140.0</c:v>
                </c:pt>
                <c:pt idx="195">
                  <c:v>46141.0</c:v>
                </c:pt>
                <c:pt idx="196">
                  <c:v>46142.0</c:v>
                </c:pt>
                <c:pt idx="197">
                  <c:v>46146.0</c:v>
                </c:pt>
                <c:pt idx="198">
                  <c:v>46147.0</c:v>
                </c:pt>
                <c:pt idx="199">
                  <c:v>46148.0</c:v>
                </c:pt>
                <c:pt idx="200">
                  <c:v>46149.0</c:v>
                </c:pt>
                <c:pt idx="201">
                  <c:v>46150.0</c:v>
                </c:pt>
                <c:pt idx="202">
                  <c:v>46153.0</c:v>
                </c:pt>
                <c:pt idx="203">
                  <c:v>46154.0</c:v>
                </c:pt>
                <c:pt idx="204">
                  <c:v>46155.0</c:v>
                </c:pt>
                <c:pt idx="205">
                  <c:v>46156.0</c:v>
                </c:pt>
                <c:pt idx="206">
                  <c:v>46157.0</c:v>
                </c:pt>
                <c:pt idx="207">
                  <c:v>46160.0</c:v>
                </c:pt>
                <c:pt idx="208">
                  <c:v>46161.0</c:v>
                </c:pt>
                <c:pt idx="209">
                  <c:v>46162.0</c:v>
                </c:pt>
                <c:pt idx="210">
                  <c:v>46163.0</c:v>
                </c:pt>
                <c:pt idx="211">
                  <c:v>46164.0</c:v>
                </c:pt>
                <c:pt idx="212">
                  <c:v>46168.0</c:v>
                </c:pt>
                <c:pt idx="213">
                  <c:v>46169.0</c:v>
                </c:pt>
                <c:pt idx="214">
                  <c:v>46170.0</c:v>
                </c:pt>
                <c:pt idx="215">
                  <c:v>46171.0</c:v>
                </c:pt>
                <c:pt idx="216">
                  <c:v>46173.0</c:v>
                </c:pt>
                <c:pt idx="217">
                  <c:v>46174.0</c:v>
                </c:pt>
                <c:pt idx="218">
                  <c:v>46175.0</c:v>
                </c:pt>
                <c:pt idx="219">
                  <c:v>46176.0</c:v>
                </c:pt>
                <c:pt idx="220">
                  <c:v>46177.0</c:v>
                </c:pt>
                <c:pt idx="221">
                  <c:v>46178.0</c:v>
                </c:pt>
                <c:pt idx="222">
                  <c:v>46181.0</c:v>
                </c:pt>
                <c:pt idx="223">
                  <c:v>46182.0</c:v>
                </c:pt>
                <c:pt idx="224">
                  <c:v>46183.0</c:v>
                </c:pt>
                <c:pt idx="225">
                  <c:v>46184.0</c:v>
                </c:pt>
                <c:pt idx="226">
                  <c:v>46185.0</c:v>
                </c:pt>
                <c:pt idx="227">
                  <c:v>46189.0</c:v>
                </c:pt>
                <c:pt idx="228">
                  <c:v>46190.0</c:v>
                </c:pt>
                <c:pt idx="229">
                  <c:v>46191.0</c:v>
                </c:pt>
                <c:pt idx="230">
                  <c:v>46192.0</c:v>
                </c:pt>
                <c:pt idx="231">
                  <c:v>46195.0</c:v>
                </c:pt>
                <c:pt idx="232">
                  <c:v>46196.0</c:v>
                </c:pt>
                <c:pt idx="233">
                  <c:v>46197.0</c:v>
                </c:pt>
                <c:pt idx="234">
                  <c:v>46198.0</c:v>
                </c:pt>
                <c:pt idx="235">
                  <c:v>46199.0</c:v>
                </c:pt>
                <c:pt idx="236">
                  <c:v>46202.0</c:v>
                </c:pt>
                <c:pt idx="237">
                  <c:v>46203.0</c:v>
                </c:pt>
                <c:pt idx="238">
                  <c:v>46204.0</c:v>
                </c:pt>
                <c:pt idx="239">
                  <c:v>46205.0</c:v>
                </c:pt>
                <c:pt idx="240">
                  <c:v>46206.0</c:v>
                </c:pt>
                <c:pt idx="241">
                  <c:v>46209.0</c:v>
                </c:pt>
                <c:pt idx="242">
                  <c:v>46210.0</c:v>
                </c:pt>
                <c:pt idx="243">
                  <c:v>46211.0</c:v>
                </c:pt>
                <c:pt idx="244">
                  <c:v>46216.0</c:v>
                </c:pt>
                <c:pt idx="245">
                  <c:v>46217.0</c:v>
                </c:pt>
                <c:pt idx="246">
                  <c:v>46218.0</c:v>
                </c:pt>
                <c:pt idx="247">
                  <c:v>46219.0</c:v>
                </c:pt>
                <c:pt idx="248">
                  <c:v>46220.0</c:v>
                </c:pt>
                <c:pt idx="249">
                  <c:v>46223.0</c:v>
                </c:pt>
                <c:pt idx="250">
                  <c:v>46224.0</c:v>
                </c:pt>
                <c:pt idx="251">
                  <c:v>46225.0</c:v>
                </c:pt>
                <c:pt idx="252">
                  <c:v>46226.0</c:v>
                </c:pt>
                <c:pt idx="253">
                  <c:v>46227.0</c:v>
                </c:pt>
                <c:pt idx="254">
                  <c:v>46230.0</c:v>
                </c:pt>
                <c:pt idx="255">
                  <c:v>46231.0</c:v>
                </c:pt>
                <c:pt idx="256">
                  <c:v>46232.0</c:v>
                </c:pt>
                <c:pt idx="257">
                  <c:v>46233.0</c:v>
                </c:pt>
                <c:pt idx="258">
                  <c:v>46234.0</c:v>
                </c:pt>
                <c:pt idx="259">
                  <c:v>46237.0</c:v>
                </c:pt>
                <c:pt idx="260">
                  <c:v>46238.0</c:v>
                </c:pt>
                <c:pt idx="261">
                  <c:v>46239.0</c:v>
                </c:pt>
                <c:pt idx="262">
                  <c:v>46240.0</c:v>
                </c:pt>
                <c:pt idx="263">
                  <c:v>46241.0</c:v>
                </c:pt>
                <c:pt idx="264">
                  <c:v>46244.0</c:v>
                </c:pt>
                <c:pt idx="265">
                  <c:v>46245.0</c:v>
                </c:pt>
                <c:pt idx="266">
                  <c:v>46246.0</c:v>
                </c:pt>
                <c:pt idx="267">
                  <c:v>46247.0</c:v>
                </c:pt>
                <c:pt idx="268">
                  <c:v>46248.0</c:v>
                </c:pt>
                <c:pt idx="269">
                  <c:v>46252.0</c:v>
                </c:pt>
                <c:pt idx="270">
                  <c:v>46254.0</c:v>
                </c:pt>
                <c:pt idx="271">
                  <c:v>46255.0</c:v>
                </c:pt>
                <c:pt idx="272">
                  <c:v>46258.0</c:v>
                </c:pt>
                <c:pt idx="273">
                  <c:v>46259.0</c:v>
                </c:pt>
                <c:pt idx="274">
                  <c:v>46260.0</c:v>
                </c:pt>
                <c:pt idx="275">
                  <c:v>46261.0</c:v>
                </c:pt>
                <c:pt idx="276">
                  <c:v>46262.0</c:v>
                </c:pt>
                <c:pt idx="277">
                  <c:v>46265.0</c:v>
                </c:pt>
                <c:pt idx="278">
                  <c:v>46266.0</c:v>
                </c:pt>
                <c:pt idx="279">
                  <c:v>46267.0</c:v>
                </c:pt>
                <c:pt idx="280">
                  <c:v>46268.0</c:v>
                </c:pt>
                <c:pt idx="281">
                  <c:v>46269.0</c:v>
                </c:pt>
                <c:pt idx="282">
                  <c:v>46272.0</c:v>
                </c:pt>
                <c:pt idx="283">
                  <c:v>46273.0</c:v>
                </c:pt>
                <c:pt idx="284">
                  <c:v>46274.0</c:v>
                </c:pt>
                <c:pt idx="285">
                  <c:v>46275.0</c:v>
                </c:pt>
                <c:pt idx="286">
                  <c:v>46276.0</c:v>
                </c:pt>
                <c:pt idx="287">
                  <c:v>46279.0</c:v>
                </c:pt>
                <c:pt idx="288">
                  <c:v>46280.0</c:v>
                </c:pt>
                <c:pt idx="289">
                  <c:v>46281.0</c:v>
                </c:pt>
                <c:pt idx="290">
                  <c:v>46282.0</c:v>
                </c:pt>
                <c:pt idx="291">
                  <c:v>46283.0</c:v>
                </c:pt>
                <c:pt idx="292">
                  <c:v>46286.0</c:v>
                </c:pt>
                <c:pt idx="293">
                  <c:v>46287.0</c:v>
                </c:pt>
                <c:pt idx="294">
                  <c:v>46288.0</c:v>
                </c:pt>
                <c:pt idx="295">
                  <c:v>46290.0</c:v>
                </c:pt>
                <c:pt idx="296">
                  <c:v>46293.0</c:v>
                </c:pt>
                <c:pt idx="297">
                  <c:v>46294.0</c:v>
                </c:pt>
                <c:pt idx="298">
                  <c:v>46295.0</c:v>
                </c:pt>
                <c:pt idx="299">
                  <c:v>46296.0</c:v>
                </c:pt>
                <c:pt idx="300">
                  <c:v>46300.0</c:v>
                </c:pt>
                <c:pt idx="301">
                  <c:v>46301.0</c:v>
                </c:pt>
                <c:pt idx="302">
                  <c:v>46302.0</c:v>
                </c:pt>
                <c:pt idx="303">
                  <c:v>46303.0</c:v>
                </c:pt>
                <c:pt idx="304">
                  <c:v>46304.0</c:v>
                </c:pt>
                <c:pt idx="305">
                  <c:v>46308.0</c:v>
                </c:pt>
                <c:pt idx="306">
                  <c:v>46309.0</c:v>
                </c:pt>
                <c:pt idx="307">
                  <c:v>46310.0</c:v>
                </c:pt>
                <c:pt idx="308">
                  <c:v>46311.0</c:v>
                </c:pt>
                <c:pt idx="309">
                  <c:v>46314.0</c:v>
                </c:pt>
                <c:pt idx="310">
                  <c:v>46315.0</c:v>
                </c:pt>
                <c:pt idx="311">
                  <c:v>46316.0</c:v>
                </c:pt>
                <c:pt idx="312">
                  <c:v>46317.0</c:v>
                </c:pt>
                <c:pt idx="313">
                  <c:v>46318.0</c:v>
                </c:pt>
                <c:pt idx="314">
                  <c:v>46321.0</c:v>
                </c:pt>
                <c:pt idx="315">
                  <c:v>46322.0</c:v>
                </c:pt>
                <c:pt idx="316">
                  <c:v>46323.0</c:v>
                </c:pt>
                <c:pt idx="317">
                  <c:v>46324.0</c:v>
                </c:pt>
                <c:pt idx="318">
                  <c:v>46325.0</c:v>
                </c:pt>
              </c:numCache>
            </c:numRef>
          </c:cat>
          <c:val>
            <c:numRef>
              <c:f>Sheet1!$B$2:$B$320</c:f>
              <c:numCache>
                <c:formatCode>0"%"</c:formatCode>
                <c:ptCount val="319"/>
                <c:pt idx="0">
                  <c:v>1.6460905349794164</c:v>
                </c:pt>
                <c:pt idx="1">
                  <c:v>2.4691358024691468</c:v>
                </c:pt>
                <c:pt idx="2">
                  <c:v>2.4691358024691468</c:v>
                </c:pt>
                <c:pt idx="3">
                  <c:v>3.703703703703698</c:v>
                </c:pt>
                <c:pt idx="4">
                  <c:v>5.349794238683114</c:v>
                </c:pt>
                <c:pt idx="5">
                  <c:v>4.938271604938249</c:v>
                </c:pt>
                <c:pt idx="6">
                  <c:v>4.938271604938249</c:v>
                </c:pt>
                <c:pt idx="7">
                  <c:v>4.938271604938249</c:v>
                </c:pt>
                <c:pt idx="8">
                  <c:v>6.5843621399176655</c:v>
                </c:pt>
                <c:pt idx="9">
                  <c:v>5.349794238683092</c:v>
                </c:pt>
                <c:pt idx="10">
                  <c:v>4.938271604938227</c:v>
                </c:pt>
                <c:pt idx="11">
                  <c:v>6.1728395061728</c:v>
                </c:pt>
                <c:pt idx="12">
                  <c:v>6.9958847736625085</c:v>
                </c:pt>
                <c:pt idx="13">
                  <c:v>6.9958847736625085</c:v>
                </c:pt>
                <c:pt idx="14">
                  <c:v>4.938271604938227</c:v>
                </c:pt>
                <c:pt idx="15">
                  <c:v>4.938271604938227</c:v>
                </c:pt>
                <c:pt idx="16">
                  <c:v>5.761316872427935</c:v>
                </c:pt>
                <c:pt idx="17">
                  <c:v>6.584362139917643</c:v>
                </c:pt>
                <c:pt idx="18">
                  <c:v>7.4074074074073515</c:v>
                </c:pt>
                <c:pt idx="19">
                  <c:v>6.995884773662486</c:v>
                </c:pt>
                <c:pt idx="20">
                  <c:v>9.053497942386768</c:v>
                </c:pt>
                <c:pt idx="21">
                  <c:v>13.580246913580174</c:v>
                </c:pt>
                <c:pt idx="22">
                  <c:v>13.16872427983531</c:v>
                </c:pt>
                <c:pt idx="23">
                  <c:v>12.757201646090444</c:v>
                </c:pt>
                <c:pt idx="24">
                  <c:v>11.111111111111027</c:v>
                </c:pt>
                <c:pt idx="25">
                  <c:v>10.699588477366184</c:v>
                </c:pt>
                <c:pt idx="26">
                  <c:v>10.288065843621318</c:v>
                </c:pt>
                <c:pt idx="27">
                  <c:v>9.876543209876477</c:v>
                </c:pt>
                <c:pt idx="28">
                  <c:v>9.876543209876477</c:v>
                </c:pt>
                <c:pt idx="29">
                  <c:v>9.46502057613161</c:v>
                </c:pt>
                <c:pt idx="30">
                  <c:v>9.053497942386745</c:v>
                </c:pt>
                <c:pt idx="31">
                  <c:v>7.818930041152172</c:v>
                </c:pt>
                <c:pt idx="32">
                  <c:v>7.818930041152172</c:v>
                </c:pt>
                <c:pt idx="33">
                  <c:v>8.230452674897016</c:v>
                </c:pt>
                <c:pt idx="34">
                  <c:v>7.81893004115215</c:v>
                </c:pt>
                <c:pt idx="35">
                  <c:v>8.230452674896993</c:v>
                </c:pt>
                <c:pt idx="36">
                  <c:v>9.053497942386702</c:v>
                </c:pt>
                <c:pt idx="37">
                  <c:v>9.87654320987641</c:v>
                </c:pt>
                <c:pt idx="38">
                  <c:v>12.7572016460904</c:v>
                </c:pt>
                <c:pt idx="39">
                  <c:v>12.7572016460904</c:v>
                </c:pt>
                <c:pt idx="40">
                  <c:v>11.93415637860069</c:v>
                </c:pt>
                <c:pt idx="41">
                  <c:v>11.93415637860069</c:v>
                </c:pt>
                <c:pt idx="42">
                  <c:v>13.99176954732495</c:v>
                </c:pt>
                <c:pt idx="43">
                  <c:v>13.168724279835242</c:v>
                </c:pt>
                <c:pt idx="44">
                  <c:v>13.168724279835242</c:v>
                </c:pt>
                <c:pt idx="45">
                  <c:v>17.283950617283807</c:v>
                </c:pt>
                <c:pt idx="46">
                  <c:v>18.106995884773514</c:v>
                </c:pt>
                <c:pt idx="47">
                  <c:v>20.57613168724266</c:v>
                </c:pt>
                <c:pt idx="48">
                  <c:v>21.39917695473239</c:v>
                </c:pt>
                <c:pt idx="49">
                  <c:v>21.810699588477235</c:v>
                </c:pt>
                <c:pt idx="50">
                  <c:v>22.222222222222076</c:v>
                </c:pt>
                <c:pt idx="51">
                  <c:v>23.045267489711783</c:v>
                </c:pt>
                <c:pt idx="52">
                  <c:v>24.6913580246912</c:v>
                </c:pt>
                <c:pt idx="53">
                  <c:v>17.69547325102865</c:v>
                </c:pt>
                <c:pt idx="54">
                  <c:v>13.99176954732495</c:v>
                </c:pt>
                <c:pt idx="55">
                  <c:v>11.934156378600669</c:v>
                </c:pt>
                <c:pt idx="56">
                  <c:v>11.522633744855826</c:v>
                </c:pt>
                <c:pt idx="57">
                  <c:v>11.111111111110983</c:v>
                </c:pt>
                <c:pt idx="58">
                  <c:v>13.580246913580108</c:v>
                </c:pt>
                <c:pt idx="59">
                  <c:v>15.226337448559546</c:v>
                </c:pt>
                <c:pt idx="60">
                  <c:v>19.34156378600811</c:v>
                </c:pt>
                <c:pt idx="61">
                  <c:v>19.34156378600811</c:v>
                </c:pt>
                <c:pt idx="62">
                  <c:v>19.34156378600811</c:v>
                </c:pt>
                <c:pt idx="63">
                  <c:v>19.753086419752954</c:v>
                </c:pt>
                <c:pt idx="64">
                  <c:v>19.753086419752954</c:v>
                </c:pt>
                <c:pt idx="65">
                  <c:v>19.753086419752954</c:v>
                </c:pt>
                <c:pt idx="66">
                  <c:v>19.34156378600811</c:v>
                </c:pt>
                <c:pt idx="67">
                  <c:v>13.168724279835287</c:v>
                </c:pt>
                <c:pt idx="68">
                  <c:v>13.991769547324996</c:v>
                </c:pt>
                <c:pt idx="69">
                  <c:v>15.63786008230441</c:v>
                </c:pt>
                <c:pt idx="70">
                  <c:v>17.28395061728383</c:v>
                </c:pt>
                <c:pt idx="71">
                  <c:v>21.39917695473239</c:v>
                </c:pt>
                <c:pt idx="72">
                  <c:v>23.045267489711808</c:v>
                </c:pt>
                <c:pt idx="73">
                  <c:v>24.691358024691223</c:v>
                </c:pt>
                <c:pt idx="74">
                  <c:v>24.691358024691223</c:v>
                </c:pt>
                <c:pt idx="75">
                  <c:v>23.868312757201515</c:v>
                </c:pt>
                <c:pt idx="76">
                  <c:v>24.691358024691223</c:v>
                </c:pt>
                <c:pt idx="77">
                  <c:v>20.164609053497816</c:v>
                </c:pt>
                <c:pt idx="78">
                  <c:v>23.045267489711808</c:v>
                </c:pt>
                <c:pt idx="79">
                  <c:v>20.164609053497816</c:v>
                </c:pt>
                <c:pt idx="80">
                  <c:v>20.57613168724266</c:v>
                </c:pt>
                <c:pt idx="81">
                  <c:v>21.39917695473239</c:v>
                </c:pt>
                <c:pt idx="82">
                  <c:v>23.45679012345667</c:v>
                </c:pt>
                <c:pt idx="83">
                  <c:v>22.2222222222221</c:v>
                </c:pt>
                <c:pt idx="84">
                  <c:v>21.39917695473239</c:v>
                </c:pt>
                <c:pt idx="85">
                  <c:v>21.39917695473239</c:v>
                </c:pt>
                <c:pt idx="86">
                  <c:v>18.930041152263264</c:v>
                </c:pt>
                <c:pt idx="87">
                  <c:v>18.930041152263264</c:v>
                </c:pt>
                <c:pt idx="88">
                  <c:v>18.518518518518402</c:v>
                </c:pt>
                <c:pt idx="89">
                  <c:v>18.106995884773536</c:v>
                </c:pt>
                <c:pt idx="90">
                  <c:v>16.460905349794118</c:v>
                </c:pt>
                <c:pt idx="91">
                  <c:v>17.28395061728383</c:v>
                </c:pt>
                <c:pt idx="92">
                  <c:v>17.695473251028695</c:v>
                </c:pt>
                <c:pt idx="93">
                  <c:v>19.34156378600811</c:v>
                </c:pt>
                <c:pt idx="94">
                  <c:v>20.987654320987524</c:v>
                </c:pt>
                <c:pt idx="95">
                  <c:v>21.39917695473237</c:v>
                </c:pt>
                <c:pt idx="96">
                  <c:v>21.39917695473237</c:v>
                </c:pt>
                <c:pt idx="97">
                  <c:v>21.39917695473237</c:v>
                </c:pt>
                <c:pt idx="98">
                  <c:v>21.39917695473237</c:v>
                </c:pt>
                <c:pt idx="99">
                  <c:v>21.39917695473237</c:v>
                </c:pt>
                <c:pt idx="100">
                  <c:v>21.810699588477213</c:v>
                </c:pt>
                <c:pt idx="101">
                  <c:v>21.810699588477213</c:v>
                </c:pt>
                <c:pt idx="102">
                  <c:v>20.987654320987502</c:v>
                </c:pt>
                <c:pt idx="103">
                  <c:v>20.164609053497795</c:v>
                </c:pt>
                <c:pt idx="104">
                  <c:v>20.576131687242636</c:v>
                </c:pt>
                <c:pt idx="105">
                  <c:v>20.164609053497774</c:v>
                </c:pt>
                <c:pt idx="106">
                  <c:v>20.164609053497774</c:v>
                </c:pt>
                <c:pt idx="107">
                  <c:v>20.576131687242615</c:v>
                </c:pt>
                <c:pt idx="108">
                  <c:v>20.576131687242615</c:v>
                </c:pt>
                <c:pt idx="109">
                  <c:v>21.810699588477167</c:v>
                </c:pt>
                <c:pt idx="110">
                  <c:v>21.3991769547323</c:v>
                </c:pt>
                <c:pt idx="111">
                  <c:v>21.3991769547323</c:v>
                </c:pt>
                <c:pt idx="112">
                  <c:v>21.3991769547323</c:v>
                </c:pt>
                <c:pt idx="113">
                  <c:v>21.3991769547323</c:v>
                </c:pt>
                <c:pt idx="114">
                  <c:v>21.3991769547323</c:v>
                </c:pt>
                <c:pt idx="115">
                  <c:v>21.3991769547323</c:v>
                </c:pt>
                <c:pt idx="116">
                  <c:v>21.810699588477146</c:v>
                </c:pt>
                <c:pt idx="117">
                  <c:v>21.810699588477146</c:v>
                </c:pt>
                <c:pt idx="118">
                  <c:v>23.045267489711698</c:v>
                </c:pt>
                <c:pt idx="119">
                  <c:v>23.045267489711698</c:v>
                </c:pt>
                <c:pt idx="120">
                  <c:v>22.63374485596683</c:v>
                </c:pt>
                <c:pt idx="121">
                  <c:v>22.222222222221966</c:v>
                </c:pt>
                <c:pt idx="122">
                  <c:v>22.222222222221966</c:v>
                </c:pt>
                <c:pt idx="123">
                  <c:v>22.63374485596683</c:v>
                </c:pt>
                <c:pt idx="124">
                  <c:v>22.63374485596683</c:v>
                </c:pt>
                <c:pt idx="125">
                  <c:v>22.222222222221966</c:v>
                </c:pt>
                <c:pt idx="126">
                  <c:v>21.81069958847712</c:v>
                </c:pt>
                <c:pt idx="127">
                  <c:v>20.987654320987414</c:v>
                </c:pt>
                <c:pt idx="128">
                  <c:v>19.75308641975284</c:v>
                </c:pt>
                <c:pt idx="129">
                  <c:v>20.164609053497685</c:v>
                </c:pt>
                <c:pt idx="130">
                  <c:v>20.164609053497685</c:v>
                </c:pt>
                <c:pt idx="131">
                  <c:v>19.75308641975282</c:v>
                </c:pt>
                <c:pt idx="132">
                  <c:v>19.75308641975282</c:v>
                </c:pt>
                <c:pt idx="133">
                  <c:v>19.75308641975282</c:v>
                </c:pt>
                <c:pt idx="134">
                  <c:v>20.164609053497664</c:v>
                </c:pt>
                <c:pt idx="135">
                  <c:v>20.576131687242505</c:v>
                </c:pt>
                <c:pt idx="136">
                  <c:v>20.576131687242505</c:v>
                </c:pt>
                <c:pt idx="137">
                  <c:v>20.576131687242505</c:v>
                </c:pt>
                <c:pt idx="138">
                  <c:v>20.576131687242505</c:v>
                </c:pt>
                <c:pt idx="139">
                  <c:v>20.98765432098737</c:v>
                </c:pt>
                <c:pt idx="140">
                  <c:v>20.576131687242505</c:v>
                </c:pt>
                <c:pt idx="141">
                  <c:v>20.576131687242505</c:v>
                </c:pt>
                <c:pt idx="142">
                  <c:v>20.16460905349764</c:v>
                </c:pt>
                <c:pt idx="143">
                  <c:v>19.34156378600793</c:v>
                </c:pt>
                <c:pt idx="144">
                  <c:v>16.543209876542917</c:v>
                </c:pt>
                <c:pt idx="145">
                  <c:v>15.72016460905321</c:v>
                </c:pt>
                <c:pt idx="146">
                  <c:v>15.226337448559391</c:v>
                </c:pt>
                <c:pt idx="147">
                  <c:v>14.814814814814547</c:v>
                </c:pt>
                <c:pt idx="148">
                  <c:v>15.185185185184903</c:v>
                </c:pt>
                <c:pt idx="149">
                  <c:v>14.897119341563503</c:v>
                </c:pt>
                <c:pt idx="150">
                  <c:v>14.320987654320705</c:v>
                </c:pt>
                <c:pt idx="151">
                  <c:v>13.251028806584086</c:v>
                </c:pt>
                <c:pt idx="152">
                  <c:v>12.798353909464755</c:v>
                </c:pt>
                <c:pt idx="153">
                  <c:v>13.621399176954485</c:v>
                </c:pt>
                <c:pt idx="154">
                  <c:v>15.144032921810457</c:v>
                </c:pt>
                <c:pt idx="155">
                  <c:v>15.884773662551188</c:v>
                </c:pt>
                <c:pt idx="156">
                  <c:v>14.979423868312502</c:v>
                </c:pt>
                <c:pt idx="157">
                  <c:v>14.979423868312502</c:v>
                </c:pt>
                <c:pt idx="158">
                  <c:v>14.81481481481457</c:v>
                </c:pt>
                <c:pt idx="159">
                  <c:v>16.460905349793986</c:v>
                </c:pt>
                <c:pt idx="160">
                  <c:v>15.267489711933901</c:v>
                </c:pt>
                <c:pt idx="161">
                  <c:v>15.802469135802188</c:v>
                </c:pt>
                <c:pt idx="162">
                  <c:v>16.543209876542942</c:v>
                </c:pt>
                <c:pt idx="163">
                  <c:v>18.10699588477338</c:v>
                </c:pt>
                <c:pt idx="164">
                  <c:v>16.872427983538806</c:v>
                </c:pt>
                <c:pt idx="165">
                  <c:v>16.46090534979394</c:v>
                </c:pt>
                <c:pt idx="166">
                  <c:v>16.46090534979394</c:v>
                </c:pt>
                <c:pt idx="167">
                  <c:v>16.872427983538806</c:v>
                </c:pt>
                <c:pt idx="168">
                  <c:v>16.46090534979394</c:v>
                </c:pt>
                <c:pt idx="169">
                  <c:v>16.46090534979394</c:v>
                </c:pt>
                <c:pt idx="170">
                  <c:v>16.46090534979394</c:v>
                </c:pt>
                <c:pt idx="171">
                  <c:v>16.46090534979394</c:v>
                </c:pt>
                <c:pt idx="172">
                  <c:v>16.049382716049077</c:v>
                </c:pt>
                <c:pt idx="173">
                  <c:v>15.226337448559368</c:v>
                </c:pt>
                <c:pt idx="174">
                  <c:v>14.40329218106966</c:v>
                </c:pt>
                <c:pt idx="175">
                  <c:v>15.637860082304211</c:v>
                </c:pt>
                <c:pt idx="176">
                  <c:v>15.637860082304211</c:v>
                </c:pt>
                <c:pt idx="177">
                  <c:v>16.46090534979392</c:v>
                </c:pt>
                <c:pt idx="178">
                  <c:v>16.46090534979392</c:v>
                </c:pt>
                <c:pt idx="179">
                  <c:v>16.46090534979392</c:v>
                </c:pt>
                <c:pt idx="180">
                  <c:v>16.049382716049053</c:v>
                </c:pt>
                <c:pt idx="181">
                  <c:v>15.637860082304211</c:v>
                </c:pt>
                <c:pt idx="182">
                  <c:v>14.814814814814504</c:v>
                </c:pt>
                <c:pt idx="183">
                  <c:v>13.991769547324795</c:v>
                </c:pt>
                <c:pt idx="184">
                  <c:v>13.991769547324795</c:v>
                </c:pt>
                <c:pt idx="185">
                  <c:v>13.58024691357993</c:v>
                </c:pt>
                <c:pt idx="186">
                  <c:v>13.58024691357993</c:v>
                </c:pt>
                <c:pt idx="187">
                  <c:v>14.403292181069638</c:v>
                </c:pt>
                <c:pt idx="188">
                  <c:v>15.226337448559345</c:v>
                </c:pt>
                <c:pt idx="189">
                  <c:v>15.226337448559345</c:v>
                </c:pt>
                <c:pt idx="190">
                  <c:v>15.226337448559345</c:v>
                </c:pt>
                <c:pt idx="191">
                  <c:v>16.460905349793897</c:v>
                </c:pt>
                <c:pt idx="192">
                  <c:v>16.872427983538763</c:v>
                </c:pt>
                <c:pt idx="193">
                  <c:v>18.518518518518178</c:v>
                </c:pt>
                <c:pt idx="194">
                  <c:v>17.69547325102847</c:v>
                </c:pt>
                <c:pt idx="195">
                  <c:v>16.460905349793897</c:v>
                </c:pt>
                <c:pt idx="196">
                  <c:v>16.460905349793897</c:v>
                </c:pt>
                <c:pt idx="197">
                  <c:v>17.283950617283605</c:v>
                </c:pt>
                <c:pt idx="198">
                  <c:v>16.460905349793897</c:v>
                </c:pt>
                <c:pt idx="199">
                  <c:v>16.04938271604903</c:v>
                </c:pt>
                <c:pt idx="200">
                  <c:v>16.872427983538742</c:v>
                </c:pt>
                <c:pt idx="201">
                  <c:v>16.872427983538742</c:v>
                </c:pt>
                <c:pt idx="202">
                  <c:v>16.460905349793876</c:v>
                </c:pt>
                <c:pt idx="203">
                  <c:v>15.637860082304167</c:v>
                </c:pt>
                <c:pt idx="204">
                  <c:v>16.460905349793876</c:v>
                </c:pt>
                <c:pt idx="205">
                  <c:v>16.460905349793876</c:v>
                </c:pt>
                <c:pt idx="206">
                  <c:v>16.872427983538742</c:v>
                </c:pt>
                <c:pt idx="207">
                  <c:v>16.872427983538742</c:v>
                </c:pt>
                <c:pt idx="208">
                  <c:v>16.872427983538742</c:v>
                </c:pt>
                <c:pt idx="209">
                  <c:v>16.872427983538742</c:v>
                </c:pt>
                <c:pt idx="210">
                  <c:v>16.04938271604903</c:v>
                </c:pt>
                <c:pt idx="211">
                  <c:v>17.283950617283605</c:v>
                </c:pt>
                <c:pt idx="212">
                  <c:v>17.69547325102847</c:v>
                </c:pt>
                <c:pt idx="213">
                  <c:v>17.69547325102847</c:v>
                </c:pt>
                <c:pt idx="214">
                  <c:v>17.69547325102847</c:v>
                </c:pt>
                <c:pt idx="215">
                  <c:v>17.69547325102847</c:v>
                </c:pt>
                <c:pt idx="216">
                  <c:v>17.69547325102847</c:v>
                </c:pt>
                <c:pt idx="217">
                  <c:v>18.930041152263023</c:v>
                </c:pt>
                <c:pt idx="218">
                  <c:v>19.34156378600789</c:v>
                </c:pt>
                <c:pt idx="219">
                  <c:v>20.164609053497596</c:v>
                </c:pt>
                <c:pt idx="220">
                  <c:v>19.75308641975273</c:v>
                </c:pt>
                <c:pt idx="221">
                  <c:v>20.16460905349757</c:v>
                </c:pt>
                <c:pt idx="222">
                  <c:v>20.576131687242416</c:v>
                </c:pt>
                <c:pt idx="223">
                  <c:v>20.16460905349755</c:v>
                </c:pt>
                <c:pt idx="224">
                  <c:v>19.753086419752684</c:v>
                </c:pt>
                <c:pt idx="225">
                  <c:v>19.341563786007843</c:v>
                </c:pt>
                <c:pt idx="226">
                  <c:v>19.341563786007843</c:v>
                </c:pt>
                <c:pt idx="227">
                  <c:v>19.753086419752684</c:v>
                </c:pt>
                <c:pt idx="228">
                  <c:v>20.16460905349753</c:v>
                </c:pt>
                <c:pt idx="229">
                  <c:v>20.987654320987236</c:v>
                </c:pt>
                <c:pt idx="230">
                  <c:v>21.810699588476943</c:v>
                </c:pt>
                <c:pt idx="231">
                  <c:v>21.810699588476943</c:v>
                </c:pt>
                <c:pt idx="232">
                  <c:v>22.633744855966654</c:v>
                </c:pt>
                <c:pt idx="233">
                  <c:v>23.04526748971152</c:v>
                </c:pt>
                <c:pt idx="234">
                  <c:v>23.04526748971152</c:v>
                </c:pt>
                <c:pt idx="235">
                  <c:v>23.04526748971152</c:v>
                </c:pt>
                <c:pt idx="236">
                  <c:v>23.04526748971152</c:v>
                </c:pt>
                <c:pt idx="237">
                  <c:v>23.456790123456383</c:v>
                </c:pt>
                <c:pt idx="238">
                  <c:v>24.27983539094609</c:v>
                </c:pt>
                <c:pt idx="239">
                  <c:v>24.27983539094609</c:v>
                </c:pt>
                <c:pt idx="240">
                  <c:v>24.27983539094609</c:v>
                </c:pt>
                <c:pt idx="241">
                  <c:v>24.27983539094609</c:v>
                </c:pt>
                <c:pt idx="242">
                  <c:v>24.691358024690935</c:v>
                </c:pt>
                <c:pt idx="243">
                  <c:v>24.27983539094607</c:v>
                </c:pt>
                <c:pt idx="244">
                  <c:v>23.868312757201203</c:v>
                </c:pt>
                <c:pt idx="245">
                  <c:v>23.045267489711495</c:v>
                </c:pt>
                <c:pt idx="246">
                  <c:v>23.045267489711495</c:v>
                </c:pt>
                <c:pt idx="247">
                  <c:v>23.045267489711495</c:v>
                </c:pt>
                <c:pt idx="248">
                  <c:v>23.45679012345636</c:v>
                </c:pt>
                <c:pt idx="249">
                  <c:v>23.45679012345636</c:v>
                </c:pt>
                <c:pt idx="250">
                  <c:v>23.45679012345636</c:v>
                </c:pt>
                <c:pt idx="251">
                  <c:v>23.868312757201227</c:v>
                </c:pt>
                <c:pt idx="252">
                  <c:v>24.27983539094607</c:v>
                </c:pt>
                <c:pt idx="253">
                  <c:v>25.10288065843578</c:v>
                </c:pt>
                <c:pt idx="254">
                  <c:v>25.10288065843578</c:v>
                </c:pt>
                <c:pt idx="255">
                  <c:v>25.10288065843578</c:v>
                </c:pt>
                <c:pt idx="256">
                  <c:v>24.691358024690935</c:v>
                </c:pt>
                <c:pt idx="257">
                  <c:v>24.27983539094607</c:v>
                </c:pt>
                <c:pt idx="258">
                  <c:v>24.27983539094607</c:v>
                </c:pt>
                <c:pt idx="259">
                  <c:v>24.691358024690913</c:v>
                </c:pt>
                <c:pt idx="260">
                  <c:v>24.691358024690913</c:v>
                </c:pt>
                <c:pt idx="261">
                  <c:v>25.102880658435755</c:v>
                </c:pt>
                <c:pt idx="262">
                  <c:v>25.102880658435755</c:v>
                </c:pt>
                <c:pt idx="263">
                  <c:v>25.102880658435755</c:v>
                </c:pt>
                <c:pt idx="264">
                  <c:v>25.102880658435755</c:v>
                </c:pt>
                <c:pt idx="265">
                  <c:v>24.691358024690913</c:v>
                </c:pt>
                <c:pt idx="266">
                  <c:v>24.691358024690913</c:v>
                </c:pt>
                <c:pt idx="267">
                  <c:v>24.691358024690913</c:v>
                </c:pt>
                <c:pt idx="268">
                  <c:v>24.279835390946047</c:v>
                </c:pt>
                <c:pt idx="269">
                  <c:v>24.691358024690892</c:v>
                </c:pt>
                <c:pt idx="270">
                  <c:v>24.691358024690892</c:v>
                </c:pt>
                <c:pt idx="271">
                  <c:v>25.102880658435733</c:v>
                </c:pt>
                <c:pt idx="272">
                  <c:v>25.92592592592544</c:v>
                </c:pt>
                <c:pt idx="273">
                  <c:v>25.92592592592544</c:v>
                </c:pt>
                <c:pt idx="274">
                  <c:v>26.337448559670285</c:v>
                </c:pt>
                <c:pt idx="275">
                  <c:v>26.337448559670285</c:v>
                </c:pt>
                <c:pt idx="276">
                  <c:v>26.337448559670285</c:v>
                </c:pt>
                <c:pt idx="277">
                  <c:v>25.92592592592542</c:v>
                </c:pt>
                <c:pt idx="278">
                  <c:v>26.337448559670264</c:v>
                </c:pt>
                <c:pt idx="279">
                  <c:v>26.337448559670264</c:v>
                </c:pt>
                <c:pt idx="280">
                  <c:v>25.925925925925398</c:v>
                </c:pt>
                <c:pt idx="281">
                  <c:v>25.925925925925398</c:v>
                </c:pt>
                <c:pt idx="282">
                  <c:v>25.925925925925398</c:v>
                </c:pt>
                <c:pt idx="283">
                  <c:v>25.925925925925398</c:v>
                </c:pt>
                <c:pt idx="284">
                  <c:v>26.33744855967024</c:v>
                </c:pt>
                <c:pt idx="285">
                  <c:v>26.33744855967024</c:v>
                </c:pt>
                <c:pt idx="286">
                  <c:v>25.925925925925377</c:v>
                </c:pt>
                <c:pt idx="287">
                  <c:v>25.925925925925377</c:v>
                </c:pt>
                <c:pt idx="288">
                  <c:v>25.925925925925377</c:v>
                </c:pt>
                <c:pt idx="289">
                  <c:v>26.337448559670218</c:v>
                </c:pt>
                <c:pt idx="290">
                  <c:v>26.337448559670218</c:v>
                </c:pt>
                <c:pt idx="291">
                  <c:v>26.337448559670218</c:v>
                </c:pt>
                <c:pt idx="292">
                  <c:v>26.337448559670218</c:v>
                </c:pt>
                <c:pt idx="293">
                  <c:v>26.337448559670218</c:v>
                </c:pt>
                <c:pt idx="294">
                  <c:v>26.337448559670218</c:v>
                </c:pt>
                <c:pt idx="295">
                  <c:v>27.160493827159925</c:v>
                </c:pt>
                <c:pt idx="296">
                  <c:v>27.160493827159925</c:v>
                </c:pt>
                <c:pt idx="297">
                  <c:v>27.160493827159925</c:v>
                </c:pt>
                <c:pt idx="298">
                  <c:v>26.748971193415084</c:v>
                </c:pt>
                <c:pt idx="299">
                  <c:v>27.160493827159947</c:v>
                </c:pt>
                <c:pt idx="300">
                  <c:v>26.748971193415105</c:v>
                </c:pt>
                <c:pt idx="301">
                  <c:v>26.748971193415105</c:v>
                </c:pt>
                <c:pt idx="302">
                  <c:v>26.748971193415105</c:v>
                </c:pt>
                <c:pt idx="303">
                  <c:v>26.748971193415105</c:v>
                </c:pt>
                <c:pt idx="304">
                  <c:v>26.33744855967024</c:v>
                </c:pt>
                <c:pt idx="305">
                  <c:v>26.33744855967024</c:v>
                </c:pt>
                <c:pt idx="306">
                  <c:v>26.33744855967024</c:v>
                </c:pt>
                <c:pt idx="307">
                  <c:v>25.925925925925377</c:v>
                </c:pt>
                <c:pt idx="308">
                  <c:v>26.337448559670218</c:v>
                </c:pt>
                <c:pt idx="309">
                  <c:v>26.748971193415084</c:v>
                </c:pt>
                <c:pt idx="310">
                  <c:v>27.160493827159947</c:v>
                </c:pt>
                <c:pt idx="311">
                  <c:v>27.160493827159947</c:v>
                </c:pt>
                <c:pt idx="312">
                  <c:v>27.572016460904813</c:v>
                </c:pt>
                <c:pt idx="313">
                  <c:v>27.572016460904813</c:v>
                </c:pt>
                <c:pt idx="314">
                  <c:v>28.3950617283945</c:v>
                </c:pt>
                <c:pt idx="315">
                  <c:v>28.3950617283945</c:v>
                </c:pt>
                <c:pt idx="316">
                  <c:v>28.3950617283945</c:v>
                </c:pt>
                <c:pt idx="317">
                  <c:v>28.3950617283945</c:v>
                </c:pt>
                <c:pt idx="318">
                  <c:v>28.3950617283945</c:v>
                </c:pt>
              </c:numCache>
            </c:numRef>
          </c:val>
          <c:smooth val="0"/>
        </c:ser>
        <c:ser>
          <c:idx val="1"/>
          <c:order val="1"/>
          <c:tx>
            <c:strRef>
              <c:f>Sheet1!$C$1</c:f>
              <c:strCache>
                <c:ptCount val="1"/>
                <c:pt idx="0">
                  <c:v>Blue acumulado</c:v>
                </c:pt>
              </c:strCache>
            </c:strRef>
          </c:tx>
          <c:spPr>
            <a:ln w="25400">
              <a:solidFill>
                <a:srgbClr val="DD8452"/>
              </a:solidFill>
            </a:ln>
          </c:spPr>
          <c:marker>
            <c:symbol val="none"/>
          </c:marker>
          <c:cat>
            <c:numRef>
              <c:f>Sheet1!$A$2:$A$320</c:f>
              <c:numCache>
                <c:formatCode>yyyy\-mm\-dd</c:formatCode>
                <c:ptCount val="319"/>
                <c:pt idx="0">
                  <c:v>45839.0</c:v>
                </c:pt>
                <c:pt idx="1">
                  <c:v>45840.0</c:v>
                </c:pt>
                <c:pt idx="2">
                  <c:v>45841.0</c:v>
                </c:pt>
                <c:pt idx="3">
                  <c:v>45842.0</c:v>
                </c:pt>
                <c:pt idx="4">
                  <c:v>45845.0</c:v>
                </c:pt>
                <c:pt idx="5">
                  <c:v>45846.0</c:v>
                </c:pt>
                <c:pt idx="6">
                  <c:v>45848.0</c:v>
                </c:pt>
                <c:pt idx="7">
                  <c:v>45849.0</c:v>
                </c:pt>
                <c:pt idx="8">
                  <c:v>45852.0</c:v>
                </c:pt>
                <c:pt idx="9">
                  <c:v>45853.0</c:v>
                </c:pt>
                <c:pt idx="10">
                  <c:v>45854.0</c:v>
                </c:pt>
                <c:pt idx="11">
                  <c:v>45855.0</c:v>
                </c:pt>
                <c:pt idx="12">
                  <c:v>45856.0</c:v>
                </c:pt>
                <c:pt idx="13">
                  <c:v>45859.0</c:v>
                </c:pt>
                <c:pt idx="14">
                  <c:v>45860.0</c:v>
                </c:pt>
                <c:pt idx="15">
                  <c:v>45861.0</c:v>
                </c:pt>
                <c:pt idx="16">
                  <c:v>45862.0</c:v>
                </c:pt>
                <c:pt idx="17">
                  <c:v>45863.0</c:v>
                </c:pt>
                <c:pt idx="18">
                  <c:v>45866.0</c:v>
                </c:pt>
                <c:pt idx="19">
                  <c:v>45867.0</c:v>
                </c:pt>
                <c:pt idx="20">
                  <c:v>45868.0</c:v>
                </c:pt>
                <c:pt idx="21">
                  <c:v>45869.0</c:v>
                </c:pt>
                <c:pt idx="22">
                  <c:v>45870.0</c:v>
                </c:pt>
                <c:pt idx="23">
                  <c:v>45873.0</c:v>
                </c:pt>
                <c:pt idx="24">
                  <c:v>45874.0</c:v>
                </c:pt>
                <c:pt idx="25">
                  <c:v>45875.0</c:v>
                </c:pt>
                <c:pt idx="26">
                  <c:v>45876.0</c:v>
                </c:pt>
                <c:pt idx="27">
                  <c:v>45877.0</c:v>
                </c:pt>
                <c:pt idx="28">
                  <c:v>45880.0</c:v>
                </c:pt>
                <c:pt idx="29">
                  <c:v>45881.0</c:v>
                </c:pt>
                <c:pt idx="30">
                  <c:v>45882.0</c:v>
                </c:pt>
                <c:pt idx="31">
                  <c:v>45883.0</c:v>
                </c:pt>
                <c:pt idx="32">
                  <c:v>45884.0</c:v>
                </c:pt>
                <c:pt idx="33">
                  <c:v>45887.0</c:v>
                </c:pt>
                <c:pt idx="34">
                  <c:v>45888.0</c:v>
                </c:pt>
                <c:pt idx="35">
                  <c:v>45889.0</c:v>
                </c:pt>
                <c:pt idx="36">
                  <c:v>45890.0</c:v>
                </c:pt>
                <c:pt idx="37">
                  <c:v>45891.0</c:v>
                </c:pt>
                <c:pt idx="38">
                  <c:v>45894.0</c:v>
                </c:pt>
                <c:pt idx="39">
                  <c:v>45895.0</c:v>
                </c:pt>
                <c:pt idx="40">
                  <c:v>45896.0</c:v>
                </c:pt>
                <c:pt idx="41">
                  <c:v>45900.0</c:v>
                </c:pt>
                <c:pt idx="42">
                  <c:v>45901.0</c:v>
                </c:pt>
                <c:pt idx="43">
                  <c:v>45903.0</c:v>
                </c:pt>
                <c:pt idx="44">
                  <c:v>45904.0</c:v>
                </c:pt>
                <c:pt idx="45">
                  <c:v>45908.0</c:v>
                </c:pt>
                <c:pt idx="46">
                  <c:v>45910.0</c:v>
                </c:pt>
                <c:pt idx="47">
                  <c:v>45912.0</c:v>
                </c:pt>
                <c:pt idx="48">
                  <c:v>45915.0</c:v>
                </c:pt>
                <c:pt idx="49">
                  <c:v>45916.0</c:v>
                </c:pt>
                <c:pt idx="50">
                  <c:v>45917.0</c:v>
                </c:pt>
                <c:pt idx="51">
                  <c:v>45918.0</c:v>
                </c:pt>
                <c:pt idx="52">
                  <c:v>45919.0</c:v>
                </c:pt>
                <c:pt idx="53">
                  <c:v>45922.0</c:v>
                </c:pt>
                <c:pt idx="54">
                  <c:v>45923.0</c:v>
                </c:pt>
                <c:pt idx="55">
                  <c:v>45924.0</c:v>
                </c:pt>
                <c:pt idx="56">
                  <c:v>45925.0</c:v>
                </c:pt>
                <c:pt idx="57">
                  <c:v>45926.0</c:v>
                </c:pt>
                <c:pt idx="58">
                  <c:v>45929.0</c:v>
                </c:pt>
                <c:pt idx="59">
                  <c:v>45930.0</c:v>
                </c:pt>
                <c:pt idx="60">
                  <c:v>45931.0</c:v>
                </c:pt>
                <c:pt idx="61">
                  <c:v>45932.0</c:v>
                </c:pt>
                <c:pt idx="62">
                  <c:v>45933.0</c:v>
                </c:pt>
                <c:pt idx="63">
                  <c:v>45936.0</c:v>
                </c:pt>
                <c:pt idx="64">
                  <c:v>45937.0</c:v>
                </c:pt>
                <c:pt idx="65">
                  <c:v>45938.0</c:v>
                </c:pt>
                <c:pt idx="66">
                  <c:v>45939.0</c:v>
                </c:pt>
                <c:pt idx="67">
                  <c:v>45943.0</c:v>
                </c:pt>
                <c:pt idx="68">
                  <c:v>45944.0</c:v>
                </c:pt>
                <c:pt idx="69">
                  <c:v>45945.0</c:v>
                </c:pt>
                <c:pt idx="70">
                  <c:v>45946.0</c:v>
                </c:pt>
                <c:pt idx="71">
                  <c:v>45947.0</c:v>
                </c:pt>
                <c:pt idx="72">
                  <c:v>45950.0</c:v>
                </c:pt>
                <c:pt idx="73">
                  <c:v>45951.0</c:v>
                </c:pt>
                <c:pt idx="74">
                  <c:v>45952.0</c:v>
                </c:pt>
                <c:pt idx="75">
                  <c:v>45953.0</c:v>
                </c:pt>
                <c:pt idx="76">
                  <c:v>45954.0</c:v>
                </c:pt>
                <c:pt idx="77">
                  <c:v>45957.0</c:v>
                </c:pt>
                <c:pt idx="78">
                  <c:v>45958.0</c:v>
                </c:pt>
                <c:pt idx="79">
                  <c:v>45959.0</c:v>
                </c:pt>
                <c:pt idx="80">
                  <c:v>45960.0</c:v>
                </c:pt>
                <c:pt idx="81">
                  <c:v>45961.0</c:v>
                </c:pt>
                <c:pt idx="82">
                  <c:v>45964.0</c:v>
                </c:pt>
                <c:pt idx="83">
                  <c:v>45965.0</c:v>
                </c:pt>
                <c:pt idx="84">
                  <c:v>45966.0</c:v>
                </c:pt>
                <c:pt idx="85">
                  <c:v>45967.0</c:v>
                </c:pt>
                <c:pt idx="86">
                  <c:v>45968.0</c:v>
                </c:pt>
                <c:pt idx="87">
                  <c:v>45971.0</c:v>
                </c:pt>
                <c:pt idx="88">
                  <c:v>45972.0</c:v>
                </c:pt>
                <c:pt idx="89">
                  <c:v>45973.0</c:v>
                </c:pt>
                <c:pt idx="90">
                  <c:v>45978.0</c:v>
                </c:pt>
                <c:pt idx="91">
                  <c:v>45979.0</c:v>
                </c:pt>
                <c:pt idx="92">
                  <c:v>45980.0</c:v>
                </c:pt>
                <c:pt idx="93">
                  <c:v>45981.0</c:v>
                </c:pt>
                <c:pt idx="94">
                  <c:v>45986.0</c:v>
                </c:pt>
                <c:pt idx="95">
                  <c:v>45987.0</c:v>
                </c:pt>
                <c:pt idx="96">
                  <c:v>45988.0</c:v>
                </c:pt>
                <c:pt idx="97">
                  <c:v>45989.0</c:v>
                </c:pt>
                <c:pt idx="98">
                  <c:v>45991.0</c:v>
                </c:pt>
                <c:pt idx="99">
                  <c:v>45992.0</c:v>
                </c:pt>
                <c:pt idx="100">
                  <c:v>45993.0</c:v>
                </c:pt>
                <c:pt idx="101">
                  <c:v>45994.0</c:v>
                </c:pt>
                <c:pt idx="102">
                  <c:v>45995.0</c:v>
                </c:pt>
                <c:pt idx="103">
                  <c:v>45996.0</c:v>
                </c:pt>
                <c:pt idx="104">
                  <c:v>46000.0</c:v>
                </c:pt>
                <c:pt idx="105">
                  <c:v>46001.0</c:v>
                </c:pt>
                <c:pt idx="106">
                  <c:v>46002.0</c:v>
                </c:pt>
                <c:pt idx="107">
                  <c:v>46003.0</c:v>
                </c:pt>
                <c:pt idx="108">
                  <c:v>46006.0</c:v>
                </c:pt>
                <c:pt idx="109">
                  <c:v>46007.0</c:v>
                </c:pt>
                <c:pt idx="110">
                  <c:v>46009.0</c:v>
                </c:pt>
                <c:pt idx="111">
                  <c:v>46010.0</c:v>
                </c:pt>
                <c:pt idx="112">
                  <c:v>46013.0</c:v>
                </c:pt>
                <c:pt idx="113">
                  <c:v>46014.0</c:v>
                </c:pt>
                <c:pt idx="114">
                  <c:v>46017.0</c:v>
                </c:pt>
                <c:pt idx="115">
                  <c:v>46020.0</c:v>
                </c:pt>
                <c:pt idx="116">
                  <c:v>46021.0</c:v>
                </c:pt>
                <c:pt idx="117">
                  <c:v>46022.0</c:v>
                </c:pt>
                <c:pt idx="118">
                  <c:v>46024.0</c:v>
                </c:pt>
                <c:pt idx="119">
                  <c:v>46027.0</c:v>
                </c:pt>
                <c:pt idx="120">
                  <c:v>46028.0</c:v>
                </c:pt>
                <c:pt idx="121">
                  <c:v>46029.0</c:v>
                </c:pt>
                <c:pt idx="122">
                  <c:v>46030.0</c:v>
                </c:pt>
                <c:pt idx="123">
                  <c:v>46031.0</c:v>
                </c:pt>
                <c:pt idx="124">
                  <c:v>46034.0</c:v>
                </c:pt>
                <c:pt idx="125">
                  <c:v>46035.0</c:v>
                </c:pt>
                <c:pt idx="126">
                  <c:v>46036.0</c:v>
                </c:pt>
                <c:pt idx="127">
                  <c:v>46037.0</c:v>
                </c:pt>
                <c:pt idx="128">
                  <c:v>46038.0</c:v>
                </c:pt>
                <c:pt idx="129">
                  <c:v>46041.0</c:v>
                </c:pt>
                <c:pt idx="130">
                  <c:v>46042.0</c:v>
                </c:pt>
                <c:pt idx="131">
                  <c:v>46043.0</c:v>
                </c:pt>
                <c:pt idx="132">
                  <c:v>46044.0</c:v>
                </c:pt>
                <c:pt idx="133">
                  <c:v>46045.0</c:v>
                </c:pt>
                <c:pt idx="134">
                  <c:v>46048.0</c:v>
                </c:pt>
                <c:pt idx="135">
                  <c:v>46050.0</c:v>
                </c:pt>
                <c:pt idx="136">
                  <c:v>46051.0</c:v>
                </c:pt>
                <c:pt idx="137">
                  <c:v>46052.0</c:v>
                </c:pt>
                <c:pt idx="138">
                  <c:v>46053.0</c:v>
                </c:pt>
                <c:pt idx="139">
                  <c:v>46055.0</c:v>
                </c:pt>
                <c:pt idx="140">
                  <c:v>46056.0</c:v>
                </c:pt>
                <c:pt idx="141">
                  <c:v>46057.0</c:v>
                </c:pt>
                <c:pt idx="142">
                  <c:v>46058.0</c:v>
                </c:pt>
                <c:pt idx="143">
                  <c:v>46059.0</c:v>
                </c:pt>
                <c:pt idx="144">
                  <c:v>46062.0</c:v>
                </c:pt>
                <c:pt idx="145">
                  <c:v>46063.0</c:v>
                </c:pt>
                <c:pt idx="146">
                  <c:v>46064.0</c:v>
                </c:pt>
                <c:pt idx="147">
                  <c:v>46065.0</c:v>
                </c:pt>
                <c:pt idx="148">
                  <c:v>46066.0</c:v>
                </c:pt>
                <c:pt idx="149">
                  <c:v>46071.0</c:v>
                </c:pt>
                <c:pt idx="150">
                  <c:v>46072.0</c:v>
                </c:pt>
                <c:pt idx="151">
                  <c:v>46073.0</c:v>
                </c:pt>
                <c:pt idx="152">
                  <c:v>46076.0</c:v>
                </c:pt>
                <c:pt idx="153">
                  <c:v>46077.0</c:v>
                </c:pt>
                <c:pt idx="154">
                  <c:v>46078.0</c:v>
                </c:pt>
                <c:pt idx="155">
                  <c:v>46079.0</c:v>
                </c:pt>
                <c:pt idx="156">
                  <c:v>46080.0</c:v>
                </c:pt>
                <c:pt idx="157">
                  <c:v>46081.0</c:v>
                </c:pt>
                <c:pt idx="158">
                  <c:v>46083.0</c:v>
                </c:pt>
                <c:pt idx="159">
                  <c:v>46084.0</c:v>
                </c:pt>
                <c:pt idx="160">
                  <c:v>46085.0</c:v>
                </c:pt>
                <c:pt idx="161">
                  <c:v>46086.0</c:v>
                </c:pt>
                <c:pt idx="162">
                  <c:v>46087.0</c:v>
                </c:pt>
                <c:pt idx="163">
                  <c:v>46090.0</c:v>
                </c:pt>
                <c:pt idx="164">
                  <c:v>46091.0</c:v>
                </c:pt>
                <c:pt idx="165">
                  <c:v>46092.0</c:v>
                </c:pt>
                <c:pt idx="166">
                  <c:v>46093.0</c:v>
                </c:pt>
                <c:pt idx="167">
                  <c:v>46094.0</c:v>
                </c:pt>
                <c:pt idx="168">
                  <c:v>46097.0</c:v>
                </c:pt>
                <c:pt idx="169">
                  <c:v>46098.0</c:v>
                </c:pt>
                <c:pt idx="170">
                  <c:v>46099.0</c:v>
                </c:pt>
                <c:pt idx="171">
                  <c:v>46100.0</c:v>
                </c:pt>
                <c:pt idx="172">
                  <c:v>46101.0</c:v>
                </c:pt>
                <c:pt idx="173">
                  <c:v>46106.0</c:v>
                </c:pt>
                <c:pt idx="174">
                  <c:v>46107.0</c:v>
                </c:pt>
                <c:pt idx="175">
                  <c:v>46111.0</c:v>
                </c:pt>
                <c:pt idx="176">
                  <c:v>46112.0</c:v>
                </c:pt>
                <c:pt idx="177">
                  <c:v>46113.0</c:v>
                </c:pt>
                <c:pt idx="178">
                  <c:v>46118.0</c:v>
                </c:pt>
                <c:pt idx="179">
                  <c:v>46119.0</c:v>
                </c:pt>
                <c:pt idx="180">
                  <c:v>46120.0</c:v>
                </c:pt>
                <c:pt idx="181">
                  <c:v>46121.0</c:v>
                </c:pt>
                <c:pt idx="182">
                  <c:v>46122.0</c:v>
                </c:pt>
                <c:pt idx="183">
                  <c:v>46125.0</c:v>
                </c:pt>
                <c:pt idx="184">
                  <c:v>46126.0</c:v>
                </c:pt>
                <c:pt idx="185">
                  <c:v>46127.0</c:v>
                </c:pt>
                <c:pt idx="186">
                  <c:v>46128.0</c:v>
                </c:pt>
                <c:pt idx="187">
                  <c:v>46129.0</c:v>
                </c:pt>
                <c:pt idx="188">
                  <c:v>46132.0</c:v>
                </c:pt>
                <c:pt idx="189">
                  <c:v>46133.0</c:v>
                </c:pt>
                <c:pt idx="190">
                  <c:v>46134.0</c:v>
                </c:pt>
                <c:pt idx="191">
                  <c:v>46135.0</c:v>
                </c:pt>
                <c:pt idx="192">
                  <c:v>46136.0</c:v>
                </c:pt>
                <c:pt idx="193">
                  <c:v>46139.0</c:v>
                </c:pt>
                <c:pt idx="194">
                  <c:v>46140.0</c:v>
                </c:pt>
                <c:pt idx="195">
                  <c:v>46141.0</c:v>
                </c:pt>
                <c:pt idx="196">
                  <c:v>46142.0</c:v>
                </c:pt>
                <c:pt idx="197">
                  <c:v>46146.0</c:v>
                </c:pt>
                <c:pt idx="198">
                  <c:v>46147.0</c:v>
                </c:pt>
                <c:pt idx="199">
                  <c:v>46148.0</c:v>
                </c:pt>
                <c:pt idx="200">
                  <c:v>46149.0</c:v>
                </c:pt>
                <c:pt idx="201">
                  <c:v>46150.0</c:v>
                </c:pt>
                <c:pt idx="202">
                  <c:v>46153.0</c:v>
                </c:pt>
                <c:pt idx="203">
                  <c:v>46154.0</c:v>
                </c:pt>
                <c:pt idx="204">
                  <c:v>46155.0</c:v>
                </c:pt>
                <c:pt idx="205">
                  <c:v>46156.0</c:v>
                </c:pt>
                <c:pt idx="206">
                  <c:v>46157.0</c:v>
                </c:pt>
                <c:pt idx="207">
                  <c:v>46160.0</c:v>
                </c:pt>
                <c:pt idx="208">
                  <c:v>46161.0</c:v>
                </c:pt>
                <c:pt idx="209">
                  <c:v>46162.0</c:v>
                </c:pt>
                <c:pt idx="210">
                  <c:v>46163.0</c:v>
                </c:pt>
                <c:pt idx="211">
                  <c:v>46164.0</c:v>
                </c:pt>
                <c:pt idx="212">
                  <c:v>46168.0</c:v>
                </c:pt>
                <c:pt idx="213">
                  <c:v>46169.0</c:v>
                </c:pt>
                <c:pt idx="214">
                  <c:v>46170.0</c:v>
                </c:pt>
                <c:pt idx="215">
                  <c:v>46171.0</c:v>
                </c:pt>
                <c:pt idx="216">
                  <c:v>46173.0</c:v>
                </c:pt>
                <c:pt idx="217">
                  <c:v>46174.0</c:v>
                </c:pt>
                <c:pt idx="218">
                  <c:v>46175.0</c:v>
                </c:pt>
                <c:pt idx="219">
                  <c:v>46176.0</c:v>
                </c:pt>
                <c:pt idx="220">
                  <c:v>46177.0</c:v>
                </c:pt>
                <c:pt idx="221">
                  <c:v>46178.0</c:v>
                </c:pt>
                <c:pt idx="222">
                  <c:v>46181.0</c:v>
                </c:pt>
                <c:pt idx="223">
                  <c:v>46182.0</c:v>
                </c:pt>
                <c:pt idx="224">
                  <c:v>46183.0</c:v>
                </c:pt>
                <c:pt idx="225">
                  <c:v>46184.0</c:v>
                </c:pt>
                <c:pt idx="226">
                  <c:v>46185.0</c:v>
                </c:pt>
                <c:pt idx="227">
                  <c:v>46189.0</c:v>
                </c:pt>
                <c:pt idx="228">
                  <c:v>46190.0</c:v>
                </c:pt>
                <c:pt idx="229">
                  <c:v>46191.0</c:v>
                </c:pt>
                <c:pt idx="230">
                  <c:v>46192.0</c:v>
                </c:pt>
                <c:pt idx="231">
                  <c:v>46195.0</c:v>
                </c:pt>
                <c:pt idx="232">
                  <c:v>46196.0</c:v>
                </c:pt>
                <c:pt idx="233">
                  <c:v>46197.0</c:v>
                </c:pt>
                <c:pt idx="234">
                  <c:v>46198.0</c:v>
                </c:pt>
                <c:pt idx="235">
                  <c:v>46199.0</c:v>
                </c:pt>
                <c:pt idx="236">
                  <c:v>46202.0</c:v>
                </c:pt>
                <c:pt idx="237">
                  <c:v>46203.0</c:v>
                </c:pt>
                <c:pt idx="238">
                  <c:v>46204.0</c:v>
                </c:pt>
                <c:pt idx="239">
                  <c:v>46205.0</c:v>
                </c:pt>
                <c:pt idx="240">
                  <c:v>46206.0</c:v>
                </c:pt>
                <c:pt idx="241">
                  <c:v>46209.0</c:v>
                </c:pt>
                <c:pt idx="242">
                  <c:v>46210.0</c:v>
                </c:pt>
                <c:pt idx="243">
                  <c:v>46211.0</c:v>
                </c:pt>
                <c:pt idx="244">
                  <c:v>46216.0</c:v>
                </c:pt>
                <c:pt idx="245">
                  <c:v>46217.0</c:v>
                </c:pt>
                <c:pt idx="246">
                  <c:v>46218.0</c:v>
                </c:pt>
                <c:pt idx="247">
                  <c:v>46219.0</c:v>
                </c:pt>
                <c:pt idx="248">
                  <c:v>46220.0</c:v>
                </c:pt>
                <c:pt idx="249">
                  <c:v>46223.0</c:v>
                </c:pt>
                <c:pt idx="250">
                  <c:v>46224.0</c:v>
                </c:pt>
                <c:pt idx="251">
                  <c:v>46225.0</c:v>
                </c:pt>
                <c:pt idx="252">
                  <c:v>46226.0</c:v>
                </c:pt>
                <c:pt idx="253">
                  <c:v>46227.0</c:v>
                </c:pt>
                <c:pt idx="254">
                  <c:v>46230.0</c:v>
                </c:pt>
                <c:pt idx="255">
                  <c:v>46231.0</c:v>
                </c:pt>
                <c:pt idx="256">
                  <c:v>46232.0</c:v>
                </c:pt>
                <c:pt idx="257">
                  <c:v>46233.0</c:v>
                </c:pt>
                <c:pt idx="258">
                  <c:v>46234.0</c:v>
                </c:pt>
                <c:pt idx="259">
                  <c:v>46237.0</c:v>
                </c:pt>
                <c:pt idx="260">
                  <c:v>46238.0</c:v>
                </c:pt>
                <c:pt idx="261">
                  <c:v>46239.0</c:v>
                </c:pt>
                <c:pt idx="262">
                  <c:v>46240.0</c:v>
                </c:pt>
                <c:pt idx="263">
                  <c:v>46241.0</c:v>
                </c:pt>
                <c:pt idx="264">
                  <c:v>46244.0</c:v>
                </c:pt>
                <c:pt idx="265">
                  <c:v>46245.0</c:v>
                </c:pt>
                <c:pt idx="266">
                  <c:v>46246.0</c:v>
                </c:pt>
                <c:pt idx="267">
                  <c:v>46247.0</c:v>
                </c:pt>
                <c:pt idx="268">
                  <c:v>46248.0</c:v>
                </c:pt>
                <c:pt idx="269">
                  <c:v>46252.0</c:v>
                </c:pt>
                <c:pt idx="270">
                  <c:v>46254.0</c:v>
                </c:pt>
                <c:pt idx="271">
                  <c:v>46255.0</c:v>
                </c:pt>
                <c:pt idx="272">
                  <c:v>46258.0</c:v>
                </c:pt>
                <c:pt idx="273">
                  <c:v>46259.0</c:v>
                </c:pt>
                <c:pt idx="274">
                  <c:v>46260.0</c:v>
                </c:pt>
                <c:pt idx="275">
                  <c:v>46261.0</c:v>
                </c:pt>
                <c:pt idx="276">
                  <c:v>46262.0</c:v>
                </c:pt>
                <c:pt idx="277">
                  <c:v>46265.0</c:v>
                </c:pt>
                <c:pt idx="278">
                  <c:v>46266.0</c:v>
                </c:pt>
                <c:pt idx="279">
                  <c:v>46267.0</c:v>
                </c:pt>
                <c:pt idx="280">
                  <c:v>46268.0</c:v>
                </c:pt>
                <c:pt idx="281">
                  <c:v>46269.0</c:v>
                </c:pt>
                <c:pt idx="282">
                  <c:v>46272.0</c:v>
                </c:pt>
                <c:pt idx="283">
                  <c:v>46273.0</c:v>
                </c:pt>
                <c:pt idx="284">
                  <c:v>46274.0</c:v>
                </c:pt>
                <c:pt idx="285">
                  <c:v>46275.0</c:v>
                </c:pt>
                <c:pt idx="286">
                  <c:v>46276.0</c:v>
                </c:pt>
                <c:pt idx="287">
                  <c:v>46279.0</c:v>
                </c:pt>
                <c:pt idx="288">
                  <c:v>46280.0</c:v>
                </c:pt>
                <c:pt idx="289">
                  <c:v>46281.0</c:v>
                </c:pt>
                <c:pt idx="290">
                  <c:v>46282.0</c:v>
                </c:pt>
                <c:pt idx="291">
                  <c:v>46283.0</c:v>
                </c:pt>
                <c:pt idx="292">
                  <c:v>46286.0</c:v>
                </c:pt>
                <c:pt idx="293">
                  <c:v>46287.0</c:v>
                </c:pt>
                <c:pt idx="294">
                  <c:v>46288.0</c:v>
                </c:pt>
                <c:pt idx="295">
                  <c:v>46290.0</c:v>
                </c:pt>
                <c:pt idx="296">
                  <c:v>46293.0</c:v>
                </c:pt>
                <c:pt idx="297">
                  <c:v>46294.0</c:v>
                </c:pt>
                <c:pt idx="298">
                  <c:v>46295.0</c:v>
                </c:pt>
                <c:pt idx="299">
                  <c:v>46296.0</c:v>
                </c:pt>
                <c:pt idx="300">
                  <c:v>46300.0</c:v>
                </c:pt>
                <c:pt idx="301">
                  <c:v>46301.0</c:v>
                </c:pt>
                <c:pt idx="302">
                  <c:v>46302.0</c:v>
                </c:pt>
                <c:pt idx="303">
                  <c:v>46303.0</c:v>
                </c:pt>
                <c:pt idx="304">
                  <c:v>46304.0</c:v>
                </c:pt>
                <c:pt idx="305">
                  <c:v>46308.0</c:v>
                </c:pt>
                <c:pt idx="306">
                  <c:v>46309.0</c:v>
                </c:pt>
                <c:pt idx="307">
                  <c:v>46310.0</c:v>
                </c:pt>
                <c:pt idx="308">
                  <c:v>46311.0</c:v>
                </c:pt>
                <c:pt idx="309">
                  <c:v>46314.0</c:v>
                </c:pt>
                <c:pt idx="310">
                  <c:v>46315.0</c:v>
                </c:pt>
                <c:pt idx="311">
                  <c:v>46316.0</c:v>
                </c:pt>
                <c:pt idx="312">
                  <c:v>46317.0</c:v>
                </c:pt>
                <c:pt idx="313">
                  <c:v>46318.0</c:v>
                </c:pt>
                <c:pt idx="314">
                  <c:v>46321.0</c:v>
                </c:pt>
                <c:pt idx="315">
                  <c:v>46322.0</c:v>
                </c:pt>
                <c:pt idx="316">
                  <c:v>46323.0</c:v>
                </c:pt>
                <c:pt idx="317">
                  <c:v>46324.0</c:v>
                </c:pt>
                <c:pt idx="318">
                  <c:v>46325.0</c:v>
                </c:pt>
              </c:numCache>
            </c:numRef>
          </c:cat>
          <c:val>
            <c:numRef>
              <c:f>Sheet1!$C$2:$C$320</c:f>
              <c:numCache>
                <c:formatCode>0"%"</c:formatCode>
                <c:ptCount val="319"/>
                <c:pt idx="0">
                  <c:v>0.8230452674897082</c:v>
                </c:pt>
                <c:pt idx="1">
                  <c:v>2.4691358024691246</c:v>
                </c:pt>
                <c:pt idx="2">
                  <c:v>1.6460905349794164</c:v>
                </c:pt>
                <c:pt idx="3">
                  <c:v>0.8230452674897082</c:v>
                </c:pt>
                <c:pt idx="4">
                  <c:v>4.526748971193406</c:v>
                </c:pt>
                <c:pt idx="5">
                  <c:v>4.938271604938271</c:v>
                </c:pt>
                <c:pt idx="6">
                  <c:v>6.584362139917688</c:v>
                </c:pt>
                <c:pt idx="7">
                  <c:v>6.995884773662553</c:v>
                </c:pt>
                <c:pt idx="8">
                  <c:v>8.64197530864197</c:v>
                </c:pt>
                <c:pt idx="9">
                  <c:v>10.288065843621386</c:v>
                </c:pt>
                <c:pt idx="10">
                  <c:v>7.818930041152261</c:v>
                </c:pt>
                <c:pt idx="11">
                  <c:v>6.584362139917688</c:v>
                </c:pt>
                <c:pt idx="12">
                  <c:v>7.818930041152261</c:v>
                </c:pt>
                <c:pt idx="13">
                  <c:v>8.64197530864197</c:v>
                </c:pt>
                <c:pt idx="14">
                  <c:v>7.818930041152261</c:v>
                </c:pt>
                <c:pt idx="15">
                  <c:v>7.818930041152261</c:v>
                </c:pt>
                <c:pt idx="16">
                  <c:v>7.818930041152261</c:v>
                </c:pt>
                <c:pt idx="17">
                  <c:v>8.230452674897105</c:v>
                </c:pt>
                <c:pt idx="18">
                  <c:v>8.641975308641946</c:v>
                </c:pt>
                <c:pt idx="19">
                  <c:v>8.230452674897082</c:v>
                </c:pt>
                <c:pt idx="20">
                  <c:v>8.641975308641925</c:v>
                </c:pt>
                <c:pt idx="21">
                  <c:v>9.876543209876498</c:v>
                </c:pt>
                <c:pt idx="22">
                  <c:v>9.876543209876498</c:v>
                </c:pt>
                <c:pt idx="23">
                  <c:v>9.053497942386791</c:v>
                </c:pt>
                <c:pt idx="24">
                  <c:v>9.053497942386791</c:v>
                </c:pt>
                <c:pt idx="25">
                  <c:v>8.641975308641925</c:v>
                </c:pt>
                <c:pt idx="26">
                  <c:v>9.053497942386791</c:v>
                </c:pt>
                <c:pt idx="27">
                  <c:v>9.053497942386791</c:v>
                </c:pt>
                <c:pt idx="28">
                  <c:v>9.465020576131655</c:v>
                </c:pt>
                <c:pt idx="29">
                  <c:v>9.465020576131655</c:v>
                </c:pt>
                <c:pt idx="30">
                  <c:v>10.288065843621364</c:v>
                </c:pt>
                <c:pt idx="31">
                  <c:v>9.465020576131655</c:v>
                </c:pt>
                <c:pt idx="32">
                  <c:v>8.641975308641946</c:v>
                </c:pt>
                <c:pt idx="33">
                  <c:v>9.87654320987652</c:v>
                </c:pt>
                <c:pt idx="34">
                  <c:v>10.288065843621386</c:v>
                </c:pt>
                <c:pt idx="35">
                  <c:v>9.876543209876543</c:v>
                </c:pt>
                <c:pt idx="36">
                  <c:v>10.288065843621407</c:v>
                </c:pt>
                <c:pt idx="37">
                  <c:v>10.288065843621407</c:v>
                </c:pt>
                <c:pt idx="38">
                  <c:v>12.34567901234569</c:v>
                </c:pt>
                <c:pt idx="39">
                  <c:v>11.934156378600825</c:v>
                </c:pt>
                <c:pt idx="40">
                  <c:v>11.522633744855959</c:v>
                </c:pt>
                <c:pt idx="41">
                  <c:v>11.522633744855959</c:v>
                </c:pt>
                <c:pt idx="42">
                  <c:v>12.757201646090532</c:v>
                </c:pt>
                <c:pt idx="43">
                  <c:v>11.111111111111116</c:v>
                </c:pt>
                <c:pt idx="44">
                  <c:v>11.934156378600825</c:v>
                </c:pt>
                <c:pt idx="45">
                  <c:v>16.872427983539097</c:v>
                </c:pt>
                <c:pt idx="46">
                  <c:v>13.991769547325106</c:v>
                </c:pt>
                <c:pt idx="47">
                  <c:v>17.28395061728396</c:v>
                </c:pt>
                <c:pt idx="48">
                  <c:v>19.753086419753107</c:v>
                </c:pt>
                <c:pt idx="49">
                  <c:v>19.753086419753107</c:v>
                </c:pt>
                <c:pt idx="50">
                  <c:v>22.633744855967098</c:v>
                </c:pt>
                <c:pt idx="51">
                  <c:v>24.279835390946513</c:v>
                </c:pt>
                <c:pt idx="52">
                  <c:v>25.10288065843622</c:v>
                </c:pt>
                <c:pt idx="53">
                  <c:v>21.399176954732525</c:v>
                </c:pt>
                <c:pt idx="54">
                  <c:v>16.049382716049408</c:v>
                </c:pt>
                <c:pt idx="55">
                  <c:v>15.637860082304567</c:v>
                </c:pt>
                <c:pt idx="56">
                  <c:v>16.049382716049433</c:v>
                </c:pt>
                <c:pt idx="57">
                  <c:v>16.460905349794274</c:v>
                </c:pt>
                <c:pt idx="58">
                  <c:v>17.695473251028847</c:v>
                </c:pt>
                <c:pt idx="59">
                  <c:v>17.695473251028847</c:v>
                </c:pt>
                <c:pt idx="60">
                  <c:v>21.399176954732546</c:v>
                </c:pt>
                <c:pt idx="61">
                  <c:v>19.341563786008265</c:v>
                </c:pt>
                <c:pt idx="62">
                  <c:v>18.518518518518555</c:v>
                </c:pt>
                <c:pt idx="63">
                  <c:v>18.93004115226342</c:v>
                </c:pt>
                <c:pt idx="64">
                  <c:v>20.164609053497973</c:v>
                </c:pt>
                <c:pt idx="65">
                  <c:v>21.399176954732525</c:v>
                </c:pt>
                <c:pt idx="66">
                  <c:v>21.399176954732525</c:v>
                </c:pt>
                <c:pt idx="67">
                  <c:v>15.637860082304545</c:v>
                </c:pt>
                <c:pt idx="68">
                  <c:v>16.87242798353912</c:v>
                </c:pt>
                <c:pt idx="69">
                  <c:v>19.341563786008244</c:v>
                </c:pt>
                <c:pt idx="70">
                  <c:v>19.341563786008244</c:v>
                </c:pt>
                <c:pt idx="71">
                  <c:v>22.222222222222232</c:v>
                </c:pt>
                <c:pt idx="72">
                  <c:v>23.86831275720165</c:v>
                </c:pt>
                <c:pt idx="73">
                  <c:v>27.16049382716048</c:v>
                </c:pt>
                <c:pt idx="74">
                  <c:v>27.98353909465019</c:v>
                </c:pt>
                <c:pt idx="75">
                  <c:v>26.748971193415617</c:v>
                </c:pt>
                <c:pt idx="76">
                  <c:v>25.514403292181044</c:v>
                </c:pt>
                <c:pt idx="77">
                  <c:v>20.57613168724277</c:v>
                </c:pt>
                <c:pt idx="78">
                  <c:v>21.399176954732503</c:v>
                </c:pt>
                <c:pt idx="79">
                  <c:v>20.16460905349795</c:v>
                </c:pt>
                <c:pt idx="80">
                  <c:v>19.753086419753085</c:v>
                </c:pt>
                <c:pt idx="81">
                  <c:v>19.34156378600822</c:v>
                </c:pt>
                <c:pt idx="82">
                  <c:v>18.930041152263357</c:v>
                </c:pt>
                <c:pt idx="83">
                  <c:v>19.753086419753085</c:v>
                </c:pt>
                <c:pt idx="84">
                  <c:v>19.753086419753085</c:v>
                </c:pt>
                <c:pt idx="85">
                  <c:v>18.106995884773667</c:v>
                </c:pt>
                <c:pt idx="86">
                  <c:v>16.460905349794253</c:v>
                </c:pt>
                <c:pt idx="87">
                  <c:v>16.87242798353912</c:v>
                </c:pt>
                <c:pt idx="88">
                  <c:v>17.695473251028826</c:v>
                </c:pt>
                <c:pt idx="89">
                  <c:v>18.106995884773692</c:v>
                </c:pt>
                <c:pt idx="90">
                  <c:v>18.106995884773692</c:v>
                </c:pt>
                <c:pt idx="91">
                  <c:v>17.695473251028847</c:v>
                </c:pt>
                <c:pt idx="92">
                  <c:v>17.695473251028847</c:v>
                </c:pt>
                <c:pt idx="93">
                  <c:v>17.283950617283985</c:v>
                </c:pt>
                <c:pt idx="94">
                  <c:v>20.164609053497994</c:v>
                </c:pt>
                <c:pt idx="95">
                  <c:v>19.341563786008287</c:v>
                </c:pt>
                <c:pt idx="96">
                  <c:v>18.51851851851858</c:v>
                </c:pt>
                <c:pt idx="97">
                  <c:v>18.106995884773713</c:v>
                </c:pt>
                <c:pt idx="98">
                  <c:v>18.106995884773713</c:v>
                </c:pt>
                <c:pt idx="99">
                  <c:v>18.93004115226342</c:v>
                </c:pt>
                <c:pt idx="100">
                  <c:v>18.93004115226342</c:v>
                </c:pt>
                <c:pt idx="101">
                  <c:v>18.518518518518555</c:v>
                </c:pt>
                <c:pt idx="102">
                  <c:v>17.695473251028847</c:v>
                </c:pt>
                <c:pt idx="103">
                  <c:v>18.106995884773713</c:v>
                </c:pt>
                <c:pt idx="104">
                  <c:v>18.93004115226342</c:v>
                </c:pt>
                <c:pt idx="105">
                  <c:v>19.341563786008287</c:v>
                </c:pt>
                <c:pt idx="106">
                  <c:v>19.341563786008287</c:v>
                </c:pt>
                <c:pt idx="107">
                  <c:v>18.93004115226342</c:v>
                </c:pt>
                <c:pt idx="108">
                  <c:v>21.810699588477412</c:v>
                </c:pt>
                <c:pt idx="109">
                  <c:v>23.045267489711986</c:v>
                </c:pt>
                <c:pt idx="110">
                  <c:v>22.63374485596712</c:v>
                </c:pt>
                <c:pt idx="111">
                  <c:v>21.810699588477412</c:v>
                </c:pt>
                <c:pt idx="112">
                  <c:v>23.868312757201693</c:v>
                </c:pt>
                <c:pt idx="113">
                  <c:v>23.868312757201693</c:v>
                </c:pt>
                <c:pt idx="114">
                  <c:v>25.925925925925974</c:v>
                </c:pt>
                <c:pt idx="115">
                  <c:v>25.925925925925974</c:v>
                </c:pt>
                <c:pt idx="116">
                  <c:v>25.925925925925974</c:v>
                </c:pt>
                <c:pt idx="117">
                  <c:v>25.925925925925974</c:v>
                </c:pt>
                <c:pt idx="118">
                  <c:v>25.925925925925974</c:v>
                </c:pt>
                <c:pt idx="119">
                  <c:v>24.6913580246914</c:v>
                </c:pt>
                <c:pt idx="120">
                  <c:v>25.102880658436245</c:v>
                </c:pt>
                <c:pt idx="121">
                  <c:v>24.6913580246914</c:v>
                </c:pt>
                <c:pt idx="122">
                  <c:v>23.868312757201693</c:v>
                </c:pt>
                <c:pt idx="123">
                  <c:v>23.045267489711986</c:v>
                </c:pt>
                <c:pt idx="124">
                  <c:v>23.868312757201693</c:v>
                </c:pt>
                <c:pt idx="125">
                  <c:v>23.868312757201693</c:v>
                </c:pt>
                <c:pt idx="126">
                  <c:v>24.6913580246914</c:v>
                </c:pt>
                <c:pt idx="127">
                  <c:v>24.279835390946538</c:v>
                </c:pt>
                <c:pt idx="128">
                  <c:v>23.86831275720167</c:v>
                </c:pt>
                <c:pt idx="129">
                  <c:v>23.86831275720167</c:v>
                </c:pt>
                <c:pt idx="130">
                  <c:v>23.86831275720167</c:v>
                </c:pt>
                <c:pt idx="131">
                  <c:v>23.456790123456805</c:v>
                </c:pt>
                <c:pt idx="132">
                  <c:v>22.222222222222232</c:v>
                </c:pt>
                <c:pt idx="133">
                  <c:v>22.222222222222232</c:v>
                </c:pt>
                <c:pt idx="134">
                  <c:v>22.633744855967098</c:v>
                </c:pt>
                <c:pt idx="135">
                  <c:v>22.222222222222232</c:v>
                </c:pt>
                <c:pt idx="136">
                  <c:v>21.399176954732525</c:v>
                </c:pt>
                <c:pt idx="137">
                  <c:v>20.98765432098768</c:v>
                </c:pt>
                <c:pt idx="138">
                  <c:v>20.98765432098768</c:v>
                </c:pt>
                <c:pt idx="139">
                  <c:v>19.341563786008265</c:v>
                </c:pt>
                <c:pt idx="140">
                  <c:v>19.341563786008265</c:v>
                </c:pt>
                <c:pt idx="141">
                  <c:v>19.753086419753107</c:v>
                </c:pt>
                <c:pt idx="142">
                  <c:v>18.518518518518533</c:v>
                </c:pt>
                <c:pt idx="143">
                  <c:v>18.106995884773667</c:v>
                </c:pt>
                <c:pt idx="144">
                  <c:v>17.695473251028826</c:v>
                </c:pt>
                <c:pt idx="145">
                  <c:v>17.28395061728396</c:v>
                </c:pt>
                <c:pt idx="146">
                  <c:v>17.28395061728396</c:v>
                </c:pt>
                <c:pt idx="147">
                  <c:v>18.106995884773667</c:v>
                </c:pt>
                <c:pt idx="148">
                  <c:v>18.518518518518512</c:v>
                </c:pt>
                <c:pt idx="149">
                  <c:v>18.518518518518512</c:v>
                </c:pt>
                <c:pt idx="150">
                  <c:v>18.518518518518512</c:v>
                </c:pt>
                <c:pt idx="151">
                  <c:v>17.695473251028805</c:v>
                </c:pt>
                <c:pt idx="152">
                  <c:v>17.28395061728394</c:v>
                </c:pt>
                <c:pt idx="153">
                  <c:v>17.28395061728394</c:v>
                </c:pt>
                <c:pt idx="154">
                  <c:v>17.695473251028805</c:v>
                </c:pt>
                <c:pt idx="155">
                  <c:v>18.106995884773667</c:v>
                </c:pt>
                <c:pt idx="156">
                  <c:v>17.28395061728396</c:v>
                </c:pt>
                <c:pt idx="157">
                  <c:v>17.28395061728396</c:v>
                </c:pt>
                <c:pt idx="158">
                  <c:v>17.28395061728396</c:v>
                </c:pt>
                <c:pt idx="159">
                  <c:v>16.872427983539097</c:v>
                </c:pt>
                <c:pt idx="160">
                  <c:v>16.46090534979423</c:v>
                </c:pt>
                <c:pt idx="161">
                  <c:v>15.226337448559658</c:v>
                </c:pt>
                <c:pt idx="162">
                  <c:v>16.46090534979423</c:v>
                </c:pt>
                <c:pt idx="163">
                  <c:v>17.28395061728394</c:v>
                </c:pt>
                <c:pt idx="164">
                  <c:v>16.872427983539072</c:v>
                </c:pt>
                <c:pt idx="165">
                  <c:v>16.46090534979421</c:v>
                </c:pt>
                <c:pt idx="166">
                  <c:v>16.872427983539072</c:v>
                </c:pt>
                <c:pt idx="167">
                  <c:v>16.049382716049365</c:v>
                </c:pt>
                <c:pt idx="168">
                  <c:v>17.28395061728394</c:v>
                </c:pt>
                <c:pt idx="169">
                  <c:v>17.695473251028805</c:v>
                </c:pt>
                <c:pt idx="170">
                  <c:v>18.106995884773667</c:v>
                </c:pt>
                <c:pt idx="171">
                  <c:v>17.695473251028826</c:v>
                </c:pt>
                <c:pt idx="172">
                  <c:v>16.87242798353912</c:v>
                </c:pt>
                <c:pt idx="173">
                  <c:v>16.87242798353912</c:v>
                </c:pt>
                <c:pt idx="174">
                  <c:v>17.283950617283985</c:v>
                </c:pt>
                <c:pt idx="175">
                  <c:v>16.87242798353912</c:v>
                </c:pt>
                <c:pt idx="176">
                  <c:v>16.460905349794253</c:v>
                </c:pt>
                <c:pt idx="177">
                  <c:v>15.637860082304545</c:v>
                </c:pt>
                <c:pt idx="178">
                  <c:v>15.637860082304545</c:v>
                </c:pt>
                <c:pt idx="179">
                  <c:v>14.814814814814836</c:v>
                </c:pt>
                <c:pt idx="180">
                  <c:v>14.403292181069972</c:v>
                </c:pt>
                <c:pt idx="181">
                  <c:v>14.403292181069972</c:v>
                </c:pt>
                <c:pt idx="182">
                  <c:v>14.403292181069972</c:v>
                </c:pt>
                <c:pt idx="183">
                  <c:v>15.22633744855968</c:v>
                </c:pt>
                <c:pt idx="184">
                  <c:v>16.049382716049386</c:v>
                </c:pt>
                <c:pt idx="185">
                  <c:v>16.46090534979423</c:v>
                </c:pt>
                <c:pt idx="186">
                  <c:v>16.46090534979423</c:v>
                </c:pt>
                <c:pt idx="187">
                  <c:v>16.049382716049365</c:v>
                </c:pt>
                <c:pt idx="188">
                  <c:v>15.637860082304522</c:v>
                </c:pt>
                <c:pt idx="189">
                  <c:v>16.049382716049386</c:v>
                </c:pt>
                <c:pt idx="190">
                  <c:v>16.46090534979423</c:v>
                </c:pt>
                <c:pt idx="191">
                  <c:v>16.872427983539097</c:v>
                </c:pt>
                <c:pt idx="192">
                  <c:v>16.872427983539097</c:v>
                </c:pt>
                <c:pt idx="193">
                  <c:v>17.28395061728396</c:v>
                </c:pt>
                <c:pt idx="194">
                  <c:v>17.695473251028826</c:v>
                </c:pt>
                <c:pt idx="195">
                  <c:v>16.460905349794253</c:v>
                </c:pt>
                <c:pt idx="196">
                  <c:v>15.22633744855968</c:v>
                </c:pt>
                <c:pt idx="197">
                  <c:v>15.637860082304545</c:v>
                </c:pt>
                <c:pt idx="198">
                  <c:v>16.460905349794253</c:v>
                </c:pt>
                <c:pt idx="199">
                  <c:v>15.22633744855968</c:v>
                </c:pt>
                <c:pt idx="200">
                  <c:v>15.22633744855968</c:v>
                </c:pt>
                <c:pt idx="201">
                  <c:v>15.22633744855968</c:v>
                </c:pt>
                <c:pt idx="202">
                  <c:v>15.637860082304545</c:v>
                </c:pt>
                <c:pt idx="203">
                  <c:v>16.460905349794253</c:v>
                </c:pt>
                <c:pt idx="204">
                  <c:v>16.87242798353912</c:v>
                </c:pt>
                <c:pt idx="205">
                  <c:v>16.87242798353912</c:v>
                </c:pt>
                <c:pt idx="206">
                  <c:v>16.460905349794253</c:v>
                </c:pt>
                <c:pt idx="207">
                  <c:v>16.87242798353912</c:v>
                </c:pt>
                <c:pt idx="208">
                  <c:v>18.106995884773692</c:v>
                </c:pt>
                <c:pt idx="209">
                  <c:v>17.695473251028847</c:v>
                </c:pt>
                <c:pt idx="210">
                  <c:v>17.283950617283985</c:v>
                </c:pt>
                <c:pt idx="211">
                  <c:v>17.283950617283985</c:v>
                </c:pt>
                <c:pt idx="212">
                  <c:v>18.106995884773692</c:v>
                </c:pt>
                <c:pt idx="213">
                  <c:v>18.518518518518533</c:v>
                </c:pt>
                <c:pt idx="214">
                  <c:v>18.518518518518533</c:v>
                </c:pt>
                <c:pt idx="215">
                  <c:v>17.695473251028826</c:v>
                </c:pt>
                <c:pt idx="216">
                  <c:v>17.695473251028826</c:v>
                </c:pt>
                <c:pt idx="217">
                  <c:v>18.106995884773692</c:v>
                </c:pt>
                <c:pt idx="218">
                  <c:v>18.106995884773692</c:v>
                </c:pt>
                <c:pt idx="219">
                  <c:v>18.106995884773692</c:v>
                </c:pt>
                <c:pt idx="220">
                  <c:v>18.106995884773692</c:v>
                </c:pt>
                <c:pt idx="221">
                  <c:v>17.695473251028847</c:v>
                </c:pt>
                <c:pt idx="222">
                  <c:v>18.9300411522634</c:v>
                </c:pt>
                <c:pt idx="223">
                  <c:v>20.16460905349795</c:v>
                </c:pt>
                <c:pt idx="224">
                  <c:v>19.341563786008244</c:v>
                </c:pt>
                <c:pt idx="225">
                  <c:v>19.341563786008244</c:v>
                </c:pt>
                <c:pt idx="226">
                  <c:v>19.341563786008244</c:v>
                </c:pt>
                <c:pt idx="227">
                  <c:v>20.98765432098766</c:v>
                </c:pt>
                <c:pt idx="228">
                  <c:v>21.399176954732503</c:v>
                </c:pt>
                <c:pt idx="229">
                  <c:v>22.22222222222221</c:v>
                </c:pt>
                <c:pt idx="230">
                  <c:v>21.810699588477366</c:v>
                </c:pt>
                <c:pt idx="231">
                  <c:v>23.045267489711918</c:v>
                </c:pt>
                <c:pt idx="232">
                  <c:v>23.868312757201625</c:v>
                </c:pt>
                <c:pt idx="233">
                  <c:v>25.92592592592591</c:v>
                </c:pt>
                <c:pt idx="234">
                  <c:v>25.92592592592591</c:v>
                </c:pt>
                <c:pt idx="235">
                  <c:v>24.691358024691333</c:v>
                </c:pt>
                <c:pt idx="236">
                  <c:v>24.27983539094647</c:v>
                </c:pt>
                <c:pt idx="237">
                  <c:v>24.69135802469131</c:v>
                </c:pt>
                <c:pt idx="238">
                  <c:v>25.514403292181044</c:v>
                </c:pt>
                <c:pt idx="239">
                  <c:v>25.514403292181044</c:v>
                </c:pt>
                <c:pt idx="240">
                  <c:v>24.691358024691333</c:v>
                </c:pt>
                <c:pt idx="241">
                  <c:v>24.691358024691333</c:v>
                </c:pt>
                <c:pt idx="242">
                  <c:v>24.691358024691333</c:v>
                </c:pt>
                <c:pt idx="243">
                  <c:v>24.27983539094647</c:v>
                </c:pt>
                <c:pt idx="244">
                  <c:v>25.514403292181022</c:v>
                </c:pt>
                <c:pt idx="245">
                  <c:v>25.102880658436177</c:v>
                </c:pt>
                <c:pt idx="246">
                  <c:v>25.925925925925885</c:v>
                </c:pt>
                <c:pt idx="247">
                  <c:v>25.514403292181022</c:v>
                </c:pt>
                <c:pt idx="248">
                  <c:v>25.514403292181022</c:v>
                </c:pt>
                <c:pt idx="249">
                  <c:v>26.748971193415592</c:v>
                </c:pt>
                <c:pt idx="250">
                  <c:v>27.160493827160458</c:v>
                </c:pt>
                <c:pt idx="251">
                  <c:v>27.98353909465017</c:v>
                </c:pt>
                <c:pt idx="252">
                  <c:v>28.39506172839501</c:v>
                </c:pt>
                <c:pt idx="253">
                  <c:v>27.160493827160437</c:v>
                </c:pt>
                <c:pt idx="254">
                  <c:v>28.39506172839501</c:v>
                </c:pt>
                <c:pt idx="255">
                  <c:v>29.218106995884717</c:v>
                </c:pt>
                <c:pt idx="256">
                  <c:v>29.218106995884717</c:v>
                </c:pt>
                <c:pt idx="257">
                  <c:v>28.80658436213985</c:v>
                </c:pt>
                <c:pt idx="258">
                  <c:v>28.39506172839499</c:v>
                </c:pt>
                <c:pt idx="259">
                  <c:v>27.983539094650123</c:v>
                </c:pt>
                <c:pt idx="260">
                  <c:v>27.160493827160415</c:v>
                </c:pt>
                <c:pt idx="261">
                  <c:v>26.74897119341557</c:v>
                </c:pt>
                <c:pt idx="262">
                  <c:v>25.925925925925863</c:v>
                </c:pt>
                <c:pt idx="263">
                  <c:v>25.514403292180997</c:v>
                </c:pt>
                <c:pt idx="264">
                  <c:v>26.337448559670705</c:v>
                </c:pt>
                <c:pt idx="265">
                  <c:v>27.57201646090528</c:v>
                </c:pt>
                <c:pt idx="266">
                  <c:v>26.74897119341557</c:v>
                </c:pt>
                <c:pt idx="267">
                  <c:v>26.74897119341557</c:v>
                </c:pt>
                <c:pt idx="268">
                  <c:v>27.160493827160437</c:v>
                </c:pt>
                <c:pt idx="269">
                  <c:v>27.983539094650144</c:v>
                </c:pt>
                <c:pt idx="270">
                  <c:v>27.572016460905303</c:v>
                </c:pt>
                <c:pt idx="271">
                  <c:v>27.572016460905303</c:v>
                </c:pt>
                <c:pt idx="272">
                  <c:v>28.806584362139876</c:v>
                </c:pt>
                <c:pt idx="273">
                  <c:v>28.39506172839501</c:v>
                </c:pt>
                <c:pt idx="274">
                  <c:v>27.983539094650144</c:v>
                </c:pt>
                <c:pt idx="275">
                  <c:v>27.983539094650144</c:v>
                </c:pt>
                <c:pt idx="276">
                  <c:v>27.983539094650144</c:v>
                </c:pt>
                <c:pt idx="277">
                  <c:v>27.983539094650144</c:v>
                </c:pt>
                <c:pt idx="278">
                  <c:v>27.160493827160437</c:v>
                </c:pt>
                <c:pt idx="279">
                  <c:v>26.748971193415592</c:v>
                </c:pt>
                <c:pt idx="280">
                  <c:v>27.160493827160458</c:v>
                </c:pt>
                <c:pt idx="281">
                  <c:v>26.748971193415617</c:v>
                </c:pt>
                <c:pt idx="282">
                  <c:v>27.16049382716048</c:v>
                </c:pt>
                <c:pt idx="283">
                  <c:v>27.16049382716048</c:v>
                </c:pt>
                <c:pt idx="284">
                  <c:v>27.16049382716048</c:v>
                </c:pt>
                <c:pt idx="285">
                  <c:v>27.16049382716048</c:v>
                </c:pt>
                <c:pt idx="286">
                  <c:v>27.16049382716048</c:v>
                </c:pt>
                <c:pt idx="287">
                  <c:v>27.98353909465019</c:v>
                </c:pt>
                <c:pt idx="288">
                  <c:v>28.39506172839503</c:v>
                </c:pt>
                <c:pt idx="289">
                  <c:v>28.39506172839503</c:v>
                </c:pt>
                <c:pt idx="290">
                  <c:v>27.98353909465017</c:v>
                </c:pt>
                <c:pt idx="291">
                  <c:v>27.572016460905324</c:v>
                </c:pt>
                <c:pt idx="292">
                  <c:v>27.572016460905324</c:v>
                </c:pt>
                <c:pt idx="293">
                  <c:v>27.98353909465017</c:v>
                </c:pt>
                <c:pt idx="294">
                  <c:v>28.39506172839501</c:v>
                </c:pt>
                <c:pt idx="295">
                  <c:v>28.39506172839501</c:v>
                </c:pt>
                <c:pt idx="296">
                  <c:v>28.806584362139876</c:v>
                </c:pt>
                <c:pt idx="297">
                  <c:v>28.39506172839501</c:v>
                </c:pt>
                <c:pt idx="298">
                  <c:v>28.39506172839501</c:v>
                </c:pt>
                <c:pt idx="299">
                  <c:v>27.983539094650144</c:v>
                </c:pt>
                <c:pt idx="300">
                  <c:v>27.160493827160437</c:v>
                </c:pt>
                <c:pt idx="301">
                  <c:v>27.572016460905303</c:v>
                </c:pt>
                <c:pt idx="302">
                  <c:v>27.983539094650144</c:v>
                </c:pt>
                <c:pt idx="303">
                  <c:v>26.74897119341557</c:v>
                </c:pt>
                <c:pt idx="304">
                  <c:v>26.74897119341557</c:v>
                </c:pt>
                <c:pt idx="305">
                  <c:v>27.57201646090528</c:v>
                </c:pt>
                <c:pt idx="306">
                  <c:v>27.57201646090528</c:v>
                </c:pt>
                <c:pt idx="307">
                  <c:v>27.160493827160437</c:v>
                </c:pt>
                <c:pt idx="308">
                  <c:v>27.983539094650144</c:v>
                </c:pt>
                <c:pt idx="309">
                  <c:v>28.39506172839499</c:v>
                </c:pt>
                <c:pt idx="310">
                  <c:v>29.218106995884696</c:v>
                </c:pt>
                <c:pt idx="311">
                  <c:v>28.80658436213983</c:v>
                </c:pt>
                <c:pt idx="312">
                  <c:v>28.80658436213983</c:v>
                </c:pt>
                <c:pt idx="313">
                  <c:v>28.80658436213983</c:v>
                </c:pt>
                <c:pt idx="314">
                  <c:v>29.629629629629562</c:v>
                </c:pt>
                <c:pt idx="315">
                  <c:v>29.629629629629562</c:v>
                </c:pt>
                <c:pt idx="316">
                  <c:v>28.80658436213985</c:v>
                </c:pt>
                <c:pt idx="317">
                  <c:v>28.80658436213985</c:v>
                </c:pt>
                <c:pt idx="318">
                  <c:v>28.80658436213985</c:v>
                </c:pt>
              </c:numCache>
            </c:numRef>
          </c:val>
          <c:smooth val="0"/>
        </c:ser>
        <c:ser>
          <c:idx val="2"/>
          <c:order val="2"/>
          <c:tx>
            <c:strRef>
              <c:f>Sheet1!$D$1</c:f>
              <c:strCache>
                <c:ptCount val="1"/>
                <c:pt idx="0">
                  <c:v>Inflación acumulado</c:v>
                </c:pt>
              </c:strCache>
            </c:strRef>
          </c:tx>
          <c:spPr>
            <a:ln w="25400">
              <a:solidFill>
                <a:srgbClr val="8B0000"/>
              </a:solidFill>
            </a:ln>
          </c:spPr>
          <c:marker>
            <c:symbol val="none"/>
          </c:marker>
          <c:cat>
            <c:numRef>
              <c:f>Sheet1!$A$2:$A$320</c:f>
              <c:numCache>
                <c:formatCode>yyyy\-mm\-dd</c:formatCode>
                <c:ptCount val="319"/>
                <c:pt idx="0">
                  <c:v>45839.0</c:v>
                </c:pt>
                <c:pt idx="1">
                  <c:v>45840.0</c:v>
                </c:pt>
                <c:pt idx="2">
                  <c:v>45841.0</c:v>
                </c:pt>
                <c:pt idx="3">
                  <c:v>45842.0</c:v>
                </c:pt>
                <c:pt idx="4">
                  <c:v>45845.0</c:v>
                </c:pt>
                <c:pt idx="5">
                  <c:v>45846.0</c:v>
                </c:pt>
                <c:pt idx="6">
                  <c:v>45848.0</c:v>
                </c:pt>
                <c:pt idx="7">
                  <c:v>45849.0</c:v>
                </c:pt>
                <c:pt idx="8">
                  <c:v>45852.0</c:v>
                </c:pt>
                <c:pt idx="9">
                  <c:v>45853.0</c:v>
                </c:pt>
                <c:pt idx="10">
                  <c:v>45854.0</c:v>
                </c:pt>
                <c:pt idx="11">
                  <c:v>45855.0</c:v>
                </c:pt>
                <c:pt idx="12">
                  <c:v>45856.0</c:v>
                </c:pt>
                <c:pt idx="13">
                  <c:v>45859.0</c:v>
                </c:pt>
                <c:pt idx="14">
                  <c:v>45860.0</c:v>
                </c:pt>
                <c:pt idx="15">
                  <c:v>45861.0</c:v>
                </c:pt>
                <c:pt idx="16">
                  <c:v>45862.0</c:v>
                </c:pt>
                <c:pt idx="17">
                  <c:v>45863.0</c:v>
                </c:pt>
                <c:pt idx="18">
                  <c:v>45866.0</c:v>
                </c:pt>
                <c:pt idx="19">
                  <c:v>45867.0</c:v>
                </c:pt>
                <c:pt idx="20">
                  <c:v>45868.0</c:v>
                </c:pt>
                <c:pt idx="21">
                  <c:v>45869.0</c:v>
                </c:pt>
                <c:pt idx="22">
                  <c:v>45870.0</c:v>
                </c:pt>
                <c:pt idx="23">
                  <c:v>45873.0</c:v>
                </c:pt>
                <c:pt idx="24">
                  <c:v>45874.0</c:v>
                </c:pt>
                <c:pt idx="25">
                  <c:v>45875.0</c:v>
                </c:pt>
                <c:pt idx="26">
                  <c:v>45876.0</c:v>
                </c:pt>
                <c:pt idx="27">
                  <c:v>45877.0</c:v>
                </c:pt>
                <c:pt idx="28">
                  <c:v>45880.0</c:v>
                </c:pt>
                <c:pt idx="29">
                  <c:v>45881.0</c:v>
                </c:pt>
                <c:pt idx="30">
                  <c:v>45882.0</c:v>
                </c:pt>
                <c:pt idx="31">
                  <c:v>45883.0</c:v>
                </c:pt>
                <c:pt idx="32">
                  <c:v>45884.0</c:v>
                </c:pt>
                <c:pt idx="33">
                  <c:v>45887.0</c:v>
                </c:pt>
                <c:pt idx="34">
                  <c:v>45888.0</c:v>
                </c:pt>
                <c:pt idx="35">
                  <c:v>45889.0</c:v>
                </c:pt>
                <c:pt idx="36">
                  <c:v>45890.0</c:v>
                </c:pt>
                <c:pt idx="37">
                  <c:v>45891.0</c:v>
                </c:pt>
                <c:pt idx="38">
                  <c:v>45894.0</c:v>
                </c:pt>
                <c:pt idx="39">
                  <c:v>45895.0</c:v>
                </c:pt>
                <c:pt idx="40">
                  <c:v>45896.0</c:v>
                </c:pt>
                <c:pt idx="41">
                  <c:v>45900.0</c:v>
                </c:pt>
                <c:pt idx="42">
                  <c:v>45901.0</c:v>
                </c:pt>
                <c:pt idx="43">
                  <c:v>45903.0</c:v>
                </c:pt>
                <c:pt idx="44">
                  <c:v>45904.0</c:v>
                </c:pt>
                <c:pt idx="45">
                  <c:v>45908.0</c:v>
                </c:pt>
                <c:pt idx="46">
                  <c:v>45910.0</c:v>
                </c:pt>
                <c:pt idx="47">
                  <c:v>45912.0</c:v>
                </c:pt>
                <c:pt idx="48">
                  <c:v>45915.0</c:v>
                </c:pt>
                <c:pt idx="49">
                  <c:v>45916.0</c:v>
                </c:pt>
                <c:pt idx="50">
                  <c:v>45917.0</c:v>
                </c:pt>
                <c:pt idx="51">
                  <c:v>45918.0</c:v>
                </c:pt>
                <c:pt idx="52">
                  <c:v>45919.0</c:v>
                </c:pt>
                <c:pt idx="53">
                  <c:v>45922.0</c:v>
                </c:pt>
                <c:pt idx="54">
                  <c:v>45923.0</c:v>
                </c:pt>
                <c:pt idx="55">
                  <c:v>45924.0</c:v>
                </c:pt>
                <c:pt idx="56">
                  <c:v>45925.0</c:v>
                </c:pt>
                <c:pt idx="57">
                  <c:v>45926.0</c:v>
                </c:pt>
                <c:pt idx="58">
                  <c:v>45929.0</c:v>
                </c:pt>
                <c:pt idx="59">
                  <c:v>45930.0</c:v>
                </c:pt>
                <c:pt idx="60">
                  <c:v>45931.0</c:v>
                </c:pt>
                <c:pt idx="61">
                  <c:v>45932.0</c:v>
                </c:pt>
                <c:pt idx="62">
                  <c:v>45933.0</c:v>
                </c:pt>
                <c:pt idx="63">
                  <c:v>45936.0</c:v>
                </c:pt>
                <c:pt idx="64">
                  <c:v>45937.0</c:v>
                </c:pt>
                <c:pt idx="65">
                  <c:v>45938.0</c:v>
                </c:pt>
                <c:pt idx="66">
                  <c:v>45939.0</c:v>
                </c:pt>
                <c:pt idx="67">
                  <c:v>45943.0</c:v>
                </c:pt>
                <c:pt idx="68">
                  <c:v>45944.0</c:v>
                </c:pt>
                <c:pt idx="69">
                  <c:v>45945.0</c:v>
                </c:pt>
                <c:pt idx="70">
                  <c:v>45946.0</c:v>
                </c:pt>
                <c:pt idx="71">
                  <c:v>45947.0</c:v>
                </c:pt>
                <c:pt idx="72">
                  <c:v>45950.0</c:v>
                </c:pt>
                <c:pt idx="73">
                  <c:v>45951.0</c:v>
                </c:pt>
                <c:pt idx="74">
                  <c:v>45952.0</c:v>
                </c:pt>
                <c:pt idx="75">
                  <c:v>45953.0</c:v>
                </c:pt>
                <c:pt idx="76">
                  <c:v>45954.0</c:v>
                </c:pt>
                <c:pt idx="77">
                  <c:v>45957.0</c:v>
                </c:pt>
                <c:pt idx="78">
                  <c:v>45958.0</c:v>
                </c:pt>
                <c:pt idx="79">
                  <c:v>45959.0</c:v>
                </c:pt>
                <c:pt idx="80">
                  <c:v>45960.0</c:v>
                </c:pt>
                <c:pt idx="81">
                  <c:v>45961.0</c:v>
                </c:pt>
                <c:pt idx="82">
                  <c:v>45964.0</c:v>
                </c:pt>
                <c:pt idx="83">
                  <c:v>45965.0</c:v>
                </c:pt>
                <c:pt idx="84">
                  <c:v>45966.0</c:v>
                </c:pt>
                <c:pt idx="85">
                  <c:v>45967.0</c:v>
                </c:pt>
                <c:pt idx="86">
                  <c:v>45968.0</c:v>
                </c:pt>
                <c:pt idx="87">
                  <c:v>45971.0</c:v>
                </c:pt>
                <c:pt idx="88">
                  <c:v>45972.0</c:v>
                </c:pt>
                <c:pt idx="89">
                  <c:v>45973.0</c:v>
                </c:pt>
                <c:pt idx="90">
                  <c:v>45978.0</c:v>
                </c:pt>
                <c:pt idx="91">
                  <c:v>45979.0</c:v>
                </c:pt>
                <c:pt idx="92">
                  <c:v>45980.0</c:v>
                </c:pt>
                <c:pt idx="93">
                  <c:v>45981.0</c:v>
                </c:pt>
                <c:pt idx="94">
                  <c:v>45986.0</c:v>
                </c:pt>
                <c:pt idx="95">
                  <c:v>45987.0</c:v>
                </c:pt>
                <c:pt idx="96">
                  <c:v>45988.0</c:v>
                </c:pt>
                <c:pt idx="97">
                  <c:v>45989.0</c:v>
                </c:pt>
                <c:pt idx="98">
                  <c:v>45991.0</c:v>
                </c:pt>
                <c:pt idx="99">
                  <c:v>45992.0</c:v>
                </c:pt>
                <c:pt idx="100">
                  <c:v>45993.0</c:v>
                </c:pt>
                <c:pt idx="101">
                  <c:v>45994.0</c:v>
                </c:pt>
                <c:pt idx="102">
                  <c:v>45995.0</c:v>
                </c:pt>
                <c:pt idx="103">
                  <c:v>45996.0</c:v>
                </c:pt>
                <c:pt idx="104">
                  <c:v>46000.0</c:v>
                </c:pt>
                <c:pt idx="105">
                  <c:v>46001.0</c:v>
                </c:pt>
                <c:pt idx="106">
                  <c:v>46002.0</c:v>
                </c:pt>
                <c:pt idx="107">
                  <c:v>46003.0</c:v>
                </c:pt>
                <c:pt idx="108">
                  <c:v>46006.0</c:v>
                </c:pt>
                <c:pt idx="109">
                  <c:v>46007.0</c:v>
                </c:pt>
                <c:pt idx="110">
                  <c:v>46009.0</c:v>
                </c:pt>
                <c:pt idx="111">
                  <c:v>46010.0</c:v>
                </c:pt>
                <c:pt idx="112">
                  <c:v>46013.0</c:v>
                </c:pt>
                <c:pt idx="113">
                  <c:v>46014.0</c:v>
                </c:pt>
                <c:pt idx="114">
                  <c:v>46017.0</c:v>
                </c:pt>
                <c:pt idx="115">
                  <c:v>46020.0</c:v>
                </c:pt>
                <c:pt idx="116">
                  <c:v>46021.0</c:v>
                </c:pt>
                <c:pt idx="117">
                  <c:v>46022.0</c:v>
                </c:pt>
                <c:pt idx="118">
                  <c:v>46024.0</c:v>
                </c:pt>
                <c:pt idx="119">
                  <c:v>46027.0</c:v>
                </c:pt>
                <c:pt idx="120">
                  <c:v>46028.0</c:v>
                </c:pt>
                <c:pt idx="121">
                  <c:v>46029.0</c:v>
                </c:pt>
                <c:pt idx="122">
                  <c:v>46030.0</c:v>
                </c:pt>
                <c:pt idx="123">
                  <c:v>46031.0</c:v>
                </c:pt>
                <c:pt idx="124">
                  <c:v>46034.0</c:v>
                </c:pt>
                <c:pt idx="125">
                  <c:v>46035.0</c:v>
                </c:pt>
                <c:pt idx="126">
                  <c:v>46036.0</c:v>
                </c:pt>
                <c:pt idx="127">
                  <c:v>46037.0</c:v>
                </c:pt>
                <c:pt idx="128">
                  <c:v>46038.0</c:v>
                </c:pt>
                <c:pt idx="129">
                  <c:v>46041.0</c:v>
                </c:pt>
                <c:pt idx="130">
                  <c:v>46042.0</c:v>
                </c:pt>
                <c:pt idx="131">
                  <c:v>46043.0</c:v>
                </c:pt>
                <c:pt idx="132">
                  <c:v>46044.0</c:v>
                </c:pt>
                <c:pt idx="133">
                  <c:v>46045.0</c:v>
                </c:pt>
                <c:pt idx="134">
                  <c:v>46048.0</c:v>
                </c:pt>
                <c:pt idx="135">
                  <c:v>46050.0</c:v>
                </c:pt>
                <c:pt idx="136">
                  <c:v>46051.0</c:v>
                </c:pt>
                <c:pt idx="137">
                  <c:v>46052.0</c:v>
                </c:pt>
                <c:pt idx="138">
                  <c:v>46053.0</c:v>
                </c:pt>
                <c:pt idx="139">
                  <c:v>46055.0</c:v>
                </c:pt>
                <c:pt idx="140">
                  <c:v>46056.0</c:v>
                </c:pt>
                <c:pt idx="141">
                  <c:v>46057.0</c:v>
                </c:pt>
                <c:pt idx="142">
                  <c:v>46058.0</c:v>
                </c:pt>
                <c:pt idx="143">
                  <c:v>46059.0</c:v>
                </c:pt>
                <c:pt idx="144">
                  <c:v>46062.0</c:v>
                </c:pt>
                <c:pt idx="145">
                  <c:v>46063.0</c:v>
                </c:pt>
                <c:pt idx="146">
                  <c:v>46064.0</c:v>
                </c:pt>
                <c:pt idx="147">
                  <c:v>46065.0</c:v>
                </c:pt>
                <c:pt idx="148">
                  <c:v>46066.0</c:v>
                </c:pt>
                <c:pt idx="149">
                  <c:v>46071.0</c:v>
                </c:pt>
                <c:pt idx="150">
                  <c:v>46072.0</c:v>
                </c:pt>
                <c:pt idx="151">
                  <c:v>46073.0</c:v>
                </c:pt>
                <c:pt idx="152">
                  <c:v>46076.0</c:v>
                </c:pt>
                <c:pt idx="153">
                  <c:v>46077.0</c:v>
                </c:pt>
                <c:pt idx="154">
                  <c:v>46078.0</c:v>
                </c:pt>
                <c:pt idx="155">
                  <c:v>46079.0</c:v>
                </c:pt>
                <c:pt idx="156">
                  <c:v>46080.0</c:v>
                </c:pt>
                <c:pt idx="157">
                  <c:v>46081.0</c:v>
                </c:pt>
                <c:pt idx="158">
                  <c:v>46083.0</c:v>
                </c:pt>
                <c:pt idx="159">
                  <c:v>46084.0</c:v>
                </c:pt>
                <c:pt idx="160">
                  <c:v>46085.0</c:v>
                </c:pt>
                <c:pt idx="161">
                  <c:v>46086.0</c:v>
                </c:pt>
                <c:pt idx="162">
                  <c:v>46087.0</c:v>
                </c:pt>
                <c:pt idx="163">
                  <c:v>46090.0</c:v>
                </c:pt>
                <c:pt idx="164">
                  <c:v>46091.0</c:v>
                </c:pt>
                <c:pt idx="165">
                  <c:v>46092.0</c:v>
                </c:pt>
                <c:pt idx="166">
                  <c:v>46093.0</c:v>
                </c:pt>
                <c:pt idx="167">
                  <c:v>46094.0</c:v>
                </c:pt>
                <c:pt idx="168">
                  <c:v>46097.0</c:v>
                </c:pt>
                <c:pt idx="169">
                  <c:v>46098.0</c:v>
                </c:pt>
                <c:pt idx="170">
                  <c:v>46099.0</c:v>
                </c:pt>
                <c:pt idx="171">
                  <c:v>46100.0</c:v>
                </c:pt>
                <c:pt idx="172">
                  <c:v>46101.0</c:v>
                </c:pt>
                <c:pt idx="173">
                  <c:v>46106.0</c:v>
                </c:pt>
                <c:pt idx="174">
                  <c:v>46107.0</c:v>
                </c:pt>
                <c:pt idx="175">
                  <c:v>46111.0</c:v>
                </c:pt>
                <c:pt idx="176">
                  <c:v>46112.0</c:v>
                </c:pt>
                <c:pt idx="177">
                  <c:v>46113.0</c:v>
                </c:pt>
                <c:pt idx="178">
                  <c:v>46118.0</c:v>
                </c:pt>
                <c:pt idx="179">
                  <c:v>46119.0</c:v>
                </c:pt>
                <c:pt idx="180">
                  <c:v>46120.0</c:v>
                </c:pt>
                <c:pt idx="181">
                  <c:v>46121.0</c:v>
                </c:pt>
                <c:pt idx="182">
                  <c:v>46122.0</c:v>
                </c:pt>
                <c:pt idx="183">
                  <c:v>46125.0</c:v>
                </c:pt>
                <c:pt idx="184">
                  <c:v>46126.0</c:v>
                </c:pt>
                <c:pt idx="185">
                  <c:v>46127.0</c:v>
                </c:pt>
                <c:pt idx="186">
                  <c:v>46128.0</c:v>
                </c:pt>
                <c:pt idx="187">
                  <c:v>46129.0</c:v>
                </c:pt>
                <c:pt idx="188">
                  <c:v>46132.0</c:v>
                </c:pt>
                <c:pt idx="189">
                  <c:v>46133.0</c:v>
                </c:pt>
                <c:pt idx="190">
                  <c:v>46134.0</c:v>
                </c:pt>
                <c:pt idx="191">
                  <c:v>46135.0</c:v>
                </c:pt>
                <c:pt idx="192">
                  <c:v>46136.0</c:v>
                </c:pt>
                <c:pt idx="193">
                  <c:v>46139.0</c:v>
                </c:pt>
                <c:pt idx="194">
                  <c:v>46140.0</c:v>
                </c:pt>
                <c:pt idx="195">
                  <c:v>46141.0</c:v>
                </c:pt>
                <c:pt idx="196">
                  <c:v>46142.0</c:v>
                </c:pt>
                <c:pt idx="197">
                  <c:v>46146.0</c:v>
                </c:pt>
                <c:pt idx="198">
                  <c:v>46147.0</c:v>
                </c:pt>
                <c:pt idx="199">
                  <c:v>46148.0</c:v>
                </c:pt>
                <c:pt idx="200">
                  <c:v>46149.0</c:v>
                </c:pt>
                <c:pt idx="201">
                  <c:v>46150.0</c:v>
                </c:pt>
                <c:pt idx="202">
                  <c:v>46153.0</c:v>
                </c:pt>
                <c:pt idx="203">
                  <c:v>46154.0</c:v>
                </c:pt>
                <c:pt idx="204">
                  <c:v>46155.0</c:v>
                </c:pt>
                <c:pt idx="205">
                  <c:v>46156.0</c:v>
                </c:pt>
                <c:pt idx="206">
                  <c:v>46157.0</c:v>
                </c:pt>
                <c:pt idx="207">
                  <c:v>46160.0</c:v>
                </c:pt>
                <c:pt idx="208">
                  <c:v>46161.0</c:v>
                </c:pt>
                <c:pt idx="209">
                  <c:v>46162.0</c:v>
                </c:pt>
                <c:pt idx="210">
                  <c:v>46163.0</c:v>
                </c:pt>
                <c:pt idx="211">
                  <c:v>46164.0</c:v>
                </c:pt>
                <c:pt idx="212">
                  <c:v>46168.0</c:v>
                </c:pt>
                <c:pt idx="213">
                  <c:v>46169.0</c:v>
                </c:pt>
                <c:pt idx="214">
                  <c:v>46170.0</c:v>
                </c:pt>
                <c:pt idx="215">
                  <c:v>46171.0</c:v>
                </c:pt>
                <c:pt idx="216">
                  <c:v>46173.0</c:v>
                </c:pt>
                <c:pt idx="217">
                  <c:v>46174.0</c:v>
                </c:pt>
                <c:pt idx="218">
                  <c:v>46175.0</c:v>
                </c:pt>
                <c:pt idx="219">
                  <c:v>46176.0</c:v>
                </c:pt>
                <c:pt idx="220">
                  <c:v>46177.0</c:v>
                </c:pt>
                <c:pt idx="221">
                  <c:v>46178.0</c:v>
                </c:pt>
                <c:pt idx="222">
                  <c:v>46181.0</c:v>
                </c:pt>
                <c:pt idx="223">
                  <c:v>46182.0</c:v>
                </c:pt>
                <c:pt idx="224">
                  <c:v>46183.0</c:v>
                </c:pt>
                <c:pt idx="225">
                  <c:v>46184.0</c:v>
                </c:pt>
                <c:pt idx="226">
                  <c:v>46185.0</c:v>
                </c:pt>
                <c:pt idx="227">
                  <c:v>46189.0</c:v>
                </c:pt>
                <c:pt idx="228">
                  <c:v>46190.0</c:v>
                </c:pt>
                <c:pt idx="229">
                  <c:v>46191.0</c:v>
                </c:pt>
                <c:pt idx="230">
                  <c:v>46192.0</c:v>
                </c:pt>
                <c:pt idx="231">
                  <c:v>46195.0</c:v>
                </c:pt>
                <c:pt idx="232">
                  <c:v>46196.0</c:v>
                </c:pt>
                <c:pt idx="233">
                  <c:v>46197.0</c:v>
                </c:pt>
                <c:pt idx="234">
                  <c:v>46198.0</c:v>
                </c:pt>
                <c:pt idx="235">
                  <c:v>46199.0</c:v>
                </c:pt>
                <c:pt idx="236">
                  <c:v>46202.0</c:v>
                </c:pt>
                <c:pt idx="237">
                  <c:v>46203.0</c:v>
                </c:pt>
                <c:pt idx="238">
                  <c:v>46204.0</c:v>
                </c:pt>
                <c:pt idx="239">
                  <c:v>46205.0</c:v>
                </c:pt>
                <c:pt idx="240">
                  <c:v>46206.0</c:v>
                </c:pt>
                <c:pt idx="241">
                  <c:v>46209.0</c:v>
                </c:pt>
                <c:pt idx="242">
                  <c:v>46210.0</c:v>
                </c:pt>
                <c:pt idx="243">
                  <c:v>46211.0</c:v>
                </c:pt>
                <c:pt idx="244">
                  <c:v>46216.0</c:v>
                </c:pt>
                <c:pt idx="245">
                  <c:v>46217.0</c:v>
                </c:pt>
                <c:pt idx="246">
                  <c:v>46218.0</c:v>
                </c:pt>
                <c:pt idx="247">
                  <c:v>46219.0</c:v>
                </c:pt>
                <c:pt idx="248">
                  <c:v>46220.0</c:v>
                </c:pt>
                <c:pt idx="249">
                  <c:v>46223.0</c:v>
                </c:pt>
                <c:pt idx="250">
                  <c:v>46224.0</c:v>
                </c:pt>
                <c:pt idx="251">
                  <c:v>46225.0</c:v>
                </c:pt>
                <c:pt idx="252">
                  <c:v>46226.0</c:v>
                </c:pt>
                <c:pt idx="253">
                  <c:v>46227.0</c:v>
                </c:pt>
                <c:pt idx="254">
                  <c:v>46230.0</c:v>
                </c:pt>
                <c:pt idx="255">
                  <c:v>46231.0</c:v>
                </c:pt>
                <c:pt idx="256">
                  <c:v>46232.0</c:v>
                </c:pt>
                <c:pt idx="257">
                  <c:v>46233.0</c:v>
                </c:pt>
                <c:pt idx="258">
                  <c:v>46234.0</c:v>
                </c:pt>
                <c:pt idx="259">
                  <c:v>46237.0</c:v>
                </c:pt>
                <c:pt idx="260">
                  <c:v>46238.0</c:v>
                </c:pt>
                <c:pt idx="261">
                  <c:v>46239.0</c:v>
                </c:pt>
                <c:pt idx="262">
                  <c:v>46240.0</c:v>
                </c:pt>
                <c:pt idx="263">
                  <c:v>46241.0</c:v>
                </c:pt>
                <c:pt idx="264">
                  <c:v>46244.0</c:v>
                </c:pt>
                <c:pt idx="265">
                  <c:v>46245.0</c:v>
                </c:pt>
                <c:pt idx="266">
                  <c:v>46246.0</c:v>
                </c:pt>
                <c:pt idx="267">
                  <c:v>46247.0</c:v>
                </c:pt>
                <c:pt idx="268">
                  <c:v>46248.0</c:v>
                </c:pt>
                <c:pt idx="269">
                  <c:v>46252.0</c:v>
                </c:pt>
                <c:pt idx="270">
                  <c:v>46254.0</c:v>
                </c:pt>
                <c:pt idx="271">
                  <c:v>46255.0</c:v>
                </c:pt>
                <c:pt idx="272">
                  <c:v>46258.0</c:v>
                </c:pt>
                <c:pt idx="273">
                  <c:v>46259.0</c:v>
                </c:pt>
                <c:pt idx="274">
                  <c:v>46260.0</c:v>
                </c:pt>
                <c:pt idx="275">
                  <c:v>46261.0</c:v>
                </c:pt>
                <c:pt idx="276">
                  <c:v>46262.0</c:v>
                </c:pt>
                <c:pt idx="277">
                  <c:v>46265.0</c:v>
                </c:pt>
                <c:pt idx="278">
                  <c:v>46266.0</c:v>
                </c:pt>
                <c:pt idx="279">
                  <c:v>46267.0</c:v>
                </c:pt>
                <c:pt idx="280">
                  <c:v>46268.0</c:v>
                </c:pt>
                <c:pt idx="281">
                  <c:v>46269.0</c:v>
                </c:pt>
                <c:pt idx="282">
                  <c:v>46272.0</c:v>
                </c:pt>
                <c:pt idx="283">
                  <c:v>46273.0</c:v>
                </c:pt>
                <c:pt idx="284">
                  <c:v>46274.0</c:v>
                </c:pt>
                <c:pt idx="285">
                  <c:v>46275.0</c:v>
                </c:pt>
                <c:pt idx="286">
                  <c:v>46276.0</c:v>
                </c:pt>
                <c:pt idx="287">
                  <c:v>46279.0</c:v>
                </c:pt>
                <c:pt idx="288">
                  <c:v>46280.0</c:v>
                </c:pt>
                <c:pt idx="289">
                  <c:v>46281.0</c:v>
                </c:pt>
                <c:pt idx="290">
                  <c:v>46282.0</c:v>
                </c:pt>
                <c:pt idx="291">
                  <c:v>46283.0</c:v>
                </c:pt>
                <c:pt idx="292">
                  <c:v>46286.0</c:v>
                </c:pt>
                <c:pt idx="293">
                  <c:v>46287.0</c:v>
                </c:pt>
                <c:pt idx="294">
                  <c:v>46288.0</c:v>
                </c:pt>
                <c:pt idx="295">
                  <c:v>46290.0</c:v>
                </c:pt>
                <c:pt idx="296">
                  <c:v>46293.0</c:v>
                </c:pt>
                <c:pt idx="297">
                  <c:v>46294.0</c:v>
                </c:pt>
                <c:pt idx="298">
                  <c:v>46295.0</c:v>
                </c:pt>
                <c:pt idx="299">
                  <c:v>46296.0</c:v>
                </c:pt>
                <c:pt idx="300">
                  <c:v>46300.0</c:v>
                </c:pt>
                <c:pt idx="301">
                  <c:v>46301.0</c:v>
                </c:pt>
                <c:pt idx="302">
                  <c:v>46302.0</c:v>
                </c:pt>
                <c:pt idx="303">
                  <c:v>46303.0</c:v>
                </c:pt>
                <c:pt idx="304">
                  <c:v>46304.0</c:v>
                </c:pt>
                <c:pt idx="305">
                  <c:v>46308.0</c:v>
                </c:pt>
                <c:pt idx="306">
                  <c:v>46309.0</c:v>
                </c:pt>
                <c:pt idx="307">
                  <c:v>46310.0</c:v>
                </c:pt>
                <c:pt idx="308">
                  <c:v>46311.0</c:v>
                </c:pt>
                <c:pt idx="309">
                  <c:v>46314.0</c:v>
                </c:pt>
                <c:pt idx="310">
                  <c:v>46315.0</c:v>
                </c:pt>
                <c:pt idx="311">
                  <c:v>46316.0</c:v>
                </c:pt>
                <c:pt idx="312">
                  <c:v>46317.0</c:v>
                </c:pt>
                <c:pt idx="313">
                  <c:v>46318.0</c:v>
                </c:pt>
                <c:pt idx="314">
                  <c:v>46321.0</c:v>
                </c:pt>
                <c:pt idx="315">
                  <c:v>46322.0</c:v>
                </c:pt>
                <c:pt idx="316">
                  <c:v>46323.0</c:v>
                </c:pt>
                <c:pt idx="317">
                  <c:v>46324.0</c:v>
                </c:pt>
                <c:pt idx="318">
                  <c:v>46325.0</c:v>
                </c:pt>
              </c:numCache>
            </c:numRef>
          </c:cat>
          <c:val>
            <c:numRef>
              <c:f>Sheet1!$D$2:$D$320</c:f>
              <c:numCache>
                <c:formatCode>0"%"</c:formatCode>
                <c:ptCount val="319"/>
                <c:pt idx="21">
                  <c:v>1.8999999999999906</c:v>
                </c:pt>
                <c:pt idx="22">
                  <c:v>1.8999999999999906</c:v>
                </c:pt>
                <c:pt idx="23">
                  <c:v>1.8999999999999906</c:v>
                </c:pt>
                <c:pt idx="24">
                  <c:v>1.8999999999999906</c:v>
                </c:pt>
                <c:pt idx="25">
                  <c:v>1.8999999999999906</c:v>
                </c:pt>
                <c:pt idx="26">
                  <c:v>1.8999999999999906</c:v>
                </c:pt>
                <c:pt idx="27">
                  <c:v>1.8999999999999906</c:v>
                </c:pt>
                <c:pt idx="28">
                  <c:v>1.8999999999999906</c:v>
                </c:pt>
                <c:pt idx="29">
                  <c:v>1.8999999999999906</c:v>
                </c:pt>
                <c:pt idx="30">
                  <c:v>1.8999999999999906</c:v>
                </c:pt>
                <c:pt idx="31">
                  <c:v>1.8999999999999906</c:v>
                </c:pt>
                <c:pt idx="32">
                  <c:v>1.8999999999999906</c:v>
                </c:pt>
                <c:pt idx="33">
                  <c:v>1.8999999999999906</c:v>
                </c:pt>
                <c:pt idx="34">
                  <c:v>1.8999999999999906</c:v>
                </c:pt>
                <c:pt idx="35">
                  <c:v>1.8999999999999906</c:v>
                </c:pt>
                <c:pt idx="36">
                  <c:v>1.8999999999999906</c:v>
                </c:pt>
                <c:pt idx="37">
                  <c:v>1.8999999999999906</c:v>
                </c:pt>
                <c:pt idx="38">
                  <c:v>1.8999999999999906</c:v>
                </c:pt>
                <c:pt idx="39">
                  <c:v>1.8999999999999906</c:v>
                </c:pt>
                <c:pt idx="40">
                  <c:v>1.8999999999999906</c:v>
                </c:pt>
                <c:pt idx="41">
                  <c:v>3.8360999999999867</c:v>
                </c:pt>
                <c:pt idx="42">
                  <c:v>3.8360999999999867</c:v>
                </c:pt>
                <c:pt idx="43">
                  <c:v>3.8360999999999867</c:v>
                </c:pt>
                <c:pt idx="44">
                  <c:v>3.8360999999999867</c:v>
                </c:pt>
                <c:pt idx="45">
                  <c:v>3.8360999999999867</c:v>
                </c:pt>
                <c:pt idx="46">
                  <c:v>3.8360999999999867</c:v>
                </c:pt>
                <c:pt idx="47">
                  <c:v>3.8360999999999867</c:v>
                </c:pt>
                <c:pt idx="48">
                  <c:v>3.8360999999999867</c:v>
                </c:pt>
                <c:pt idx="49">
                  <c:v>3.8360999999999867</c:v>
                </c:pt>
                <c:pt idx="50">
                  <c:v>3.8360999999999867</c:v>
                </c:pt>
                <c:pt idx="51">
                  <c:v>3.8360999999999867</c:v>
                </c:pt>
                <c:pt idx="52">
                  <c:v>3.8360999999999867</c:v>
                </c:pt>
                <c:pt idx="53">
                  <c:v>3.8360999999999867</c:v>
                </c:pt>
                <c:pt idx="54">
                  <c:v>3.8360999999999867</c:v>
                </c:pt>
                <c:pt idx="55">
                  <c:v>3.8360999999999867</c:v>
                </c:pt>
                <c:pt idx="56">
                  <c:v>3.8360999999999867</c:v>
                </c:pt>
                <c:pt idx="57">
                  <c:v>3.8360999999999867</c:v>
                </c:pt>
                <c:pt idx="58">
                  <c:v>3.8360999999999867</c:v>
                </c:pt>
                <c:pt idx="59">
                  <c:v>6.016658099999983</c:v>
                </c:pt>
                <c:pt idx="60">
                  <c:v>6.016658099999983</c:v>
                </c:pt>
                <c:pt idx="61">
                  <c:v>6.016658099999983</c:v>
                </c:pt>
                <c:pt idx="62">
                  <c:v>6.016658099999983</c:v>
                </c:pt>
                <c:pt idx="63">
                  <c:v>6.016658099999983</c:v>
                </c:pt>
                <c:pt idx="64">
                  <c:v>6.016658099999983</c:v>
                </c:pt>
                <c:pt idx="65">
                  <c:v>6.016658099999983</c:v>
                </c:pt>
                <c:pt idx="66">
                  <c:v>6.016658099999983</c:v>
                </c:pt>
                <c:pt idx="67">
                  <c:v>6.016658099999983</c:v>
                </c:pt>
                <c:pt idx="68">
                  <c:v>6.016658099999983</c:v>
                </c:pt>
                <c:pt idx="69">
                  <c:v>6.016658099999983</c:v>
                </c:pt>
                <c:pt idx="70">
                  <c:v>6.016658099999983</c:v>
                </c:pt>
                <c:pt idx="71">
                  <c:v>6.016658099999983</c:v>
                </c:pt>
                <c:pt idx="72">
                  <c:v>6.016658099999983</c:v>
                </c:pt>
                <c:pt idx="73">
                  <c:v>6.016658099999983</c:v>
                </c:pt>
                <c:pt idx="74">
                  <c:v>6.016658099999983</c:v>
                </c:pt>
                <c:pt idx="75">
                  <c:v>6.016658099999983</c:v>
                </c:pt>
                <c:pt idx="76">
                  <c:v>6.016658099999983</c:v>
                </c:pt>
                <c:pt idx="77">
                  <c:v>6.016658099999983</c:v>
                </c:pt>
                <c:pt idx="78">
                  <c:v>6.016658099999983</c:v>
                </c:pt>
                <c:pt idx="79">
                  <c:v>6.016658099999983</c:v>
                </c:pt>
                <c:pt idx="80">
                  <c:v>6.016658099999983</c:v>
                </c:pt>
                <c:pt idx="81">
                  <c:v>8.455041236299966</c:v>
                </c:pt>
                <c:pt idx="82">
                  <c:v>8.455041236299966</c:v>
                </c:pt>
                <c:pt idx="83">
                  <c:v>8.455041236299966</c:v>
                </c:pt>
                <c:pt idx="84">
                  <c:v>8.455041236299966</c:v>
                </c:pt>
                <c:pt idx="85">
                  <c:v>8.455041236299966</c:v>
                </c:pt>
                <c:pt idx="86">
                  <c:v>8.455041236299966</c:v>
                </c:pt>
                <c:pt idx="87">
                  <c:v>8.455041236299966</c:v>
                </c:pt>
                <c:pt idx="88">
                  <c:v>8.455041236299966</c:v>
                </c:pt>
                <c:pt idx="89">
                  <c:v>8.455041236299966</c:v>
                </c:pt>
                <c:pt idx="90">
                  <c:v>8.455041236299966</c:v>
                </c:pt>
                <c:pt idx="91">
                  <c:v>8.455041236299966</c:v>
                </c:pt>
                <c:pt idx="92">
                  <c:v>8.455041236299966</c:v>
                </c:pt>
                <c:pt idx="93">
                  <c:v>8.455041236299966</c:v>
                </c:pt>
                <c:pt idx="94">
                  <c:v>8.455041236299966</c:v>
                </c:pt>
                <c:pt idx="95">
                  <c:v>8.455041236299966</c:v>
                </c:pt>
                <c:pt idx="96">
                  <c:v>8.455041236299966</c:v>
                </c:pt>
                <c:pt idx="97">
                  <c:v>8.455041236299966</c:v>
                </c:pt>
                <c:pt idx="98">
                  <c:v>11.166417267207462</c:v>
                </c:pt>
                <c:pt idx="99">
                  <c:v>11.166417267207462</c:v>
                </c:pt>
                <c:pt idx="100">
                  <c:v>11.166417267207462</c:v>
                </c:pt>
                <c:pt idx="101">
                  <c:v>11.166417267207462</c:v>
                </c:pt>
                <c:pt idx="102">
                  <c:v>11.166417267207462</c:v>
                </c:pt>
                <c:pt idx="103">
                  <c:v>11.166417267207462</c:v>
                </c:pt>
                <c:pt idx="104">
                  <c:v>11.166417267207462</c:v>
                </c:pt>
                <c:pt idx="105">
                  <c:v>11.166417267207462</c:v>
                </c:pt>
                <c:pt idx="106">
                  <c:v>11.166417267207462</c:v>
                </c:pt>
                <c:pt idx="107">
                  <c:v>11.166417267207462</c:v>
                </c:pt>
                <c:pt idx="108">
                  <c:v>11.166417267207462</c:v>
                </c:pt>
                <c:pt idx="109">
                  <c:v>11.166417267207462</c:v>
                </c:pt>
                <c:pt idx="110">
                  <c:v>11.166417267207462</c:v>
                </c:pt>
                <c:pt idx="111">
                  <c:v>11.166417267207462</c:v>
                </c:pt>
                <c:pt idx="112">
                  <c:v>11.166417267207462</c:v>
                </c:pt>
                <c:pt idx="113">
                  <c:v>11.166417267207462</c:v>
                </c:pt>
                <c:pt idx="114">
                  <c:v>11.166417267207462</c:v>
                </c:pt>
                <c:pt idx="115">
                  <c:v>11.166417267207462</c:v>
                </c:pt>
                <c:pt idx="116">
                  <c:v>11.166417267207462</c:v>
                </c:pt>
                <c:pt idx="117">
                  <c:v>14.279076950689284</c:v>
                </c:pt>
                <c:pt idx="118">
                  <c:v>14.279076950689284</c:v>
                </c:pt>
                <c:pt idx="119">
                  <c:v>14.279076950689284</c:v>
                </c:pt>
                <c:pt idx="120">
                  <c:v>14.279076950689284</c:v>
                </c:pt>
                <c:pt idx="121">
                  <c:v>14.279076950689284</c:v>
                </c:pt>
                <c:pt idx="122">
                  <c:v>14.279076950689284</c:v>
                </c:pt>
                <c:pt idx="123">
                  <c:v>14.279076950689284</c:v>
                </c:pt>
                <c:pt idx="124">
                  <c:v>14.279076950689284</c:v>
                </c:pt>
                <c:pt idx="125">
                  <c:v>14.279076950689284</c:v>
                </c:pt>
                <c:pt idx="126">
                  <c:v>14.279076950689284</c:v>
                </c:pt>
                <c:pt idx="127">
                  <c:v>14.279076950689284</c:v>
                </c:pt>
                <c:pt idx="128">
                  <c:v>14.279076950689284</c:v>
                </c:pt>
                <c:pt idx="129">
                  <c:v>14.279076950689284</c:v>
                </c:pt>
                <c:pt idx="130">
                  <c:v>14.279076950689284</c:v>
                </c:pt>
                <c:pt idx="131">
                  <c:v>14.279076950689284</c:v>
                </c:pt>
                <c:pt idx="132">
                  <c:v>14.279076950689284</c:v>
                </c:pt>
                <c:pt idx="133">
                  <c:v>14.279076950689284</c:v>
                </c:pt>
                <c:pt idx="134">
                  <c:v>14.279076950689284</c:v>
                </c:pt>
                <c:pt idx="135">
                  <c:v>14.279076950689284</c:v>
                </c:pt>
                <c:pt idx="136">
                  <c:v>14.279076950689284</c:v>
                </c:pt>
                <c:pt idx="137">
                  <c:v>14.279076950689284</c:v>
                </c:pt>
                <c:pt idx="138">
                  <c:v>17.593170182259254</c:v>
                </c:pt>
                <c:pt idx="139">
                  <c:v>17.593170182259254</c:v>
                </c:pt>
                <c:pt idx="140">
                  <c:v>17.593170182259254</c:v>
                </c:pt>
                <c:pt idx="141">
                  <c:v>17.593170182259254</c:v>
                </c:pt>
                <c:pt idx="142">
                  <c:v>17.593170182259254</c:v>
                </c:pt>
                <c:pt idx="143">
                  <c:v>17.593170182259254</c:v>
                </c:pt>
                <c:pt idx="144">
                  <c:v>17.593170182259254</c:v>
                </c:pt>
                <c:pt idx="145">
                  <c:v>17.593170182259254</c:v>
                </c:pt>
                <c:pt idx="146">
                  <c:v>17.593170182259254</c:v>
                </c:pt>
                <c:pt idx="147">
                  <c:v>17.593170182259254</c:v>
                </c:pt>
                <c:pt idx="148">
                  <c:v>17.593170182259254</c:v>
                </c:pt>
                <c:pt idx="149">
                  <c:v>17.593170182259254</c:v>
                </c:pt>
                <c:pt idx="150">
                  <c:v>17.593170182259254</c:v>
                </c:pt>
                <c:pt idx="151">
                  <c:v>17.593170182259254</c:v>
                </c:pt>
                <c:pt idx="152">
                  <c:v>17.593170182259254</c:v>
                </c:pt>
                <c:pt idx="153">
                  <c:v>17.593170182259254</c:v>
                </c:pt>
                <c:pt idx="154">
                  <c:v>17.593170182259254</c:v>
                </c:pt>
                <c:pt idx="155">
                  <c:v>17.593170182259254</c:v>
                </c:pt>
                <c:pt idx="156">
                  <c:v>17.593170182259254</c:v>
                </c:pt>
                <c:pt idx="157">
                  <c:v>21.00337211754477</c:v>
                </c:pt>
                <c:pt idx="158">
                  <c:v>21.00337211754477</c:v>
                </c:pt>
                <c:pt idx="159">
                  <c:v>21.00337211754477</c:v>
                </c:pt>
                <c:pt idx="160">
                  <c:v>21.00337211754477</c:v>
                </c:pt>
                <c:pt idx="161">
                  <c:v>21.00337211754477</c:v>
                </c:pt>
                <c:pt idx="162">
                  <c:v>21.00337211754477</c:v>
                </c:pt>
                <c:pt idx="163">
                  <c:v>21.00337211754477</c:v>
                </c:pt>
                <c:pt idx="164">
                  <c:v>21.00337211754477</c:v>
                </c:pt>
                <c:pt idx="165">
                  <c:v>21.00337211754477</c:v>
                </c:pt>
                <c:pt idx="166">
                  <c:v>21.00337211754477</c:v>
                </c:pt>
                <c:pt idx="167">
                  <c:v>21.00337211754477</c:v>
                </c:pt>
                <c:pt idx="168">
                  <c:v>21.00337211754477</c:v>
                </c:pt>
                <c:pt idx="169">
                  <c:v>21.00337211754477</c:v>
                </c:pt>
                <c:pt idx="170">
                  <c:v>21.00337211754477</c:v>
                </c:pt>
                <c:pt idx="171">
                  <c:v>21.00337211754477</c:v>
                </c:pt>
                <c:pt idx="172">
                  <c:v>21.00337211754477</c:v>
                </c:pt>
                <c:pt idx="173">
                  <c:v>21.00337211754477</c:v>
                </c:pt>
                <c:pt idx="174">
                  <c:v>21.00337211754477</c:v>
                </c:pt>
                <c:pt idx="175">
                  <c:v>21.00337211754477</c:v>
                </c:pt>
                <c:pt idx="176">
                  <c:v>25.11748676954131</c:v>
                </c:pt>
                <c:pt idx="177">
                  <c:v>25.11748676954131</c:v>
                </c:pt>
                <c:pt idx="178">
                  <c:v>25.11748676954131</c:v>
                </c:pt>
                <c:pt idx="179">
                  <c:v>25.11748676954131</c:v>
                </c:pt>
                <c:pt idx="180">
                  <c:v>25.11748676954131</c:v>
                </c:pt>
                <c:pt idx="181">
                  <c:v>25.11748676954131</c:v>
                </c:pt>
                <c:pt idx="182">
                  <c:v>25.11748676954131</c:v>
                </c:pt>
                <c:pt idx="183">
                  <c:v>25.11748676954131</c:v>
                </c:pt>
                <c:pt idx="184">
                  <c:v>25.11748676954131</c:v>
                </c:pt>
                <c:pt idx="185">
                  <c:v>25.11748676954131</c:v>
                </c:pt>
                <c:pt idx="186">
                  <c:v>25.11748676954131</c:v>
                </c:pt>
                <c:pt idx="187">
                  <c:v>25.11748676954131</c:v>
                </c:pt>
                <c:pt idx="188">
                  <c:v>25.11748676954131</c:v>
                </c:pt>
                <c:pt idx="189">
                  <c:v>25.11748676954131</c:v>
                </c:pt>
                <c:pt idx="190">
                  <c:v>25.11748676954131</c:v>
                </c:pt>
                <c:pt idx="191">
                  <c:v>25.11748676954131</c:v>
                </c:pt>
                <c:pt idx="192">
                  <c:v>25.11748676954131</c:v>
                </c:pt>
                <c:pt idx="193">
                  <c:v>25.11748676954131</c:v>
                </c:pt>
                <c:pt idx="194">
                  <c:v>25.11748676954131</c:v>
                </c:pt>
                <c:pt idx="195">
                  <c:v>25.11748676954131</c:v>
                </c:pt>
                <c:pt idx="196">
                  <c:v>28.370541425549376</c:v>
                </c:pt>
                <c:pt idx="197">
                  <c:v>28.370541425549376</c:v>
                </c:pt>
                <c:pt idx="198">
                  <c:v>28.370541425549376</c:v>
                </c:pt>
                <c:pt idx="199">
                  <c:v>28.370541425549376</c:v>
                </c:pt>
                <c:pt idx="200">
                  <c:v>28.370541425549376</c:v>
                </c:pt>
                <c:pt idx="201">
                  <c:v>28.370541425549376</c:v>
                </c:pt>
                <c:pt idx="202">
                  <c:v>28.370541425549376</c:v>
                </c:pt>
                <c:pt idx="203">
                  <c:v>28.370541425549376</c:v>
                </c:pt>
                <c:pt idx="204">
                  <c:v>28.370541425549376</c:v>
                </c:pt>
                <c:pt idx="205">
                  <c:v>28.370541425549376</c:v>
                </c:pt>
                <c:pt idx="206">
                  <c:v>28.370541425549376</c:v>
                </c:pt>
                <c:pt idx="207">
                  <c:v>28.370541425549376</c:v>
                </c:pt>
                <c:pt idx="208">
                  <c:v>28.370541425549376</c:v>
                </c:pt>
                <c:pt idx="209">
                  <c:v>28.370541425549376</c:v>
                </c:pt>
                <c:pt idx="210">
                  <c:v>28.370541425549376</c:v>
                </c:pt>
                <c:pt idx="211">
                  <c:v>28.370541425549376</c:v>
                </c:pt>
                <c:pt idx="212">
                  <c:v>28.370541425549376</c:v>
                </c:pt>
                <c:pt idx="213">
                  <c:v>28.370541425549376</c:v>
                </c:pt>
                <c:pt idx="214">
                  <c:v>28.370541425549376</c:v>
                </c:pt>
                <c:pt idx="215">
                  <c:v>28.370541425549376</c:v>
                </c:pt>
                <c:pt idx="216">
                  <c:v>31.066322795485913</c:v>
                </c:pt>
                <c:pt idx="217">
                  <c:v>31.066322795485913</c:v>
                </c:pt>
                <c:pt idx="218">
                  <c:v>31.066322795485913</c:v>
                </c:pt>
                <c:pt idx="219">
                  <c:v>31.066322795485913</c:v>
                </c:pt>
                <c:pt idx="220">
                  <c:v>31.066322795485913</c:v>
                </c:pt>
                <c:pt idx="221">
                  <c:v>31.066322795485913</c:v>
                </c:pt>
                <c:pt idx="222">
                  <c:v>31.066322795485913</c:v>
                </c:pt>
                <c:pt idx="223">
                  <c:v>31.066322795485913</c:v>
                </c:pt>
                <c:pt idx="224">
                  <c:v>31.066322795485913</c:v>
                </c:pt>
                <c:pt idx="225">
                  <c:v>31.066322795485913</c:v>
                </c:pt>
                <c:pt idx="226">
                  <c:v>31.066322795485913</c:v>
                </c:pt>
                <c:pt idx="227">
                  <c:v>31.066322795485913</c:v>
                </c:pt>
                <c:pt idx="228">
                  <c:v>31.066322795485913</c:v>
                </c:pt>
                <c:pt idx="229">
                  <c:v>31.066322795485913</c:v>
                </c:pt>
                <c:pt idx="230">
                  <c:v>31.066322795485913</c:v>
                </c:pt>
                <c:pt idx="231">
                  <c:v>31.066322795485913</c:v>
                </c:pt>
                <c:pt idx="232">
                  <c:v>31.066322795485913</c:v>
                </c:pt>
                <c:pt idx="233">
                  <c:v>31.066322795485913</c:v>
                </c:pt>
                <c:pt idx="234">
                  <c:v>31.066322795485913</c:v>
                </c:pt>
                <c:pt idx="235">
                  <c:v>31.066322795485913</c:v>
                </c:pt>
                <c:pt idx="236">
                  <c:v>31.066322795485913</c:v>
                </c:pt>
                <c:pt idx="237">
                  <c:v>33.55658292860013</c:v>
                </c:pt>
                <c:pt idx="238">
                  <c:v>33.55658292860013</c:v>
                </c:pt>
                <c:pt idx="239">
                  <c:v>33.55658292860013</c:v>
                </c:pt>
                <c:pt idx="240">
                  <c:v>33.55658292860013</c:v>
                </c:pt>
                <c:pt idx="241">
                  <c:v>33.55658292860013</c:v>
                </c:pt>
                <c:pt idx="242">
                  <c:v>33.55658292860013</c:v>
                </c:pt>
                <c:pt idx="243">
                  <c:v>33.55658292860013</c:v>
                </c:pt>
                <c:pt idx="244">
                  <c:v>33.55658292860013</c:v>
                </c:pt>
                <c:pt idx="245">
                  <c:v>33.55658292860013</c:v>
                </c:pt>
                <c:pt idx="246">
                  <c:v>33.55658292860013</c:v>
                </c:pt>
                <c:pt idx="247">
                  <c:v>33.55658292860013</c:v>
                </c:pt>
                <c:pt idx="248">
                  <c:v>33.55658292860013</c:v>
                </c:pt>
                <c:pt idx="249">
                  <c:v>33.55658292860013</c:v>
                </c:pt>
                <c:pt idx="250">
                  <c:v>33.55658292860013</c:v>
                </c:pt>
                <c:pt idx="251">
                  <c:v>33.55658292860013</c:v>
                </c:pt>
                <c:pt idx="252">
                  <c:v>33.55658292860013</c:v>
                </c:pt>
                <c:pt idx="253">
                  <c:v>33.55658292860013</c:v>
                </c:pt>
                <c:pt idx="254">
                  <c:v>33.55658292860013</c:v>
                </c:pt>
                <c:pt idx="255">
                  <c:v>33.55658292860013</c:v>
                </c:pt>
                <c:pt idx="256">
                  <c:v>33.55658292860013</c:v>
                </c:pt>
                <c:pt idx="257">
                  <c:v>33.55658292860013</c:v>
                </c:pt>
                <c:pt idx="258">
                  <c:v>36.36127117010073</c:v>
                </c:pt>
                <c:pt idx="259">
                  <c:v>36.36127117010073</c:v>
                </c:pt>
                <c:pt idx="260">
                  <c:v>36.36127117010073</c:v>
                </c:pt>
                <c:pt idx="261">
                  <c:v>36.36127117010073</c:v>
                </c:pt>
                <c:pt idx="262">
                  <c:v>36.36127117010073</c:v>
                </c:pt>
                <c:pt idx="263">
                  <c:v>36.36127117010073</c:v>
                </c:pt>
                <c:pt idx="264">
                  <c:v>36.36127117010073</c:v>
                </c:pt>
                <c:pt idx="265">
                  <c:v>36.36127117010073</c:v>
                </c:pt>
                <c:pt idx="266">
                  <c:v>36.36127117010073</c:v>
                </c:pt>
                <c:pt idx="267">
                  <c:v>36.36127117010073</c:v>
                </c:pt>
                <c:pt idx="268">
                  <c:v>36.36127117010073</c:v>
                </c:pt>
                <c:pt idx="269">
                  <c:v>36.36127117010073</c:v>
                </c:pt>
                <c:pt idx="270">
                  <c:v>36.36127117010073</c:v>
                </c:pt>
                <c:pt idx="271">
                  <c:v>36.36127117010073</c:v>
                </c:pt>
                <c:pt idx="272">
                  <c:v>36.36127117010073</c:v>
                </c:pt>
                <c:pt idx="273">
                  <c:v>36.36127117010073</c:v>
                </c:pt>
                <c:pt idx="274">
                  <c:v>36.36127117010073</c:v>
                </c:pt>
                <c:pt idx="275">
                  <c:v>36.36127117010073</c:v>
                </c:pt>
                <c:pt idx="276">
                  <c:v>36.36127117010073</c:v>
                </c:pt>
                <c:pt idx="277">
                  <c:v>38.679412779992425</c:v>
                </c:pt>
                <c:pt idx="278">
                  <c:v>38.679412779992425</c:v>
                </c:pt>
                <c:pt idx="279">
                  <c:v>38.679412779992425</c:v>
                </c:pt>
                <c:pt idx="280">
                  <c:v>38.679412779992425</c:v>
                </c:pt>
                <c:pt idx="281">
                  <c:v>38.679412779992425</c:v>
                </c:pt>
                <c:pt idx="282">
                  <c:v>38.679412779992425</c:v>
                </c:pt>
                <c:pt idx="283">
                  <c:v>38.679412779992425</c:v>
                </c:pt>
                <c:pt idx="284">
                  <c:v>38.679412779992425</c:v>
                </c:pt>
                <c:pt idx="285">
                  <c:v>38.679412779992425</c:v>
                </c:pt>
                <c:pt idx="286">
                  <c:v>38.679412779992425</c:v>
                </c:pt>
                <c:pt idx="287">
                  <c:v>38.679412779992425</c:v>
                </c:pt>
                <c:pt idx="288">
                  <c:v>38.679412779992425</c:v>
                </c:pt>
                <c:pt idx="289">
                  <c:v>38.679412779992425</c:v>
                </c:pt>
                <c:pt idx="290">
                  <c:v>38.679412779992425</c:v>
                </c:pt>
                <c:pt idx="291">
                  <c:v>38.679412779992425</c:v>
                </c:pt>
                <c:pt idx="292">
                  <c:v>38.679412779992425</c:v>
                </c:pt>
                <c:pt idx="293">
                  <c:v>38.679412779992425</c:v>
                </c:pt>
                <c:pt idx="294">
                  <c:v>38.679412779992425</c:v>
                </c:pt>
                <c:pt idx="295">
                  <c:v>38.679412779992425</c:v>
                </c:pt>
                <c:pt idx="296">
                  <c:v>38.679412779992425</c:v>
                </c:pt>
                <c:pt idx="297">
                  <c:v>38.679412779992425</c:v>
                </c:pt>
                <c:pt idx="298">
                  <c:v>41.31432162281228</c:v>
                </c:pt>
                <c:pt idx="299">
                  <c:v>41.31432162281228</c:v>
                </c:pt>
                <c:pt idx="300">
                  <c:v>41.31432162281228</c:v>
                </c:pt>
                <c:pt idx="301">
                  <c:v>41.31432162281228</c:v>
                </c:pt>
                <c:pt idx="302">
                  <c:v>41.31432162281228</c:v>
                </c:pt>
                <c:pt idx="303">
                  <c:v>41.31432162281228</c:v>
                </c:pt>
                <c:pt idx="304">
                  <c:v>41.31432162281228</c:v>
                </c:pt>
                <c:pt idx="305">
                  <c:v>41.31432162281228</c:v>
                </c:pt>
                <c:pt idx="306">
                  <c:v>41.31432162281228</c:v>
                </c:pt>
                <c:pt idx="307">
                  <c:v>41.31432162281228</c:v>
                </c:pt>
                <c:pt idx="308">
                  <c:v>41.31432162281228</c:v>
                </c:pt>
                <c:pt idx="309">
                  <c:v>41.31432162281228</c:v>
                </c:pt>
                <c:pt idx="310">
                  <c:v>41.31432162281228</c:v>
                </c:pt>
                <c:pt idx="311">
                  <c:v>41.31432162281228</c:v>
                </c:pt>
                <c:pt idx="312">
                  <c:v>41.31432162281228</c:v>
                </c:pt>
                <c:pt idx="313">
                  <c:v>41.31432162281228</c:v>
                </c:pt>
                <c:pt idx="314">
                  <c:v>41.31432162281228</c:v>
                </c:pt>
                <c:pt idx="315">
                  <c:v>41.31432162281228</c:v>
                </c:pt>
                <c:pt idx="316">
                  <c:v>41.31432162281228</c:v>
                </c:pt>
                <c:pt idx="317">
                  <c:v>41.31432162281228</c:v>
                </c:pt>
                <c:pt idx="318">
                  <c:v>41.31432162281228</c:v>
                </c:pt>
              </c:numCache>
            </c:numRef>
          </c:val>
          <c:smooth val="0"/>
        </c:ser>
        <c:marker val="1"/>
        <c:smooth val="0"/>
        <c:axId val="2118791784"/>
        <c:axId val="2140495176"/>
      </c:lineChart>
      <c:dateAx>
        <c:axId val="2118791784"/>
        <c:scaling>
          <c:orientation val="minMax"/>
        </c:scaling>
        <c:delete val="0"/>
        <c:axPos val="b"/>
        <c:numFmt formatCode="mmm-yy" sourceLinked="0"/>
        <c:majorTickMark val="out"/>
        <c:minorTickMark val="none"/>
        <c:tickLblPos val="nextTo"/>
        <c:spPr>
          <a:ln>
            <a:solidFill>
              <a:srgbClr val="DCE6EF"/>
            </a:solidFill>
          </a:ln>
        </c:spPr>
        <c:crossAx val="2140495176"/>
        <c:crosses val="autoZero"/>
        <c:auto val="1"/>
        <c:lblOffset val="100"/>
        <c:baseTimeUnit val="days"/>
        <c:majorUnit val="2"/>
        <c:majorTimeUnit val="months"/>
      </c:dateAx>
      <c:valAx>
        <c:axId val="2140495176"/>
        <c:scaling>
          <c:max val="50.0"/>
          <c:min val="0.0"/>
        </c:scaling>
        <c:delete val="0"/>
        <c:axPos val="l"/>
        <c:majorGridlines>
          <c:spPr>
            <a:ln w="9525">
              <a:solidFill>
                <a:srgbClr val="DCE6EF"/>
              </a:solidFill>
            </a:ln>
          </c:spPr>
        </c:majorGridlines>
        <c:numFmt formatCode="0&quot;%&quot;" sourceLinked="0"/>
        <c:majorTickMark val="out"/>
        <c:minorTickMark val="none"/>
        <c:tickLblPos val="nextTo"/>
        <c:spPr>
          <a:ln>
            <a:noFill/>
          </a:ln>
        </c:spPr>
        <c:crossAx val="2118791784"/>
        <c:crosses val="autoZero"/>
        <c:majorUnit val="10.0"/>
      </c:valAx>
    </c:plotArea>
    <c:legend>
      <c:legendPos val="b"/>
      <c:layout/>
      <c:overlay val="0"/>
      <c:txPr>
        <a:bodyPr/>
        <a:lstStyle/>
        <a:p>
          <a:pPr>
            <a:defRPr sz="900"/>
          </a:pPr>
        </a:p>
      </c:txPr>
    </c:legend>
    <c:plotVisOnly val="1"/>
    <c:dispBlanksAs val="gap"/>
    <c:showDLblsOverMax val="0"/>
  </c:chart>
  <c:txPr>
    <a:bodyPr/>
    <a:lstStyle/>
    <a:p>
      <a:pPr>
        <a:defRPr sz="1000">
          <a:solidFill>
            <a:srgbClr val="2C3E50"/>
          </a:solidFil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jornada del 30/10/2026 exhibió estabilidad en los cotizaciones, con una brecha del 0.25% entre el dólar Blue a $1565.0 y el MEP a $1568.96, siendo la opción más económica de las dos el segmento informal. En la tendencia de las últimas 25 ruedas, el dólar Blue registró una ligera suba del 0.64% y el Billete oficial avanzó un 1.63%. Por su parte, el Riesgo País acumula una suba de 208 puntos en las últimas 25 ruedas a pesar de la baja diaria.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agregados monetarios miden cuánta plata hay en la economía. La circulación monetaria son los billetes y monedas; la base monetaria es el dinero que crea el Banco Central: esos billetes y monedas más lo que los bancos tienen depositado en él. El M2 suma los billetes en manos de la gente y lo que hay en cuentas corrientes y cajas de ahorro, y el M3 agrega los plazos fijos. Arriba se ve cuánto hay, en billones de pesos. Abajo, cuánto creció cada uno en un año comparado con la inflación (la línea roja): si una línea queda por debajo de la roja, esa plata alcanza para comprar menos cosas que hace un año.</a:t>
            </a:r>
          </a:p>
          <a:p/>
          <a:p>
            <a:r>
              <a:t>¿Qué sería lo ideal? Que la cantidad de pesos crezca al ritmo de los que la gente quiere tener: más o menos lo que crece la economía más una inflación baja. Si crece mucho más rápido, hay más pesos persiguiendo las mismas cosas y eso suele anticipar más inflación y un dólar más caro. Si crece mucho más lento, la inflación tiende a bajar, pero hay menos plata para consumir y menos crédito, y la actividad se enfría.</a:t>
            </a:r>
          </a:p>
          <a:p/>
          <a:p>
            <a:r>
              <a:t>En el último año la base monetaria creció 13,7% (al 27/10/2026) y el M2 creció 22,5% (al 26/10/2026), contra una inflación interanual de 33,3% en septiembre de 2026: descontada la inflación, las dos cayeron.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Todo está en dólares: lo que se publica en pesos se convierte con el tipo de cambio oficial mayorista de cada día.</a:t>
            </a:r>
          </a:p>
          <a:p/>
          <a:p>
            <a:r>
              <a:t>Arriba, la deuda bruta del Tesoro nacional: lo que debe el Estado por bonos, letras y préstamos de organismos como el FMI. Te importa porque se paga con impuestos o con más deuda: cuanto más pesa, menos margen hay para bajar impuestos y más caro le sale al país (y a sus empresas) conseguir crédito, algo que se ve en el riesgo país. Se publica una vez por mes, con unas cinco semanas de atraso, y los últimos meses son provisorios (los círculos grises): pueden corregirse.</a:t>
            </a:r>
          </a:p>
          <a:p/>
          <a:p>
            <a:r>
              <a:t>En el medio, lo que familias y empresas les deben a los bancos: tarjetas, préstamos personales, hipotecas y créditos a empresas. Si sube, hay más crédito para consumir, comprar una casa o invertir; si sube demasiado rápido, crece el riesgo de que mucha gente no pueda pagar.</a:t>
            </a:r>
          </a:p>
          <a:p/>
          <a:p>
            <a:r>
              <a:t>Abajo, dos deudas que pasan por el Banco Central. Las letras en pesos son la forma en que el BCRA retira pesos de la calle pagando un interés (las en dólares son deuda en esa moneda). Te importa porque esos intereses se pagan con pesos nuevos: si el stock crece mucho, es inflación a futuro; y la tasa que pagan influye en lo que te dan por un plazo fijo. Los adelantos transitorios son pesos que el BCRA emite y le presta al Tesoro: es financiar al Estado con emisión, y cuanto más se usa ese atajo, más presión hay sobre los precios y el dólar.</a:t>
            </a:r>
          </a:p>
          <a:p/>
          <a:p>
            <a:r>
              <a:t>¿Qué sería lo ideal? Que la deuda del Estado crezca más despacio que la economía (o baje), que el crédito a familias y empresas crezca de forma sostenida, y que los adelantos al Tesoro no aumenten.</a:t>
            </a:r>
          </a:p>
          <a:p/>
          <a:p>
            <a:r>
              <a:t>Deuda bruta del Tesoro a fines de septiembre de 2026 (dato provisorio): USD 486,6 mil millones, 32,6 mil millones más que un año antes. Contra la misma fecha: hace 4 años, USD 382,3 mil millones (hoy, +27,3%). Sin comparación a 8 y 12 años: la serie mensual de la Secretaría de Finanzas empieza en 2019.</a:t>
            </a:r>
          </a:p>
          <a:p>
            <a:r>
              <a:t>Lo que familias y empresas les deben a los bancos, al 27/10/2026: USD 98,0 mil millones. Contra la misma fecha: hace 4 años, USD 44,3 mil millones (hoy, +121,5%); hace 8 años, USD 58,5 mil millones (hoy, +67,5%); hace 12 años, USD 66,2 mil millones (hoy, +48,0%). Con cepo, el dólar oficial estaba muy por debajo del paralelo, así que en dólares esos años se ven más altos de lo que eran.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www.globalaize.com" TargetMode="External"/><Relationship Id="rId4" Type="http://schemas.openxmlformats.org/officeDocument/2006/relationships/image" Target="../media/image2.png"/><Relationship Id="rId5" Type="http://schemas.openxmlformats.org/officeDocument/2006/relationships/hyperlink" Target="https://linkedin.com/in/mauroemartinez/" TargetMode="External"/><Relationship Id="rId6" Type="http://schemas.openxmlformats.org/officeDocument/2006/relationships/image" Target="../media/image3.png"/><Relationship Id="rId7" Type="http://schemas.openxmlformats.org/officeDocument/2006/relationships/hyperlink" Target="https://github.com/mauroemartinez/" TargetMode="External"/><Relationship Id="rId8" Type="http://schemas.openxmlformats.org/officeDocument/2006/relationships/hyperlink" Target="https://www.linkedin.com/company/globalaize" TargetMode="External"/><Relationship Id="rId9" Type="http://schemas.openxmlformats.org/officeDocument/2006/relationships/image" Target="../media/image4.png"/><Relationship Id="rId10" Type="http://schemas.openxmlformats.org/officeDocument/2006/relationships/image" Target="../media/image5.png"/><Relationship Id="rId11" Type="http://schemas.openxmlformats.org/officeDocument/2006/relationships/image" Target="../media/image6.png"/><Relationship Id="rId12" Type="http://schemas.openxmlformats.org/officeDocument/2006/relationships/image" Target="../media/image7.png"/><Relationship Id="rId13" Type="http://schemas.openxmlformats.org/officeDocument/2006/relationships/image" Target="../media/image8.png"/><Relationship Id="rId14" Type="http://schemas.openxmlformats.org/officeDocument/2006/relationships/image" Target="../media/image9.png"/><Relationship Id="rId15" Type="http://schemas.openxmlformats.org/officeDocument/2006/relationships/image" Target="../media/image10.png"/><Relationship Id="rId16" Type="http://schemas.openxmlformats.org/officeDocument/2006/relationships/image" Target="../media/image11.png"/><Relationship Id="rId17" Type="http://schemas.openxmlformats.org/officeDocument/2006/relationships/image" Target="../media/image12.png"/><Relationship Id="rId18" Type="http://schemas.openxmlformats.org/officeDocument/2006/relationships/image" Target="../media/image13.png"/><Relationship Id="rId19" Type="http://schemas.openxmlformats.org/officeDocument/2006/relationships/image" Target="../media/image14.png"/><Relationship Id="rId20" Type="http://schemas.openxmlformats.org/officeDocument/2006/relationships/image" Target="../media/image15.png"/><Relationship Id="rId21" Type="http://schemas.openxmlformats.org/officeDocument/2006/relationships/image" Target="../media/image16.png"/><Relationship Id="rId22" Type="http://schemas.openxmlformats.org/officeDocument/2006/relationships/image" Target="../media/image17.png"/><Relationship Id="rId23" Type="http://schemas.openxmlformats.org/officeDocument/2006/relationships/image" Target="../media/image1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chart" Target="../charts/char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chart" Target="../charts/char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bna.com.ar/Personas" TargetMode="External"/><Relationship Id="rId3" Type="http://schemas.openxmlformats.org/officeDocument/2006/relationships/hyperlink" Target="https://dolarhoy.com/cotizaciondolarblue" TargetMode="External"/><Relationship Id="rId4" Type="http://schemas.openxmlformats.org/officeDocument/2006/relationships/hyperlink" Target="https://www.ambito.com/contenidos/dolar-mep.html" TargetMode="External"/><Relationship Id="rId5" Type="http://schemas.openxmlformats.org/officeDocument/2006/relationships/hyperlink" Target="https://www.ambito.com/euro-informal" TargetMode="External"/><Relationship Id="rId6" Type="http://schemas.openxmlformats.org/officeDocument/2006/relationships/hyperlink" Target="https://api.argentinadatos.com/v1/finanzas/indices/riesgo-pais" TargetMode="External"/><Relationship Id="rId7" Type="http://schemas.openxmlformats.org/officeDocument/2006/relationships/hyperlink" Target="https://api.stlouisfed.org/fred/series/observations" TargetMode="External"/><Relationship Id="rId8" Type="http://schemas.openxmlformats.org/officeDocument/2006/relationships/hyperlink" Target="https://api.bcra.gob.ar/estadisticas/v4.0/Monetarias" TargetMode="External"/><Relationship Id="rId9" Type="http://schemas.openxmlformats.org/officeDocument/2006/relationships/hyperlink" Target="https://www.argentina.gob.ar/economia/finanzas/datos-mensuales-de-la-deuda/datos" TargetMode="External"/><Relationship Id="rId10" Type="http://schemas.openxmlformats.org/officeDocument/2006/relationships/hyperlink" Target="https://finance.yahoo.com/quote/BTC-USD" TargetMode="External"/><Relationship Id="rId11" Type="http://schemas.openxmlformats.org/officeDocument/2006/relationships/image" Target="../media/image2.png"/><Relationship Id="rId12" Type="http://schemas.openxmlformats.org/officeDocument/2006/relationships/hyperlink" Target="https://linkedin.com/in/mauroemartinez/" TargetMode="External"/><Relationship Id="rId13" Type="http://schemas.openxmlformats.org/officeDocument/2006/relationships/image" Target="../media/image3.png"/><Relationship Id="rId14" Type="http://schemas.openxmlformats.org/officeDocument/2006/relationships/hyperlink" Target="https://github.com/mauroemartinez/" TargetMode="External"/><Relationship Id="rId15" Type="http://schemas.openxmlformats.org/officeDocument/2006/relationships/image" Target="../media/image23.png"/><Relationship Id="rId16" Type="http://schemas.openxmlformats.org/officeDocument/2006/relationships/hyperlink" Target="https://www.globalaize.com" TargetMode="External"/><Relationship Id="rId17" Type="http://schemas.openxmlformats.org/officeDocument/2006/relationships/hyperlink" Target="https://www.linkedin.com/company/globalaize" TargetMode="External"/><Relationship Id="rId18" Type="http://schemas.openxmlformats.org/officeDocument/2006/relationships/hyperlink" Target="mailto:mauro@globalaize.com"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1463040" y="-1737360"/>
            <a:ext cx="4206240" cy="4206240"/>
          </a:xfrm>
          <a:prstGeom prst="ellipse">
            <a:avLst/>
          </a:prstGeom>
          <a:solidFill>
            <a:srgbClr val="E7F2F8">
              <a:alpha val="9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966960" y="-1280160"/>
            <a:ext cx="3474720" cy="3474720"/>
          </a:xfrm>
          <a:prstGeom prst="ellipse">
            <a:avLst/>
          </a:prstGeom>
          <a:solidFill>
            <a:srgbClr val="E7F2F8">
              <a:alpha val="7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0607040" y="3291840"/>
            <a:ext cx="2377440" cy="2377440"/>
          </a:xfrm>
          <a:prstGeom prst="ellipse">
            <a:avLst/>
          </a:prstGeom>
          <a:solidFill>
            <a:srgbClr val="E7F2F8">
              <a:alpha val="5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lobalaize_logo.png">
            <a:hlinkClick r:id="rId3"/>
          </p:cNvPr>
          <p:cNvPicPr>
            <a:picLocks noChangeAspect="1"/>
          </p:cNvPicPr>
          <p:nvPr/>
        </p:nvPicPr>
        <p:blipFill>
          <a:blip r:embed="rId2"/>
          <a:stretch>
            <a:fillRect/>
          </a:stretch>
        </p:blipFill>
        <p:spPr>
          <a:xfrm>
            <a:off x="5432907" y="274320"/>
            <a:ext cx="1325880" cy="1325880"/>
          </a:xfrm>
          <a:prstGeom prst="rect">
            <a:avLst/>
          </a:prstGeom>
        </p:spPr>
      </p:pic>
      <p:sp>
        <p:nvSpPr>
          <p:cNvPr id="6" name="TextBox 5"/>
          <p:cNvSpPr txBox="1"/>
          <p:nvPr/>
        </p:nvSpPr>
        <p:spPr>
          <a:xfrm>
            <a:off x="0" y="1691640"/>
            <a:ext cx="12191695" cy="365760"/>
          </a:xfrm>
          <a:prstGeom prst="rect">
            <a:avLst/>
          </a:prstGeom>
          <a:noFill/>
        </p:spPr>
        <p:txBody>
          <a:bodyPr wrap="square">
            <a:spAutoFit/>
          </a:bodyPr>
          <a:lstStyle/>
          <a:p>
            <a:pPr algn="ctr"/>
            <a:r>
              <a:rPr sz="1400" b="1">
                <a:solidFill>
                  <a:srgbClr val="697E91"/>
                </a:solidFill>
              </a:rPr>
              <a:t>ARGENTINA · INFORME DIARIO</a:t>
            </a:r>
          </a:p>
        </p:txBody>
      </p:sp>
      <p:sp>
        <p:nvSpPr>
          <p:cNvPr id="7" name="TextBox 6"/>
          <p:cNvSpPr txBox="1"/>
          <p:nvPr/>
        </p:nvSpPr>
        <p:spPr>
          <a:xfrm>
            <a:off x="0" y="2011680"/>
            <a:ext cx="12191695" cy="914400"/>
          </a:xfrm>
          <a:prstGeom prst="rect">
            <a:avLst/>
          </a:prstGeom>
          <a:noFill/>
        </p:spPr>
        <p:txBody>
          <a:bodyPr wrap="square">
            <a:spAutoFit/>
          </a:bodyPr>
          <a:lstStyle/>
          <a:p>
            <a:pPr algn="ctr"/>
            <a:r>
              <a:rPr sz="5000" b="1">
                <a:solidFill>
                  <a:srgbClr val="081E40"/>
                </a:solidFill>
              </a:rPr>
              <a:t>Reporte Macroeconómico</a:t>
            </a:r>
          </a:p>
        </p:txBody>
      </p:sp>
      <p:sp>
        <p:nvSpPr>
          <p:cNvPr id="8" name="TextBox 7"/>
          <p:cNvSpPr txBox="1"/>
          <p:nvPr/>
        </p:nvSpPr>
        <p:spPr>
          <a:xfrm>
            <a:off x="0" y="2880360"/>
            <a:ext cx="12191695" cy="457200"/>
          </a:xfrm>
          <a:prstGeom prst="rect">
            <a:avLst/>
          </a:prstGeom>
          <a:noFill/>
        </p:spPr>
        <p:txBody>
          <a:bodyPr wrap="square">
            <a:spAutoFit/>
          </a:bodyPr>
          <a:lstStyle/>
          <a:p>
            <a:pPr algn="ctr"/>
            <a:r>
              <a:rPr sz="1800" b="0">
                <a:solidFill>
                  <a:srgbClr val="697E91"/>
                </a:solidFill>
              </a:rPr>
              <a:t>Dólar · Riesgo país · Tasas · Inflación · Agregados monetarios · Deuda · Bitcoin</a:t>
            </a:r>
          </a:p>
        </p:txBody>
      </p:sp>
      <p:sp>
        <p:nvSpPr>
          <p:cNvPr id="9" name="TextBox 8"/>
          <p:cNvSpPr txBox="1"/>
          <p:nvPr/>
        </p:nvSpPr>
        <p:spPr>
          <a:xfrm>
            <a:off x="0" y="3337560"/>
            <a:ext cx="12191695" cy="457200"/>
          </a:xfrm>
          <a:prstGeom prst="rect">
            <a:avLst/>
          </a:prstGeom>
          <a:noFill/>
        </p:spPr>
        <p:txBody>
          <a:bodyPr wrap="square">
            <a:spAutoFit/>
          </a:bodyPr>
          <a:lstStyle/>
          <a:p>
            <a:pPr algn="ctr"/>
            <a:r>
              <a:rPr sz="2400" b="1">
                <a:solidFill>
                  <a:srgbClr val="163A6B"/>
                </a:solidFill>
              </a:rPr>
              <a:t>30/10/2026</a:t>
            </a:r>
          </a:p>
        </p:txBody>
      </p:sp>
      <p:sp>
        <p:nvSpPr>
          <p:cNvPr id="10" name="TextBox 9"/>
          <p:cNvSpPr txBox="1"/>
          <p:nvPr/>
        </p:nvSpPr>
        <p:spPr>
          <a:xfrm>
            <a:off x="0" y="3886200"/>
            <a:ext cx="12191695" cy="365760"/>
          </a:xfrm>
          <a:prstGeom prst="rect">
            <a:avLst/>
          </a:prstGeom>
          <a:noFill/>
        </p:spPr>
        <p:txBody>
          <a:bodyPr wrap="square">
            <a:spAutoFit/>
          </a:bodyPr>
          <a:lstStyle/>
          <a:p>
            <a:pPr algn="ctr"/>
            <a:r>
              <a:rPr sz="1500" b="0">
                <a:solidFill>
                  <a:srgbClr val="697E91"/>
                </a:solidFill>
              </a:rPr>
              <a:t>por Mauro E. Martinez · GlobalAIze</a:t>
            </a:r>
          </a:p>
        </p:txBody>
      </p:sp>
      <p:pic>
        <p:nvPicPr>
          <p:cNvPr id="11" name="Picture 10" descr="linkedin.png">
            <a:hlinkClick r:id="rId5"/>
          </p:cNvPr>
          <p:cNvPicPr>
            <a:picLocks noChangeAspect="1"/>
          </p:cNvPicPr>
          <p:nvPr/>
        </p:nvPicPr>
        <p:blipFill>
          <a:blip r:embed="rId4"/>
          <a:stretch>
            <a:fillRect/>
          </a:stretch>
        </p:blipFill>
        <p:spPr>
          <a:xfrm>
            <a:off x="4221327" y="4297680"/>
            <a:ext cx="457200" cy="457200"/>
          </a:xfrm>
          <a:prstGeom prst="rect">
            <a:avLst/>
          </a:prstGeom>
        </p:spPr>
      </p:pic>
      <p:sp>
        <p:nvSpPr>
          <p:cNvPr id="12" name="TextBox 11">
            <a:hlinkClick r:id="rId5"/>
          </p:cNvPr>
          <p:cNvSpPr txBox="1"/>
          <p:nvPr/>
        </p:nvSpPr>
        <p:spPr>
          <a:xfrm>
            <a:off x="3626967" y="4782312"/>
            <a:ext cx="1645920" cy="457200"/>
          </a:xfrm>
          <a:prstGeom prst="rect">
            <a:avLst/>
          </a:prstGeom>
          <a:noFill/>
        </p:spPr>
        <p:txBody>
          <a:bodyPr wrap="square">
            <a:spAutoFit/>
          </a:bodyPr>
          <a:lstStyle/>
          <a:p>
            <a:pPr algn="ctr"/>
            <a:r>
              <a:rPr sz="1100" b="0">
                <a:solidFill>
                  <a:srgbClr val="081E40"/>
                </a:solidFill>
              </a:rPr>
              <a:t>LinkedIn</a:t>
            </a:r>
          </a:p>
        </p:txBody>
      </p:sp>
      <p:pic>
        <p:nvPicPr>
          <p:cNvPr id="13" name="Picture 12" descr="github.png">
            <a:hlinkClick r:id="rId7"/>
          </p:cNvPr>
          <p:cNvPicPr>
            <a:picLocks noChangeAspect="1"/>
          </p:cNvPicPr>
          <p:nvPr/>
        </p:nvPicPr>
        <p:blipFill>
          <a:blip r:embed="rId6"/>
          <a:stretch>
            <a:fillRect/>
          </a:stretch>
        </p:blipFill>
        <p:spPr>
          <a:xfrm>
            <a:off x="5867247" y="4297680"/>
            <a:ext cx="457200" cy="457200"/>
          </a:xfrm>
          <a:prstGeom prst="rect">
            <a:avLst/>
          </a:prstGeom>
        </p:spPr>
      </p:pic>
      <p:sp>
        <p:nvSpPr>
          <p:cNvPr id="14" name="TextBox 13">
            <a:hlinkClick r:id="rId7"/>
          </p:cNvPr>
          <p:cNvSpPr txBox="1"/>
          <p:nvPr/>
        </p:nvSpPr>
        <p:spPr>
          <a:xfrm>
            <a:off x="5272887" y="4782312"/>
            <a:ext cx="1645920" cy="457200"/>
          </a:xfrm>
          <a:prstGeom prst="rect">
            <a:avLst/>
          </a:prstGeom>
          <a:noFill/>
        </p:spPr>
        <p:txBody>
          <a:bodyPr wrap="square">
            <a:spAutoFit/>
          </a:bodyPr>
          <a:lstStyle/>
          <a:p>
            <a:pPr algn="ctr"/>
            <a:r>
              <a:rPr sz="1100" b="0">
                <a:solidFill>
                  <a:srgbClr val="081E40"/>
                </a:solidFill>
              </a:rPr>
              <a:t>GitHub</a:t>
            </a:r>
          </a:p>
        </p:txBody>
      </p:sp>
      <p:pic>
        <p:nvPicPr>
          <p:cNvPr id="15" name="Picture 14" descr="linkedin.png">
            <a:hlinkClick r:id="rId8"/>
          </p:cNvPr>
          <p:cNvPicPr>
            <a:picLocks noChangeAspect="1"/>
          </p:cNvPicPr>
          <p:nvPr/>
        </p:nvPicPr>
        <p:blipFill>
          <a:blip r:embed="rId4"/>
          <a:stretch>
            <a:fillRect/>
          </a:stretch>
        </p:blipFill>
        <p:spPr>
          <a:xfrm>
            <a:off x="7513167" y="4297680"/>
            <a:ext cx="457200" cy="457200"/>
          </a:xfrm>
          <a:prstGeom prst="rect">
            <a:avLst/>
          </a:prstGeom>
        </p:spPr>
      </p:pic>
      <p:sp>
        <p:nvSpPr>
          <p:cNvPr id="16" name="TextBox 15">
            <a:hlinkClick r:id="rId8"/>
          </p:cNvPr>
          <p:cNvSpPr txBox="1"/>
          <p:nvPr/>
        </p:nvSpPr>
        <p:spPr>
          <a:xfrm>
            <a:off x="6918807" y="4782312"/>
            <a:ext cx="1645920" cy="457200"/>
          </a:xfrm>
          <a:prstGeom prst="rect">
            <a:avLst/>
          </a:prstGeom>
          <a:noFill/>
        </p:spPr>
        <p:txBody>
          <a:bodyPr wrap="square">
            <a:spAutoFit/>
          </a:bodyPr>
          <a:lstStyle/>
          <a:p>
            <a:pPr algn="ctr"/>
            <a:r>
              <a:rPr sz="1100" b="0">
                <a:solidFill>
                  <a:srgbClr val="081E40"/>
                </a:solidFill>
              </a:rPr>
              <a:t>GlobalAIze en LinkedIn</a:t>
            </a:r>
          </a:p>
        </p:txBody>
      </p:sp>
      <p:sp>
        <p:nvSpPr>
          <p:cNvPr id="17" name="Rectangle 16"/>
          <p:cNvSpPr/>
          <p:nvPr/>
        </p:nvSpPr>
        <p:spPr>
          <a:xfrm>
            <a:off x="0" y="5532120"/>
            <a:ext cx="12191695" cy="1325880"/>
          </a:xfrm>
          <a:prstGeom prst="rect">
            <a:avLst/>
          </a:prstGeom>
          <a:solidFill>
            <a:srgbClr val="E7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0" y="5577840"/>
            <a:ext cx="12191695" cy="274320"/>
          </a:xfrm>
          <a:prstGeom prst="rect">
            <a:avLst/>
          </a:prstGeom>
          <a:noFill/>
        </p:spPr>
        <p:txBody>
          <a:bodyPr wrap="square">
            <a:spAutoFit/>
          </a:bodyPr>
          <a:lstStyle/>
          <a:p>
            <a:pPr algn="ctr"/>
            <a:r>
              <a:rPr sz="1000" b="1">
                <a:solidFill>
                  <a:srgbClr val="697E91"/>
                </a:solidFill>
              </a:rPr>
              <a:t>STACK</a:t>
            </a:r>
          </a:p>
        </p:txBody>
      </p:sp>
      <p:pic>
        <p:nvPicPr>
          <p:cNvPr id="19" name="Picture 18" descr="python.png"/>
          <p:cNvPicPr>
            <a:picLocks noChangeAspect="1"/>
          </p:cNvPicPr>
          <p:nvPr/>
        </p:nvPicPr>
        <p:blipFill>
          <a:blip r:embed="rId9"/>
          <a:stretch>
            <a:fillRect/>
          </a:stretch>
        </p:blipFill>
        <p:spPr>
          <a:xfrm>
            <a:off x="911199" y="5852160"/>
            <a:ext cx="384048" cy="384048"/>
          </a:xfrm>
          <a:prstGeom prst="rect">
            <a:avLst/>
          </a:prstGeom>
        </p:spPr>
      </p:pic>
      <p:sp>
        <p:nvSpPr>
          <p:cNvPr id="20" name="TextBox 19"/>
          <p:cNvSpPr txBox="1"/>
          <p:nvPr/>
        </p:nvSpPr>
        <p:spPr>
          <a:xfrm>
            <a:off x="700887" y="6309360"/>
            <a:ext cx="804672" cy="274320"/>
          </a:xfrm>
          <a:prstGeom prst="rect">
            <a:avLst/>
          </a:prstGeom>
          <a:noFill/>
        </p:spPr>
        <p:txBody>
          <a:bodyPr wrap="square">
            <a:spAutoFit/>
          </a:bodyPr>
          <a:lstStyle/>
          <a:p>
            <a:pPr algn="ctr"/>
            <a:r>
              <a:rPr sz="900" b="0">
                <a:solidFill>
                  <a:srgbClr val="081E40"/>
                </a:solidFill>
              </a:rPr>
              <a:t>Python</a:t>
            </a:r>
          </a:p>
        </p:txBody>
      </p:sp>
      <p:pic>
        <p:nvPicPr>
          <p:cNvPr id="21" name="Picture 20" descr="playwright.png"/>
          <p:cNvPicPr>
            <a:picLocks noChangeAspect="1"/>
          </p:cNvPicPr>
          <p:nvPr/>
        </p:nvPicPr>
        <p:blipFill>
          <a:blip r:embed="rId10"/>
          <a:stretch>
            <a:fillRect/>
          </a:stretch>
        </p:blipFill>
        <p:spPr>
          <a:xfrm>
            <a:off x="1624431" y="5852160"/>
            <a:ext cx="384048" cy="384048"/>
          </a:xfrm>
          <a:prstGeom prst="rect">
            <a:avLst/>
          </a:prstGeom>
        </p:spPr>
      </p:pic>
      <p:sp>
        <p:nvSpPr>
          <p:cNvPr id="22" name="TextBox 21"/>
          <p:cNvSpPr txBox="1"/>
          <p:nvPr/>
        </p:nvSpPr>
        <p:spPr>
          <a:xfrm>
            <a:off x="1414119" y="6309360"/>
            <a:ext cx="804672" cy="274320"/>
          </a:xfrm>
          <a:prstGeom prst="rect">
            <a:avLst/>
          </a:prstGeom>
          <a:noFill/>
        </p:spPr>
        <p:txBody>
          <a:bodyPr wrap="square">
            <a:spAutoFit/>
          </a:bodyPr>
          <a:lstStyle/>
          <a:p>
            <a:pPr algn="ctr"/>
            <a:r>
              <a:rPr sz="900" b="0">
                <a:solidFill>
                  <a:srgbClr val="081E40"/>
                </a:solidFill>
              </a:rPr>
              <a:t>Playwright</a:t>
            </a:r>
          </a:p>
        </p:txBody>
      </p:sp>
      <p:pic>
        <p:nvPicPr>
          <p:cNvPr id="23" name="Picture 22" descr="pandas.png"/>
          <p:cNvPicPr>
            <a:picLocks noChangeAspect="1"/>
          </p:cNvPicPr>
          <p:nvPr/>
        </p:nvPicPr>
        <p:blipFill>
          <a:blip r:embed="rId11"/>
          <a:stretch>
            <a:fillRect/>
          </a:stretch>
        </p:blipFill>
        <p:spPr>
          <a:xfrm>
            <a:off x="2337663" y="5852160"/>
            <a:ext cx="384048" cy="384048"/>
          </a:xfrm>
          <a:prstGeom prst="rect">
            <a:avLst/>
          </a:prstGeom>
        </p:spPr>
      </p:pic>
      <p:sp>
        <p:nvSpPr>
          <p:cNvPr id="24" name="TextBox 23"/>
          <p:cNvSpPr txBox="1"/>
          <p:nvPr/>
        </p:nvSpPr>
        <p:spPr>
          <a:xfrm>
            <a:off x="2127351" y="6309360"/>
            <a:ext cx="804672" cy="274320"/>
          </a:xfrm>
          <a:prstGeom prst="rect">
            <a:avLst/>
          </a:prstGeom>
          <a:noFill/>
        </p:spPr>
        <p:txBody>
          <a:bodyPr wrap="square">
            <a:spAutoFit/>
          </a:bodyPr>
          <a:lstStyle/>
          <a:p>
            <a:pPr algn="ctr"/>
            <a:r>
              <a:rPr sz="900" b="0">
                <a:solidFill>
                  <a:srgbClr val="081E40"/>
                </a:solidFill>
              </a:rPr>
              <a:t>pandas</a:t>
            </a:r>
          </a:p>
        </p:txBody>
      </p:sp>
      <p:pic>
        <p:nvPicPr>
          <p:cNvPr id="25" name="Picture 24" descr="pydantic.png"/>
          <p:cNvPicPr>
            <a:picLocks noChangeAspect="1"/>
          </p:cNvPicPr>
          <p:nvPr/>
        </p:nvPicPr>
        <p:blipFill>
          <a:blip r:embed="rId12"/>
          <a:stretch>
            <a:fillRect/>
          </a:stretch>
        </p:blipFill>
        <p:spPr>
          <a:xfrm>
            <a:off x="3050895" y="5852160"/>
            <a:ext cx="384048" cy="384048"/>
          </a:xfrm>
          <a:prstGeom prst="rect">
            <a:avLst/>
          </a:prstGeom>
        </p:spPr>
      </p:pic>
      <p:sp>
        <p:nvSpPr>
          <p:cNvPr id="26" name="TextBox 25"/>
          <p:cNvSpPr txBox="1"/>
          <p:nvPr/>
        </p:nvSpPr>
        <p:spPr>
          <a:xfrm>
            <a:off x="2840583" y="6309360"/>
            <a:ext cx="804672" cy="274320"/>
          </a:xfrm>
          <a:prstGeom prst="rect">
            <a:avLst/>
          </a:prstGeom>
          <a:noFill/>
        </p:spPr>
        <p:txBody>
          <a:bodyPr wrap="square">
            <a:spAutoFit/>
          </a:bodyPr>
          <a:lstStyle/>
          <a:p>
            <a:pPr algn="ctr"/>
            <a:r>
              <a:rPr sz="900" b="0">
                <a:solidFill>
                  <a:srgbClr val="081E40"/>
                </a:solidFill>
              </a:rPr>
              <a:t>Pydantic</a:t>
            </a:r>
          </a:p>
        </p:txBody>
      </p:sp>
      <p:pic>
        <p:nvPicPr>
          <p:cNvPr id="27" name="Picture 26" descr="sqlalchemy.png"/>
          <p:cNvPicPr>
            <a:picLocks noChangeAspect="1"/>
          </p:cNvPicPr>
          <p:nvPr/>
        </p:nvPicPr>
        <p:blipFill>
          <a:blip r:embed="rId13"/>
          <a:stretch>
            <a:fillRect/>
          </a:stretch>
        </p:blipFill>
        <p:spPr>
          <a:xfrm>
            <a:off x="3764127" y="5852160"/>
            <a:ext cx="384048" cy="384048"/>
          </a:xfrm>
          <a:prstGeom prst="rect">
            <a:avLst/>
          </a:prstGeom>
        </p:spPr>
      </p:pic>
      <p:sp>
        <p:nvSpPr>
          <p:cNvPr id="28" name="TextBox 27"/>
          <p:cNvSpPr txBox="1"/>
          <p:nvPr/>
        </p:nvSpPr>
        <p:spPr>
          <a:xfrm>
            <a:off x="3553815" y="6309360"/>
            <a:ext cx="804672" cy="274320"/>
          </a:xfrm>
          <a:prstGeom prst="rect">
            <a:avLst/>
          </a:prstGeom>
          <a:noFill/>
        </p:spPr>
        <p:txBody>
          <a:bodyPr wrap="square">
            <a:spAutoFit/>
          </a:bodyPr>
          <a:lstStyle/>
          <a:p>
            <a:pPr algn="ctr"/>
            <a:r>
              <a:rPr sz="900" b="0">
                <a:solidFill>
                  <a:srgbClr val="081E40"/>
                </a:solidFill>
              </a:rPr>
              <a:t>SQLAlchemy</a:t>
            </a:r>
          </a:p>
        </p:txBody>
      </p:sp>
      <p:pic>
        <p:nvPicPr>
          <p:cNvPr id="29" name="Picture 28" descr="postgresql.png"/>
          <p:cNvPicPr>
            <a:picLocks noChangeAspect="1"/>
          </p:cNvPicPr>
          <p:nvPr/>
        </p:nvPicPr>
        <p:blipFill>
          <a:blip r:embed="rId14"/>
          <a:stretch>
            <a:fillRect/>
          </a:stretch>
        </p:blipFill>
        <p:spPr>
          <a:xfrm>
            <a:off x="4477359" y="5852160"/>
            <a:ext cx="384048" cy="384048"/>
          </a:xfrm>
          <a:prstGeom prst="rect">
            <a:avLst/>
          </a:prstGeom>
        </p:spPr>
      </p:pic>
      <p:sp>
        <p:nvSpPr>
          <p:cNvPr id="30" name="TextBox 29"/>
          <p:cNvSpPr txBox="1"/>
          <p:nvPr/>
        </p:nvSpPr>
        <p:spPr>
          <a:xfrm>
            <a:off x="4267047" y="6309360"/>
            <a:ext cx="804672" cy="274320"/>
          </a:xfrm>
          <a:prstGeom prst="rect">
            <a:avLst/>
          </a:prstGeom>
          <a:noFill/>
        </p:spPr>
        <p:txBody>
          <a:bodyPr wrap="square">
            <a:spAutoFit/>
          </a:bodyPr>
          <a:lstStyle/>
          <a:p>
            <a:pPr algn="ctr"/>
            <a:r>
              <a:rPr sz="900" b="0">
                <a:solidFill>
                  <a:srgbClr val="081E40"/>
                </a:solidFill>
              </a:rPr>
              <a:t>PostgreSQL</a:t>
            </a:r>
          </a:p>
        </p:txBody>
      </p:sp>
      <p:pic>
        <p:nvPicPr>
          <p:cNvPr id="31" name="Picture 30" descr="supabase.png"/>
          <p:cNvPicPr>
            <a:picLocks noChangeAspect="1"/>
          </p:cNvPicPr>
          <p:nvPr/>
        </p:nvPicPr>
        <p:blipFill>
          <a:blip r:embed="rId15"/>
          <a:stretch>
            <a:fillRect/>
          </a:stretch>
        </p:blipFill>
        <p:spPr>
          <a:xfrm>
            <a:off x="5190591" y="5852160"/>
            <a:ext cx="384048" cy="384048"/>
          </a:xfrm>
          <a:prstGeom prst="rect">
            <a:avLst/>
          </a:prstGeom>
        </p:spPr>
      </p:pic>
      <p:sp>
        <p:nvSpPr>
          <p:cNvPr id="32" name="TextBox 31"/>
          <p:cNvSpPr txBox="1"/>
          <p:nvPr/>
        </p:nvSpPr>
        <p:spPr>
          <a:xfrm>
            <a:off x="4980279" y="6309360"/>
            <a:ext cx="804672" cy="274320"/>
          </a:xfrm>
          <a:prstGeom prst="rect">
            <a:avLst/>
          </a:prstGeom>
          <a:noFill/>
        </p:spPr>
        <p:txBody>
          <a:bodyPr wrap="square">
            <a:spAutoFit/>
          </a:bodyPr>
          <a:lstStyle/>
          <a:p>
            <a:pPr algn="ctr"/>
            <a:r>
              <a:rPr sz="900" b="0">
                <a:solidFill>
                  <a:srgbClr val="081E40"/>
                </a:solidFill>
              </a:rPr>
              <a:t>Supabase</a:t>
            </a:r>
          </a:p>
        </p:txBody>
      </p:sp>
      <p:pic>
        <p:nvPicPr>
          <p:cNvPr id="33" name="Picture 32" descr="gemini.png"/>
          <p:cNvPicPr>
            <a:picLocks noChangeAspect="1"/>
          </p:cNvPicPr>
          <p:nvPr/>
        </p:nvPicPr>
        <p:blipFill>
          <a:blip r:embed="rId16"/>
          <a:stretch>
            <a:fillRect/>
          </a:stretch>
        </p:blipFill>
        <p:spPr>
          <a:xfrm>
            <a:off x="5903823" y="5852160"/>
            <a:ext cx="384048" cy="384048"/>
          </a:xfrm>
          <a:prstGeom prst="rect">
            <a:avLst/>
          </a:prstGeom>
        </p:spPr>
      </p:pic>
      <p:sp>
        <p:nvSpPr>
          <p:cNvPr id="34" name="TextBox 33"/>
          <p:cNvSpPr txBox="1"/>
          <p:nvPr/>
        </p:nvSpPr>
        <p:spPr>
          <a:xfrm>
            <a:off x="5693511" y="6309360"/>
            <a:ext cx="804672" cy="274320"/>
          </a:xfrm>
          <a:prstGeom prst="rect">
            <a:avLst/>
          </a:prstGeom>
          <a:noFill/>
        </p:spPr>
        <p:txBody>
          <a:bodyPr wrap="square">
            <a:spAutoFit/>
          </a:bodyPr>
          <a:lstStyle/>
          <a:p>
            <a:pPr algn="ctr"/>
            <a:r>
              <a:rPr sz="900" b="0">
                <a:solidFill>
                  <a:srgbClr val="081E40"/>
                </a:solidFill>
              </a:rPr>
              <a:t>Gemini</a:t>
            </a:r>
          </a:p>
        </p:txBody>
      </p:sp>
      <p:pic>
        <p:nvPicPr>
          <p:cNvPr id="35" name="Picture 34" descr="matplotlib.png"/>
          <p:cNvPicPr>
            <a:picLocks noChangeAspect="1"/>
          </p:cNvPicPr>
          <p:nvPr/>
        </p:nvPicPr>
        <p:blipFill>
          <a:blip r:embed="rId17"/>
          <a:stretch>
            <a:fillRect/>
          </a:stretch>
        </p:blipFill>
        <p:spPr>
          <a:xfrm>
            <a:off x="6617055" y="5852160"/>
            <a:ext cx="384048" cy="384048"/>
          </a:xfrm>
          <a:prstGeom prst="rect">
            <a:avLst/>
          </a:prstGeom>
        </p:spPr>
      </p:pic>
      <p:sp>
        <p:nvSpPr>
          <p:cNvPr id="36" name="TextBox 35"/>
          <p:cNvSpPr txBox="1"/>
          <p:nvPr/>
        </p:nvSpPr>
        <p:spPr>
          <a:xfrm>
            <a:off x="6406743" y="6309360"/>
            <a:ext cx="804672" cy="274320"/>
          </a:xfrm>
          <a:prstGeom prst="rect">
            <a:avLst/>
          </a:prstGeom>
          <a:noFill/>
        </p:spPr>
        <p:txBody>
          <a:bodyPr wrap="square">
            <a:spAutoFit/>
          </a:bodyPr>
          <a:lstStyle/>
          <a:p>
            <a:pPr algn="ctr"/>
            <a:r>
              <a:rPr sz="900" b="0">
                <a:solidFill>
                  <a:srgbClr val="081E40"/>
                </a:solidFill>
              </a:rPr>
              <a:t>Matplotlib</a:t>
            </a:r>
          </a:p>
        </p:txBody>
      </p:sp>
      <p:pic>
        <p:nvPicPr>
          <p:cNvPr id="37" name="Picture 36" descr="seaborn.png"/>
          <p:cNvPicPr>
            <a:picLocks noChangeAspect="1"/>
          </p:cNvPicPr>
          <p:nvPr/>
        </p:nvPicPr>
        <p:blipFill>
          <a:blip r:embed="rId18"/>
          <a:stretch>
            <a:fillRect/>
          </a:stretch>
        </p:blipFill>
        <p:spPr>
          <a:xfrm>
            <a:off x="7330287" y="5852160"/>
            <a:ext cx="384048" cy="384048"/>
          </a:xfrm>
          <a:prstGeom prst="rect">
            <a:avLst/>
          </a:prstGeom>
        </p:spPr>
      </p:pic>
      <p:sp>
        <p:nvSpPr>
          <p:cNvPr id="38" name="TextBox 37"/>
          <p:cNvSpPr txBox="1"/>
          <p:nvPr/>
        </p:nvSpPr>
        <p:spPr>
          <a:xfrm>
            <a:off x="7119975" y="6309360"/>
            <a:ext cx="804672" cy="274320"/>
          </a:xfrm>
          <a:prstGeom prst="rect">
            <a:avLst/>
          </a:prstGeom>
          <a:noFill/>
        </p:spPr>
        <p:txBody>
          <a:bodyPr wrap="square">
            <a:spAutoFit/>
          </a:bodyPr>
          <a:lstStyle/>
          <a:p>
            <a:pPr algn="ctr"/>
            <a:r>
              <a:rPr sz="900" b="0">
                <a:solidFill>
                  <a:srgbClr val="081E40"/>
                </a:solidFill>
              </a:rPr>
              <a:t>seaborn</a:t>
            </a:r>
          </a:p>
        </p:txBody>
      </p:sp>
      <p:pic>
        <p:nvPicPr>
          <p:cNvPr id="39" name="Picture 38" descr="jinja.png"/>
          <p:cNvPicPr>
            <a:picLocks noChangeAspect="1"/>
          </p:cNvPicPr>
          <p:nvPr/>
        </p:nvPicPr>
        <p:blipFill>
          <a:blip r:embed="rId19"/>
          <a:stretch>
            <a:fillRect/>
          </a:stretch>
        </p:blipFill>
        <p:spPr>
          <a:xfrm>
            <a:off x="8043519" y="5852160"/>
            <a:ext cx="384048" cy="384048"/>
          </a:xfrm>
          <a:prstGeom prst="rect">
            <a:avLst/>
          </a:prstGeom>
        </p:spPr>
      </p:pic>
      <p:sp>
        <p:nvSpPr>
          <p:cNvPr id="40" name="TextBox 39"/>
          <p:cNvSpPr txBox="1"/>
          <p:nvPr/>
        </p:nvSpPr>
        <p:spPr>
          <a:xfrm>
            <a:off x="7833207" y="6309360"/>
            <a:ext cx="804672" cy="274320"/>
          </a:xfrm>
          <a:prstGeom prst="rect">
            <a:avLst/>
          </a:prstGeom>
          <a:noFill/>
        </p:spPr>
        <p:txBody>
          <a:bodyPr wrap="square">
            <a:spAutoFit/>
          </a:bodyPr>
          <a:lstStyle/>
          <a:p>
            <a:pPr algn="ctr"/>
            <a:r>
              <a:rPr sz="900" b="0">
                <a:solidFill>
                  <a:srgbClr val="081E40"/>
                </a:solidFill>
              </a:rPr>
              <a:t>Jinja</a:t>
            </a:r>
          </a:p>
        </p:txBody>
      </p:sp>
      <p:pic>
        <p:nvPicPr>
          <p:cNvPr id="41" name="Picture 40" descr="powerpoint.png"/>
          <p:cNvPicPr>
            <a:picLocks noChangeAspect="1"/>
          </p:cNvPicPr>
          <p:nvPr/>
        </p:nvPicPr>
        <p:blipFill>
          <a:blip r:embed="rId20"/>
          <a:stretch>
            <a:fillRect/>
          </a:stretch>
        </p:blipFill>
        <p:spPr>
          <a:xfrm>
            <a:off x="8756751" y="5852160"/>
            <a:ext cx="384048" cy="384048"/>
          </a:xfrm>
          <a:prstGeom prst="rect">
            <a:avLst/>
          </a:prstGeom>
        </p:spPr>
      </p:pic>
      <p:sp>
        <p:nvSpPr>
          <p:cNvPr id="42" name="TextBox 41"/>
          <p:cNvSpPr txBox="1"/>
          <p:nvPr/>
        </p:nvSpPr>
        <p:spPr>
          <a:xfrm>
            <a:off x="8546439" y="6309360"/>
            <a:ext cx="804672" cy="274320"/>
          </a:xfrm>
          <a:prstGeom prst="rect">
            <a:avLst/>
          </a:prstGeom>
          <a:noFill/>
        </p:spPr>
        <p:txBody>
          <a:bodyPr wrap="square">
            <a:spAutoFit/>
          </a:bodyPr>
          <a:lstStyle/>
          <a:p>
            <a:pPr algn="ctr"/>
            <a:r>
              <a:rPr sz="900" b="0">
                <a:solidFill>
                  <a:srgbClr val="081E40"/>
                </a:solidFill>
              </a:rPr>
              <a:t>PowerPoint</a:t>
            </a:r>
          </a:p>
        </p:txBody>
      </p:sp>
      <p:pic>
        <p:nvPicPr>
          <p:cNvPr id="43" name="Picture 42" descr="githubactions.png"/>
          <p:cNvPicPr>
            <a:picLocks noChangeAspect="1"/>
          </p:cNvPicPr>
          <p:nvPr/>
        </p:nvPicPr>
        <p:blipFill>
          <a:blip r:embed="rId21"/>
          <a:stretch>
            <a:fillRect/>
          </a:stretch>
        </p:blipFill>
        <p:spPr>
          <a:xfrm>
            <a:off x="9469983" y="5852160"/>
            <a:ext cx="384048" cy="384048"/>
          </a:xfrm>
          <a:prstGeom prst="rect">
            <a:avLst/>
          </a:prstGeom>
        </p:spPr>
      </p:pic>
      <p:sp>
        <p:nvSpPr>
          <p:cNvPr id="44" name="TextBox 43"/>
          <p:cNvSpPr txBox="1"/>
          <p:nvPr/>
        </p:nvSpPr>
        <p:spPr>
          <a:xfrm>
            <a:off x="9259671" y="6309360"/>
            <a:ext cx="804672" cy="274320"/>
          </a:xfrm>
          <a:prstGeom prst="rect">
            <a:avLst/>
          </a:prstGeom>
          <a:noFill/>
        </p:spPr>
        <p:txBody>
          <a:bodyPr wrap="square">
            <a:spAutoFit/>
          </a:bodyPr>
          <a:lstStyle/>
          <a:p>
            <a:pPr algn="ctr"/>
            <a:r>
              <a:rPr sz="900" b="0">
                <a:solidFill>
                  <a:srgbClr val="081E40"/>
                </a:solidFill>
              </a:rPr>
              <a:t>GitHub Actions</a:t>
            </a:r>
          </a:p>
        </p:txBody>
      </p:sp>
      <p:pic>
        <p:nvPicPr>
          <p:cNvPr id="45" name="Picture 44" descr="cloudflare.png"/>
          <p:cNvPicPr>
            <a:picLocks noChangeAspect="1"/>
          </p:cNvPicPr>
          <p:nvPr/>
        </p:nvPicPr>
        <p:blipFill>
          <a:blip r:embed="rId22"/>
          <a:stretch>
            <a:fillRect/>
          </a:stretch>
        </p:blipFill>
        <p:spPr>
          <a:xfrm>
            <a:off x="10183215" y="5852160"/>
            <a:ext cx="384048" cy="384048"/>
          </a:xfrm>
          <a:prstGeom prst="rect">
            <a:avLst/>
          </a:prstGeom>
        </p:spPr>
      </p:pic>
      <p:sp>
        <p:nvSpPr>
          <p:cNvPr id="46" name="TextBox 45"/>
          <p:cNvSpPr txBox="1"/>
          <p:nvPr/>
        </p:nvSpPr>
        <p:spPr>
          <a:xfrm>
            <a:off x="9972903" y="6309360"/>
            <a:ext cx="804672" cy="274320"/>
          </a:xfrm>
          <a:prstGeom prst="rect">
            <a:avLst/>
          </a:prstGeom>
          <a:noFill/>
        </p:spPr>
        <p:txBody>
          <a:bodyPr wrap="square">
            <a:spAutoFit/>
          </a:bodyPr>
          <a:lstStyle/>
          <a:p>
            <a:pPr algn="ctr"/>
            <a:r>
              <a:rPr sz="900" b="0">
                <a:solidFill>
                  <a:srgbClr val="081E40"/>
                </a:solidFill>
              </a:rPr>
              <a:t>Cloudflare</a:t>
            </a:r>
          </a:p>
        </p:txBody>
      </p:sp>
      <p:pic>
        <p:nvPicPr>
          <p:cNvPr id="47" name="Picture 46" descr="pytest.png"/>
          <p:cNvPicPr>
            <a:picLocks noChangeAspect="1"/>
          </p:cNvPicPr>
          <p:nvPr/>
        </p:nvPicPr>
        <p:blipFill>
          <a:blip r:embed="rId23"/>
          <a:stretch>
            <a:fillRect/>
          </a:stretch>
        </p:blipFill>
        <p:spPr>
          <a:xfrm>
            <a:off x="10896447" y="5852160"/>
            <a:ext cx="384048" cy="384048"/>
          </a:xfrm>
          <a:prstGeom prst="rect">
            <a:avLst/>
          </a:prstGeom>
        </p:spPr>
      </p:pic>
      <p:sp>
        <p:nvSpPr>
          <p:cNvPr id="48" name="TextBox 47"/>
          <p:cNvSpPr txBox="1"/>
          <p:nvPr/>
        </p:nvSpPr>
        <p:spPr>
          <a:xfrm>
            <a:off x="10686135" y="6309360"/>
            <a:ext cx="804672" cy="274320"/>
          </a:xfrm>
          <a:prstGeom prst="rect">
            <a:avLst/>
          </a:prstGeom>
          <a:noFill/>
        </p:spPr>
        <p:txBody>
          <a:bodyPr wrap="square">
            <a:spAutoFit/>
          </a:bodyPr>
          <a:lstStyle/>
          <a:p>
            <a:pPr algn="ctr"/>
            <a:r>
              <a:rPr sz="900" b="0">
                <a:solidFill>
                  <a:srgbClr val="081E40"/>
                </a:solidFill>
              </a:rPr>
              <a:t>pytest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91695" cy="822960"/>
          </a:xfrm>
          <a:prstGeom prst="rect">
            <a:avLst/>
          </a:prstGeom>
          <a:gradFill rotWithShape="1">
            <a:gsLst>
              <a:gs pos="0">
                <a:srgbClr val="081E40"/>
              </a:gs>
              <a:gs pos="100000">
                <a:srgbClr val="163A6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45720"/>
          </a:xfrm>
          <a:prstGeom prst="rect">
            <a:avLst/>
          </a:prstGeom>
          <a:solidFill>
            <a:srgbClr val="697E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8686800" cy="548640"/>
          </a:xfrm>
          <a:prstGeom prst="rect">
            <a:avLst/>
          </a:prstGeom>
          <a:noFill/>
        </p:spPr>
        <p:txBody>
          <a:bodyPr wrap="square">
            <a:spAutoFit/>
          </a:bodyPr>
          <a:lstStyle/>
          <a:p>
            <a:pPr algn="l"/>
            <a:r>
              <a:rPr sz="2400">
                <a:latin typeface="Segoe UI Emoji"/>
              </a:rPr>
              <a:t>📋 </a:t>
            </a:r>
            <a:r>
              <a:rPr sz="2600" b="1">
                <a:solidFill>
                  <a:srgbClr val="FFFFFF"/>
                </a:solidFill>
              </a:rPr>
              <a:t>Tablero del día</a:t>
            </a:r>
          </a:p>
        </p:txBody>
      </p:sp>
      <p:sp>
        <p:nvSpPr>
          <p:cNvPr id="5" name="TextBox 4"/>
          <p:cNvSpPr txBox="1"/>
          <p:nvPr/>
        </p:nvSpPr>
        <p:spPr>
          <a:xfrm>
            <a:off x="9509760" y="228600"/>
            <a:ext cx="2377440" cy="457200"/>
          </a:xfrm>
          <a:prstGeom prst="rect">
            <a:avLst/>
          </a:prstGeom>
          <a:noFill/>
        </p:spPr>
        <p:txBody>
          <a:bodyPr wrap="square">
            <a:spAutoFit/>
          </a:bodyPr>
          <a:lstStyle/>
          <a:p>
            <a:pPr algn="r"/>
            <a:r>
              <a:rPr sz="1600" b="0">
                <a:solidFill>
                  <a:srgbClr val="FFFFFF"/>
                </a:solidFill>
              </a:rPr>
              <a:t>30/10/2026</a:t>
            </a:r>
          </a:p>
        </p:txBody>
      </p:sp>
      <p:sp>
        <p:nvSpPr>
          <p:cNvPr id="6" name="TextBox 5"/>
          <p:cNvSpPr txBox="1"/>
          <p:nvPr/>
        </p:nvSpPr>
        <p:spPr>
          <a:xfrm>
            <a:off x="411480" y="6473952"/>
            <a:ext cx="8229600" cy="274320"/>
          </a:xfrm>
          <a:prstGeom prst="rect">
            <a:avLst/>
          </a:prstGeom>
          <a:noFill/>
        </p:spPr>
        <p:txBody>
          <a:bodyPr wrap="square">
            <a:spAutoFit/>
          </a:bodyPr>
          <a:lstStyle/>
          <a:p>
            <a:pPr algn="l"/>
            <a:r>
              <a:rPr sz="1000" b="0">
                <a:solidFill>
                  <a:srgbClr val="5D6D7E"/>
                </a:solidFill>
              </a:rPr>
              <a:t>Reporte Macroeconómico · Mauro E. Martinez · GlobalAIze</a:t>
            </a:r>
          </a:p>
        </p:txBody>
      </p:sp>
      <p:sp>
        <p:nvSpPr>
          <p:cNvPr id="7" name="TextBox 6"/>
          <p:cNvSpPr txBox="1"/>
          <p:nvPr/>
        </p:nvSpPr>
        <p:spPr>
          <a:xfrm>
            <a:off x="10881360" y="6473952"/>
            <a:ext cx="914400" cy="274320"/>
          </a:xfrm>
          <a:prstGeom prst="rect">
            <a:avLst/>
          </a:prstGeom>
          <a:noFill/>
        </p:spPr>
        <p:txBody>
          <a:bodyPr wrap="square">
            <a:spAutoFit/>
          </a:bodyPr>
          <a:lstStyle/>
          <a:p>
            <a:pPr algn="r"/>
            <a:r>
              <a:rPr sz="1000" b="0">
                <a:solidFill>
                  <a:srgbClr val="5D6D7E"/>
                </a:solidFill>
              </a:rPr>
              <a:t>2</a:t>
            </a:r>
          </a:p>
        </p:txBody>
      </p:sp>
      <p:sp>
        <p:nvSpPr>
          <p:cNvPr id="8" name="Rounded Rectangle 7"/>
          <p:cNvSpPr/>
          <p:nvPr/>
        </p:nvSpPr>
        <p:spPr>
          <a:xfrm>
            <a:off x="411480" y="1280160"/>
            <a:ext cx="3566160" cy="146304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11480" y="1389888"/>
            <a:ext cx="64008" cy="1243584"/>
          </a:xfrm>
          <a:prstGeom prst="rect">
            <a:avLst/>
          </a:prstGeom>
          <a:solidFill>
            <a:srgbClr val="16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71600"/>
            <a:ext cx="3200400" cy="365760"/>
          </a:xfrm>
          <a:prstGeom prst="rect">
            <a:avLst/>
          </a:prstGeom>
          <a:noFill/>
        </p:spPr>
        <p:txBody>
          <a:bodyPr wrap="square">
            <a:spAutoFit/>
          </a:bodyPr>
          <a:lstStyle/>
          <a:p>
            <a:pPr algn="l"/>
            <a:r>
              <a:rPr sz="1300" b="1">
                <a:solidFill>
                  <a:srgbClr val="5D6D7E"/>
                </a:solidFill>
              </a:rPr>
              <a:t>DÓLAR BLUE</a:t>
            </a:r>
          </a:p>
        </p:txBody>
      </p:sp>
      <p:sp>
        <p:nvSpPr>
          <p:cNvPr id="11" name="TextBox 10"/>
          <p:cNvSpPr txBox="1"/>
          <p:nvPr/>
        </p:nvSpPr>
        <p:spPr>
          <a:xfrm>
            <a:off x="640080" y="1664208"/>
            <a:ext cx="3200400" cy="548640"/>
          </a:xfrm>
          <a:prstGeom prst="rect">
            <a:avLst/>
          </a:prstGeom>
          <a:noFill/>
        </p:spPr>
        <p:txBody>
          <a:bodyPr wrap="square">
            <a:spAutoFit/>
          </a:bodyPr>
          <a:lstStyle/>
          <a:p>
            <a:pPr algn="l"/>
            <a:r>
              <a:rPr sz="3200" b="1">
                <a:solidFill>
                  <a:srgbClr val="163A6B"/>
                </a:solidFill>
              </a:rPr>
              <a:t>$ 1.565,00</a:t>
            </a:r>
          </a:p>
        </p:txBody>
      </p:sp>
      <p:sp>
        <p:nvSpPr>
          <p:cNvPr id="12" name="TextBox 11"/>
          <p:cNvSpPr txBox="1"/>
          <p:nvPr/>
        </p:nvSpPr>
        <p:spPr>
          <a:xfrm>
            <a:off x="640080" y="2267712"/>
            <a:ext cx="3200400" cy="365760"/>
          </a:xfrm>
          <a:prstGeom prst="rect">
            <a:avLst/>
          </a:prstGeom>
          <a:noFill/>
        </p:spPr>
        <p:txBody>
          <a:bodyPr wrap="square">
            <a:spAutoFit/>
          </a:bodyPr>
          <a:lstStyle/>
          <a:p>
            <a:pPr algn="l"/>
            <a:r>
              <a:rPr sz="1400" b="0">
                <a:solidFill>
                  <a:srgbClr val="5D6D7E"/>
                </a:solidFill>
              </a:rPr>
              <a:t>+0,00% contra la rueda anterior</a:t>
            </a:r>
          </a:p>
        </p:txBody>
      </p:sp>
      <p:sp>
        <p:nvSpPr>
          <p:cNvPr id="13" name="Rounded Rectangle 12"/>
          <p:cNvSpPr/>
          <p:nvPr/>
        </p:nvSpPr>
        <p:spPr>
          <a:xfrm>
            <a:off x="4251960" y="1280160"/>
            <a:ext cx="3566160" cy="146304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251960" y="1389888"/>
            <a:ext cx="64008" cy="124358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80560" y="1371600"/>
            <a:ext cx="3200400" cy="365760"/>
          </a:xfrm>
          <a:prstGeom prst="rect">
            <a:avLst/>
          </a:prstGeom>
          <a:noFill/>
        </p:spPr>
        <p:txBody>
          <a:bodyPr wrap="square">
            <a:spAutoFit/>
          </a:bodyPr>
          <a:lstStyle/>
          <a:p>
            <a:pPr algn="l"/>
            <a:r>
              <a:rPr sz="1300" b="1">
                <a:solidFill>
                  <a:srgbClr val="5D6D7E"/>
                </a:solidFill>
              </a:rPr>
              <a:t>DÓLAR MEP</a:t>
            </a:r>
          </a:p>
        </p:txBody>
      </p:sp>
      <p:sp>
        <p:nvSpPr>
          <p:cNvPr id="16" name="TextBox 15"/>
          <p:cNvSpPr txBox="1"/>
          <p:nvPr/>
        </p:nvSpPr>
        <p:spPr>
          <a:xfrm>
            <a:off x="4480560" y="1664208"/>
            <a:ext cx="3200400" cy="548640"/>
          </a:xfrm>
          <a:prstGeom prst="rect">
            <a:avLst/>
          </a:prstGeom>
          <a:noFill/>
        </p:spPr>
        <p:txBody>
          <a:bodyPr wrap="square">
            <a:spAutoFit/>
          </a:bodyPr>
          <a:lstStyle/>
          <a:p>
            <a:pPr algn="l"/>
            <a:r>
              <a:rPr sz="3200" b="1">
                <a:solidFill>
                  <a:srgbClr val="163A6B"/>
                </a:solidFill>
              </a:rPr>
              <a:t>$ 1.568,96</a:t>
            </a:r>
          </a:p>
        </p:txBody>
      </p:sp>
      <p:sp>
        <p:nvSpPr>
          <p:cNvPr id="17" name="TextBox 16"/>
          <p:cNvSpPr txBox="1"/>
          <p:nvPr/>
        </p:nvSpPr>
        <p:spPr>
          <a:xfrm>
            <a:off x="4480560" y="2267712"/>
            <a:ext cx="3200400" cy="365760"/>
          </a:xfrm>
          <a:prstGeom prst="rect">
            <a:avLst/>
          </a:prstGeom>
          <a:noFill/>
        </p:spPr>
        <p:txBody>
          <a:bodyPr wrap="square">
            <a:spAutoFit/>
          </a:bodyPr>
          <a:lstStyle/>
          <a:p>
            <a:pPr algn="l"/>
            <a:r>
              <a:rPr sz="1400" b="0">
                <a:solidFill>
                  <a:srgbClr val="C0392B"/>
                </a:solidFill>
              </a:rPr>
              <a:t>+0,18% contra la rueda anterior</a:t>
            </a:r>
          </a:p>
        </p:txBody>
      </p:sp>
      <p:sp>
        <p:nvSpPr>
          <p:cNvPr id="18" name="Rounded Rectangle 17"/>
          <p:cNvSpPr/>
          <p:nvPr/>
        </p:nvSpPr>
        <p:spPr>
          <a:xfrm>
            <a:off x="8092440" y="1280160"/>
            <a:ext cx="3566160" cy="146304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92440" y="1389888"/>
            <a:ext cx="64008" cy="1243584"/>
          </a:xfrm>
          <a:prstGeom prst="rect">
            <a:avLst/>
          </a:prstGeom>
          <a:solidFill>
            <a:srgbClr val="16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0" y="1371600"/>
            <a:ext cx="3200400" cy="365760"/>
          </a:xfrm>
          <a:prstGeom prst="rect">
            <a:avLst/>
          </a:prstGeom>
          <a:noFill/>
        </p:spPr>
        <p:txBody>
          <a:bodyPr wrap="square">
            <a:spAutoFit/>
          </a:bodyPr>
          <a:lstStyle/>
          <a:p>
            <a:pPr algn="l"/>
            <a:r>
              <a:rPr sz="1300" b="1">
                <a:solidFill>
                  <a:srgbClr val="5D6D7E"/>
                </a:solidFill>
              </a:rPr>
              <a:t>BILLETE BNA</a:t>
            </a:r>
          </a:p>
        </p:txBody>
      </p:sp>
      <p:sp>
        <p:nvSpPr>
          <p:cNvPr id="21" name="TextBox 20"/>
          <p:cNvSpPr txBox="1"/>
          <p:nvPr/>
        </p:nvSpPr>
        <p:spPr>
          <a:xfrm>
            <a:off x="8321040" y="1664208"/>
            <a:ext cx="3200400" cy="548640"/>
          </a:xfrm>
          <a:prstGeom prst="rect">
            <a:avLst/>
          </a:prstGeom>
          <a:noFill/>
        </p:spPr>
        <p:txBody>
          <a:bodyPr wrap="square">
            <a:spAutoFit/>
          </a:bodyPr>
          <a:lstStyle/>
          <a:p>
            <a:pPr algn="l"/>
            <a:r>
              <a:rPr sz="3200" b="1">
                <a:solidFill>
                  <a:srgbClr val="163A6B"/>
                </a:solidFill>
              </a:rPr>
              <a:t>$ 1.560,00</a:t>
            </a:r>
          </a:p>
        </p:txBody>
      </p:sp>
      <p:sp>
        <p:nvSpPr>
          <p:cNvPr id="22" name="TextBox 21"/>
          <p:cNvSpPr txBox="1"/>
          <p:nvPr/>
        </p:nvSpPr>
        <p:spPr>
          <a:xfrm>
            <a:off x="8321040" y="2267712"/>
            <a:ext cx="3200400" cy="365760"/>
          </a:xfrm>
          <a:prstGeom prst="rect">
            <a:avLst/>
          </a:prstGeom>
          <a:noFill/>
        </p:spPr>
        <p:txBody>
          <a:bodyPr wrap="square">
            <a:spAutoFit/>
          </a:bodyPr>
          <a:lstStyle/>
          <a:p>
            <a:pPr algn="l"/>
            <a:r>
              <a:rPr sz="1400" b="0">
                <a:solidFill>
                  <a:srgbClr val="5D6D7E"/>
                </a:solidFill>
              </a:rPr>
              <a:t>+0,00% contra la rueda anterior</a:t>
            </a:r>
          </a:p>
        </p:txBody>
      </p:sp>
      <p:sp>
        <p:nvSpPr>
          <p:cNvPr id="23" name="Rounded Rectangle 22"/>
          <p:cNvSpPr/>
          <p:nvPr/>
        </p:nvSpPr>
        <p:spPr>
          <a:xfrm>
            <a:off x="411480" y="3108960"/>
            <a:ext cx="3566160" cy="146304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11480" y="3218688"/>
            <a:ext cx="64008" cy="1243584"/>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3200400"/>
            <a:ext cx="3200400" cy="365760"/>
          </a:xfrm>
          <a:prstGeom prst="rect">
            <a:avLst/>
          </a:prstGeom>
          <a:noFill/>
        </p:spPr>
        <p:txBody>
          <a:bodyPr wrap="square">
            <a:spAutoFit/>
          </a:bodyPr>
          <a:lstStyle/>
          <a:p>
            <a:pPr algn="l"/>
            <a:r>
              <a:rPr sz="1300" b="1">
                <a:solidFill>
                  <a:srgbClr val="5D6D7E"/>
                </a:solidFill>
              </a:rPr>
              <a:t>RIESGO PAÍS</a:t>
            </a:r>
          </a:p>
        </p:txBody>
      </p:sp>
      <p:sp>
        <p:nvSpPr>
          <p:cNvPr id="26" name="TextBox 25"/>
          <p:cNvSpPr txBox="1"/>
          <p:nvPr/>
        </p:nvSpPr>
        <p:spPr>
          <a:xfrm>
            <a:off x="640080" y="3493008"/>
            <a:ext cx="3200400" cy="548640"/>
          </a:xfrm>
          <a:prstGeom prst="rect">
            <a:avLst/>
          </a:prstGeom>
          <a:noFill/>
        </p:spPr>
        <p:txBody>
          <a:bodyPr wrap="square">
            <a:spAutoFit/>
          </a:bodyPr>
          <a:lstStyle/>
          <a:p>
            <a:pPr algn="l"/>
            <a:r>
              <a:rPr sz="3200" b="1">
                <a:solidFill>
                  <a:srgbClr val="163A6B"/>
                </a:solidFill>
              </a:rPr>
              <a:t>741 pts</a:t>
            </a:r>
          </a:p>
        </p:txBody>
      </p:sp>
      <p:sp>
        <p:nvSpPr>
          <p:cNvPr id="27" name="TextBox 26"/>
          <p:cNvSpPr txBox="1"/>
          <p:nvPr/>
        </p:nvSpPr>
        <p:spPr>
          <a:xfrm>
            <a:off x="640080" y="4096512"/>
            <a:ext cx="3200400" cy="365760"/>
          </a:xfrm>
          <a:prstGeom prst="rect">
            <a:avLst/>
          </a:prstGeom>
          <a:noFill/>
        </p:spPr>
        <p:txBody>
          <a:bodyPr wrap="square">
            <a:spAutoFit/>
          </a:bodyPr>
          <a:lstStyle/>
          <a:p>
            <a:pPr algn="l"/>
            <a:r>
              <a:rPr sz="1400" b="0">
                <a:solidFill>
                  <a:srgbClr val="1E8449"/>
                </a:solidFill>
              </a:rPr>
              <a:t>-22 pts contra la rueda anterior</a:t>
            </a:r>
          </a:p>
        </p:txBody>
      </p:sp>
      <p:sp>
        <p:nvSpPr>
          <p:cNvPr id="28" name="Rounded Rectangle 27"/>
          <p:cNvSpPr/>
          <p:nvPr/>
        </p:nvSpPr>
        <p:spPr>
          <a:xfrm>
            <a:off x="4251960" y="3108960"/>
            <a:ext cx="3566160" cy="146304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251960" y="3218688"/>
            <a:ext cx="64008" cy="1243584"/>
          </a:xfrm>
          <a:prstGeom prst="rect">
            <a:avLst/>
          </a:prstGeom>
          <a:solidFill>
            <a:srgbClr val="16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80560" y="3200400"/>
            <a:ext cx="3200400" cy="365760"/>
          </a:xfrm>
          <a:prstGeom prst="rect">
            <a:avLst/>
          </a:prstGeom>
          <a:noFill/>
        </p:spPr>
        <p:txBody>
          <a:bodyPr wrap="square">
            <a:spAutoFit/>
          </a:bodyPr>
          <a:lstStyle/>
          <a:p>
            <a:pPr algn="l"/>
            <a:r>
              <a:rPr sz="1300" b="1">
                <a:solidFill>
                  <a:srgbClr val="5D6D7E"/>
                </a:solidFill>
              </a:rPr>
              <a:t>BADLAR (TEA)</a:t>
            </a:r>
          </a:p>
        </p:txBody>
      </p:sp>
      <p:sp>
        <p:nvSpPr>
          <p:cNvPr id="31" name="TextBox 30"/>
          <p:cNvSpPr txBox="1"/>
          <p:nvPr/>
        </p:nvSpPr>
        <p:spPr>
          <a:xfrm>
            <a:off x="4480560" y="3493008"/>
            <a:ext cx="3200400" cy="548640"/>
          </a:xfrm>
          <a:prstGeom prst="rect">
            <a:avLst/>
          </a:prstGeom>
          <a:noFill/>
        </p:spPr>
        <p:txBody>
          <a:bodyPr wrap="square">
            <a:spAutoFit/>
          </a:bodyPr>
          <a:lstStyle/>
          <a:p>
            <a:pPr algn="l"/>
            <a:r>
              <a:rPr sz="3200" b="1">
                <a:solidFill>
                  <a:srgbClr val="163A6B"/>
                </a:solidFill>
              </a:rPr>
              <a:t>24,58%</a:t>
            </a:r>
          </a:p>
        </p:txBody>
      </p:sp>
      <p:sp>
        <p:nvSpPr>
          <p:cNvPr id="32" name="TextBox 31"/>
          <p:cNvSpPr txBox="1"/>
          <p:nvPr/>
        </p:nvSpPr>
        <p:spPr>
          <a:xfrm>
            <a:off x="4480560" y="4096512"/>
            <a:ext cx="3200400" cy="365760"/>
          </a:xfrm>
          <a:prstGeom prst="rect">
            <a:avLst/>
          </a:prstGeom>
          <a:noFill/>
        </p:spPr>
        <p:txBody>
          <a:bodyPr wrap="square">
            <a:spAutoFit/>
          </a:bodyPr>
          <a:lstStyle/>
          <a:p>
            <a:pPr algn="l"/>
            <a:r>
              <a:rPr sz="1400" b="0">
                <a:solidFill>
                  <a:srgbClr val="5D6D7E"/>
                </a:solidFill>
              </a:rPr>
              <a:t>FED (EFFR): 3,88%</a:t>
            </a:r>
          </a:p>
        </p:txBody>
      </p:sp>
      <p:sp>
        <p:nvSpPr>
          <p:cNvPr id="33" name="Rounded Rectangle 32"/>
          <p:cNvSpPr/>
          <p:nvPr/>
        </p:nvSpPr>
        <p:spPr>
          <a:xfrm>
            <a:off x="8092440" y="3108960"/>
            <a:ext cx="3566160" cy="146304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092440" y="3218688"/>
            <a:ext cx="64008" cy="1243584"/>
          </a:xfrm>
          <a:prstGeom prst="rect">
            <a:avLst/>
          </a:prstGeom>
          <a:solidFill>
            <a:srgbClr val="163A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21040" y="3200400"/>
            <a:ext cx="3200400" cy="365760"/>
          </a:xfrm>
          <a:prstGeom prst="rect">
            <a:avLst/>
          </a:prstGeom>
          <a:noFill/>
        </p:spPr>
        <p:txBody>
          <a:bodyPr wrap="square">
            <a:spAutoFit/>
          </a:bodyPr>
          <a:lstStyle/>
          <a:p>
            <a:pPr algn="l"/>
            <a:r>
              <a:rPr sz="1300" b="1">
                <a:solidFill>
                  <a:srgbClr val="5D6D7E"/>
                </a:solidFill>
              </a:rPr>
              <a:t>FORWARD OFICIAL 3 MESES</a:t>
            </a:r>
          </a:p>
        </p:txBody>
      </p:sp>
      <p:sp>
        <p:nvSpPr>
          <p:cNvPr id="36" name="TextBox 35"/>
          <p:cNvSpPr txBox="1"/>
          <p:nvPr/>
        </p:nvSpPr>
        <p:spPr>
          <a:xfrm>
            <a:off x="8321040" y="3493008"/>
            <a:ext cx="3200400" cy="548640"/>
          </a:xfrm>
          <a:prstGeom prst="rect">
            <a:avLst/>
          </a:prstGeom>
          <a:noFill/>
        </p:spPr>
        <p:txBody>
          <a:bodyPr wrap="square">
            <a:spAutoFit/>
          </a:bodyPr>
          <a:lstStyle/>
          <a:p>
            <a:pPr algn="l"/>
            <a:r>
              <a:rPr sz="3200" b="1">
                <a:solidFill>
                  <a:srgbClr val="163A6B"/>
                </a:solidFill>
              </a:rPr>
              <a:t>$ 1.870,80</a:t>
            </a:r>
          </a:p>
        </p:txBody>
      </p:sp>
      <p:sp>
        <p:nvSpPr>
          <p:cNvPr id="37" name="TextBox 36"/>
          <p:cNvSpPr txBox="1"/>
          <p:nvPr/>
        </p:nvSpPr>
        <p:spPr>
          <a:xfrm>
            <a:off x="8321040" y="4096512"/>
            <a:ext cx="3200400" cy="365760"/>
          </a:xfrm>
          <a:prstGeom prst="rect">
            <a:avLst/>
          </a:prstGeom>
          <a:noFill/>
        </p:spPr>
        <p:txBody>
          <a:bodyPr wrap="square">
            <a:spAutoFit/>
          </a:bodyPr>
          <a:lstStyle/>
          <a:p>
            <a:pPr algn="l"/>
            <a:r>
              <a:rPr sz="1400" b="0">
                <a:solidFill>
                  <a:srgbClr val="5D6D7E"/>
                </a:solidFill>
              </a:rPr>
              <a:t>Forward blue: $ 1.876,79</a:t>
            </a:r>
          </a:p>
        </p:txBody>
      </p:sp>
      <p:sp>
        <p:nvSpPr>
          <p:cNvPr id="38" name="Rounded Rectangle 37"/>
          <p:cNvSpPr/>
          <p:nvPr/>
        </p:nvSpPr>
        <p:spPr>
          <a:xfrm>
            <a:off x="411480" y="4892040"/>
            <a:ext cx="11338560" cy="128016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4360" y="4983480"/>
            <a:ext cx="10972800" cy="1097280"/>
          </a:xfrm>
          <a:prstGeom prst="rect">
            <a:avLst/>
          </a:prstGeom>
          <a:noFill/>
        </p:spPr>
        <p:txBody>
          <a:bodyPr wrap="square">
            <a:spAutoFit/>
          </a:bodyPr>
          <a:lstStyle/>
          <a:p>
            <a:pPr algn="l"/>
            <a:r>
              <a:rPr sz="1500" b="0">
                <a:solidFill>
                  <a:srgbClr val="5D6D7E"/>
                </a:solidFill>
              </a:rPr>
              <a:t>Comprar USD 100 al oficial con impuestos (solidario) sale $ 46.300,00 más caro que en el blue: el solidario está 29,58% por encima del blue.</a:t>
            </a:r>
          </a:p>
          <a:p>
            <a:pPr algn="l"/>
            <a:r>
              <a:rPr sz="1500" b="0">
                <a:solidFill>
                  <a:srgbClr val="5D6D7E"/>
                </a:solidFill>
              </a:rPr>
              <a:t>Verde: bajó contra la rueda anterior; rojo: subió. Desde la macro, que el dólar y el riesgo país bajen es la buena noticia.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91695" cy="822960"/>
          </a:xfrm>
          <a:prstGeom prst="rect">
            <a:avLst/>
          </a:prstGeom>
          <a:gradFill rotWithShape="1">
            <a:gsLst>
              <a:gs pos="0">
                <a:srgbClr val="081E40"/>
              </a:gs>
              <a:gs pos="100000">
                <a:srgbClr val="163A6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45720"/>
          </a:xfrm>
          <a:prstGeom prst="rect">
            <a:avLst/>
          </a:prstGeom>
          <a:solidFill>
            <a:srgbClr val="697E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8686800" cy="548640"/>
          </a:xfrm>
          <a:prstGeom prst="rect">
            <a:avLst/>
          </a:prstGeom>
          <a:noFill/>
        </p:spPr>
        <p:txBody>
          <a:bodyPr wrap="square">
            <a:spAutoFit/>
          </a:bodyPr>
          <a:lstStyle/>
          <a:p>
            <a:pPr algn="l"/>
            <a:r>
              <a:rPr sz="2400">
                <a:latin typeface="Segoe UI Emoji"/>
              </a:rPr>
              <a:t>💵 </a:t>
            </a:r>
            <a:r>
              <a:rPr sz="2600" b="1">
                <a:solidFill>
                  <a:srgbClr val="FFFFFF"/>
                </a:solidFill>
              </a:rPr>
              <a:t>Tipos de cambio</a:t>
            </a:r>
          </a:p>
        </p:txBody>
      </p:sp>
      <p:sp>
        <p:nvSpPr>
          <p:cNvPr id="5" name="TextBox 4"/>
          <p:cNvSpPr txBox="1"/>
          <p:nvPr/>
        </p:nvSpPr>
        <p:spPr>
          <a:xfrm>
            <a:off x="9509760" y="228600"/>
            <a:ext cx="2377440" cy="457200"/>
          </a:xfrm>
          <a:prstGeom prst="rect">
            <a:avLst/>
          </a:prstGeom>
          <a:noFill/>
        </p:spPr>
        <p:txBody>
          <a:bodyPr wrap="square">
            <a:spAutoFit/>
          </a:bodyPr>
          <a:lstStyle/>
          <a:p>
            <a:pPr algn="r"/>
            <a:r>
              <a:rPr sz="1600" b="0">
                <a:solidFill>
                  <a:srgbClr val="FFFFFF"/>
                </a:solidFill>
              </a:rPr>
              <a:t>30/10/2026</a:t>
            </a:r>
          </a:p>
        </p:txBody>
      </p:sp>
      <p:sp>
        <p:nvSpPr>
          <p:cNvPr id="6" name="TextBox 5"/>
          <p:cNvSpPr txBox="1"/>
          <p:nvPr/>
        </p:nvSpPr>
        <p:spPr>
          <a:xfrm>
            <a:off x="411480" y="6473952"/>
            <a:ext cx="8229600" cy="274320"/>
          </a:xfrm>
          <a:prstGeom prst="rect">
            <a:avLst/>
          </a:prstGeom>
          <a:noFill/>
        </p:spPr>
        <p:txBody>
          <a:bodyPr wrap="square">
            <a:spAutoFit/>
          </a:bodyPr>
          <a:lstStyle/>
          <a:p>
            <a:pPr algn="l"/>
            <a:r>
              <a:rPr sz="1000" b="0">
                <a:solidFill>
                  <a:srgbClr val="5D6D7E"/>
                </a:solidFill>
              </a:rPr>
              <a:t>Reporte Macroeconómico · Mauro E. Martinez · GlobalAIze</a:t>
            </a:r>
          </a:p>
        </p:txBody>
      </p:sp>
      <p:sp>
        <p:nvSpPr>
          <p:cNvPr id="7" name="TextBox 6"/>
          <p:cNvSpPr txBox="1"/>
          <p:nvPr/>
        </p:nvSpPr>
        <p:spPr>
          <a:xfrm>
            <a:off x="10881360" y="6473952"/>
            <a:ext cx="914400" cy="274320"/>
          </a:xfrm>
          <a:prstGeom prst="rect">
            <a:avLst/>
          </a:prstGeom>
          <a:noFill/>
        </p:spPr>
        <p:txBody>
          <a:bodyPr wrap="square">
            <a:spAutoFit/>
          </a:bodyPr>
          <a:lstStyle/>
          <a:p>
            <a:pPr algn="r"/>
            <a:r>
              <a:rPr sz="1000" b="0">
                <a:solidFill>
                  <a:srgbClr val="5D6D7E"/>
                </a:solidFill>
              </a:rPr>
              <a:t>3</a:t>
            </a:r>
          </a:p>
        </p:txBody>
      </p:sp>
      <p:sp>
        <p:nvSpPr>
          <p:cNvPr id="8" name="Rounded Rectangle 7"/>
          <p:cNvSpPr/>
          <p:nvPr/>
        </p:nvSpPr>
        <p:spPr>
          <a:xfrm>
            <a:off x="411480" y="1024128"/>
            <a:ext cx="11365992" cy="1143000"/>
          </a:xfrm>
          <a:prstGeom prst="roundRect">
            <a:avLst>
              <a:gd name="adj" fmla="val 4000"/>
            </a:avLst>
          </a:prstGeom>
          <a:solidFill>
            <a:srgbClr val="081E40"/>
          </a:solidFill>
          <a:ln w="12700">
            <a:solidFill>
              <a:srgbClr val="697E91"/>
            </a:solidFill>
          </a:ln>
          <a:effectLst>
            <a:outerShdw blurRad="177800" dist="63500" dir="5400000" algn="t" rotWithShape="0">
              <a:srgbClr val="081E4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097280"/>
            <a:ext cx="11045952" cy="1005840"/>
          </a:xfrm>
          <a:prstGeom prst="rect">
            <a:avLst/>
          </a:prstGeom>
          <a:noFill/>
        </p:spPr>
        <p:txBody>
          <a:bodyPr wrap="square" anchor="t">
            <a:spAutoFit/>
          </a:bodyPr>
          <a:lstStyle/>
          <a:p>
            <a:pPr>
              <a:spcAft>
                <a:spcPts val="400"/>
              </a:spcAft>
            </a:pPr>
            <a:r>
              <a:rPr sz="1200" b="1">
                <a:solidFill>
                  <a:srgbClr val="A8C3DB"/>
                </a:solidFill>
              </a:rPr>
              <a:t>🤖 ANÁLISIS IA DEL DÍA</a:t>
            </a:r>
          </a:p>
          <a:p>
            <a:pPr>
              <a:spcAft>
                <a:spcPts val="500"/>
              </a:spcAft>
            </a:pPr>
            <a:r>
              <a:rPr sz="1100">
                <a:solidFill>
                  <a:srgbClr val="ECF0F1"/>
                </a:solidFill>
              </a:rPr>
              <a:t>La jornada del 30/10/2026 exhibió estabilidad en los cotizaciones, con una brecha del 0.25% entre el dólar Blue a $1565.0 y el MEP a $1568.96, siendo la opción más económica de las dos el segmento informal. En la tendencia de las últimas 25 ruedas, el dólar Blue registró una ligera suba del 0.64% y el Billete oficial avanzó un 1.63%. Por su parte, el Riesgo País acumula una suba de 208 puntos en las últimas 25 ruedas a pesar de la baja diaria.</a:t>
            </a:r>
          </a:p>
        </p:txBody>
      </p:sp>
      <p:sp>
        <p:nvSpPr>
          <p:cNvPr id="10" name="Rounded Rectangle 9"/>
          <p:cNvSpPr/>
          <p:nvPr/>
        </p:nvSpPr>
        <p:spPr>
          <a:xfrm>
            <a:off x="411480" y="2286000"/>
            <a:ext cx="5577840" cy="233172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Chart 10"/>
          <p:cNvGraphicFramePr>
            <a:graphicFrameLocks noGrp="1"/>
          </p:cNvGraphicFramePr>
          <p:nvPr/>
        </p:nvGraphicFramePr>
        <p:xfrm>
          <a:off x="484632" y="2359152"/>
          <a:ext cx="5431536" cy="2185416"/>
        </p:xfrm>
        <a:graphic>
          <a:graphicData uri="http://schemas.openxmlformats.org/drawingml/2006/chart">
            <c:chart xmlns:c="http://schemas.openxmlformats.org/drawingml/2006/chart" r:id="rId3"/>
          </a:graphicData>
        </a:graphic>
      </p:graphicFrame>
      <p:sp>
        <p:nvSpPr>
          <p:cNvPr id="12" name="Rounded Rectangle 11"/>
          <p:cNvSpPr/>
          <p:nvPr/>
        </p:nvSpPr>
        <p:spPr>
          <a:xfrm>
            <a:off x="411480" y="4709160"/>
            <a:ext cx="5577840" cy="164592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846320"/>
            <a:ext cx="5303520" cy="1371600"/>
          </a:xfrm>
          <a:prstGeom prst="rect">
            <a:avLst/>
          </a:prstGeom>
          <a:noFill/>
        </p:spPr>
        <p:txBody>
          <a:bodyPr wrap="square">
            <a:spAutoFit/>
          </a:bodyPr>
          <a:lstStyle/>
          <a:p>
            <a:pPr>
              <a:spcAft>
                <a:spcPts val="400"/>
              </a:spcAft>
            </a:pPr>
            <a:r>
              <a:rPr sz="1200" b="1">
                <a:solidFill>
                  <a:srgbClr val="163A6B"/>
                </a:solidFill>
              </a:rPr>
              <a:t>🤖 ANÁLISIS IA</a:t>
            </a:r>
          </a:p>
          <a:p>
            <a:pPr>
              <a:spcAft>
                <a:spcPts val="500"/>
              </a:spcAft>
            </a:pPr>
            <a:r>
              <a:rPr sz="1100">
                <a:solidFill>
                  <a:srgbClr val="163A6B"/>
                </a:solidFill>
              </a:rPr>
              <a:t>El dólar Blue cotizó a $1565.0 para la venta y $1545.0 para la compra, habiéndose movido en las últimas 25 ruedas entre un mínimo de $1540.0 y un máximo de $1575.0. El MEP se ubicó en $1568.96 tras subir un 0.18% diario y un 2.22% en las últimas 25 ruedas. En tanto, el Euro blue cerró a $1747.62 y el dólar Solidario finalizó sin cambios en $2028.00, situándose este último un 29.58% por encima del Blue.</a:t>
            </a:r>
          </a:p>
        </p:txBody>
      </p:sp>
      <p:sp>
        <p:nvSpPr>
          <p:cNvPr id="14" name="Rounded Rectangle 13"/>
          <p:cNvSpPr/>
          <p:nvPr/>
        </p:nvSpPr>
        <p:spPr>
          <a:xfrm>
            <a:off x="6199632" y="2286000"/>
            <a:ext cx="5577840" cy="233172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5" name="Chart 14"/>
          <p:cNvGraphicFramePr>
            <a:graphicFrameLocks noGrp="1"/>
          </p:cNvGraphicFramePr>
          <p:nvPr/>
        </p:nvGraphicFramePr>
        <p:xfrm>
          <a:off x="6272784" y="2359152"/>
          <a:ext cx="5431536" cy="2185416"/>
        </p:xfrm>
        <a:graphic>
          <a:graphicData uri="http://schemas.openxmlformats.org/drawingml/2006/chart">
            <c:chart xmlns:c="http://schemas.openxmlformats.org/drawingml/2006/chart" r:id="rId4"/>
          </a:graphicData>
        </a:graphic>
      </p:graphicFrame>
      <p:sp>
        <p:nvSpPr>
          <p:cNvPr id="16" name="Rounded Rectangle 15"/>
          <p:cNvSpPr/>
          <p:nvPr/>
        </p:nvSpPr>
        <p:spPr>
          <a:xfrm>
            <a:off x="6199632" y="4709160"/>
            <a:ext cx="5577840" cy="164592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36792" y="4846320"/>
            <a:ext cx="5303520" cy="1371600"/>
          </a:xfrm>
          <a:prstGeom prst="rect">
            <a:avLst/>
          </a:prstGeom>
          <a:noFill/>
        </p:spPr>
        <p:txBody>
          <a:bodyPr wrap="square">
            <a:spAutoFit/>
          </a:bodyPr>
          <a:lstStyle/>
          <a:p>
            <a:pPr>
              <a:spcAft>
                <a:spcPts val="400"/>
              </a:spcAft>
            </a:pPr>
            <a:r>
              <a:rPr sz="1200" b="1">
                <a:solidFill>
                  <a:srgbClr val="163A6B"/>
                </a:solidFill>
              </a:rPr>
              <a:t>🤖 ANÁLISIS IA</a:t>
            </a:r>
          </a:p>
          <a:p>
            <a:pPr>
              <a:spcAft>
                <a:spcPts val="500"/>
              </a:spcAft>
            </a:pPr>
            <a:r>
              <a:rPr sz="1100">
                <a:solidFill>
                  <a:srgbClr val="163A6B"/>
                </a:solidFill>
              </a:rPr>
              <a:t>En el BNA, el dólar Billete permaneció sin variaciones en $1560.0 para la venta, mientras que el dólar Divisas bajó un 0.32% diario a $1534.0, dejando una diferencia de 1.69% entre ambos. Considerando la paridad de tasas de Fisher con una TEA BADLAR de 24.58% y la FED en 3.88%, el forward oficial a 3 meses se proyecta en $1,870.80. Esta cotización teórica representa una prima del 19.92% respecto al tipo de cambio billete actual.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91695" cy="822960"/>
          </a:xfrm>
          <a:prstGeom prst="rect">
            <a:avLst/>
          </a:prstGeom>
          <a:gradFill rotWithShape="1">
            <a:gsLst>
              <a:gs pos="0">
                <a:srgbClr val="081E40"/>
              </a:gs>
              <a:gs pos="100000">
                <a:srgbClr val="163A6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45720"/>
          </a:xfrm>
          <a:prstGeom prst="rect">
            <a:avLst/>
          </a:prstGeom>
          <a:solidFill>
            <a:srgbClr val="697E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8686800" cy="548640"/>
          </a:xfrm>
          <a:prstGeom prst="rect">
            <a:avLst/>
          </a:prstGeom>
          <a:noFill/>
        </p:spPr>
        <p:txBody>
          <a:bodyPr wrap="square">
            <a:spAutoFit/>
          </a:bodyPr>
          <a:lstStyle/>
          <a:p>
            <a:pPr algn="l"/>
            <a:r>
              <a:rPr sz="2400">
                <a:latin typeface="Segoe UI Emoji"/>
              </a:rPr>
              <a:t>🌎 </a:t>
            </a:r>
            <a:r>
              <a:rPr sz="2600" b="1">
                <a:solidFill>
                  <a:srgbClr val="FFFFFF"/>
                </a:solidFill>
              </a:rPr>
              <a:t>Riesgo país</a:t>
            </a:r>
          </a:p>
        </p:txBody>
      </p:sp>
      <p:sp>
        <p:nvSpPr>
          <p:cNvPr id="5" name="TextBox 4"/>
          <p:cNvSpPr txBox="1"/>
          <p:nvPr/>
        </p:nvSpPr>
        <p:spPr>
          <a:xfrm>
            <a:off x="9509760" y="228600"/>
            <a:ext cx="2377440" cy="457200"/>
          </a:xfrm>
          <a:prstGeom prst="rect">
            <a:avLst/>
          </a:prstGeom>
          <a:noFill/>
        </p:spPr>
        <p:txBody>
          <a:bodyPr wrap="square">
            <a:spAutoFit/>
          </a:bodyPr>
          <a:lstStyle/>
          <a:p>
            <a:pPr algn="r"/>
            <a:r>
              <a:rPr sz="1600" b="0">
                <a:solidFill>
                  <a:srgbClr val="FFFFFF"/>
                </a:solidFill>
              </a:rPr>
              <a:t>30/10/2026</a:t>
            </a:r>
          </a:p>
        </p:txBody>
      </p:sp>
      <p:sp>
        <p:nvSpPr>
          <p:cNvPr id="6" name="TextBox 5"/>
          <p:cNvSpPr txBox="1"/>
          <p:nvPr/>
        </p:nvSpPr>
        <p:spPr>
          <a:xfrm>
            <a:off x="411480" y="6473952"/>
            <a:ext cx="8229600" cy="274320"/>
          </a:xfrm>
          <a:prstGeom prst="rect">
            <a:avLst/>
          </a:prstGeom>
          <a:noFill/>
        </p:spPr>
        <p:txBody>
          <a:bodyPr wrap="square">
            <a:spAutoFit/>
          </a:bodyPr>
          <a:lstStyle/>
          <a:p>
            <a:pPr algn="l"/>
            <a:r>
              <a:rPr sz="1000" b="0">
                <a:solidFill>
                  <a:srgbClr val="5D6D7E"/>
                </a:solidFill>
              </a:rPr>
              <a:t>Reporte Macroeconómico · Mauro E. Martinez · GlobalAIze</a:t>
            </a:r>
          </a:p>
        </p:txBody>
      </p:sp>
      <p:sp>
        <p:nvSpPr>
          <p:cNvPr id="7" name="TextBox 6"/>
          <p:cNvSpPr txBox="1"/>
          <p:nvPr/>
        </p:nvSpPr>
        <p:spPr>
          <a:xfrm>
            <a:off x="10881360" y="6473952"/>
            <a:ext cx="914400" cy="274320"/>
          </a:xfrm>
          <a:prstGeom prst="rect">
            <a:avLst/>
          </a:prstGeom>
          <a:noFill/>
        </p:spPr>
        <p:txBody>
          <a:bodyPr wrap="square">
            <a:spAutoFit/>
          </a:bodyPr>
          <a:lstStyle/>
          <a:p>
            <a:pPr algn="r"/>
            <a:r>
              <a:rPr sz="1000" b="0">
                <a:solidFill>
                  <a:srgbClr val="5D6D7E"/>
                </a:solidFill>
              </a:rPr>
              <a:t>4</a:t>
            </a:r>
          </a:p>
        </p:txBody>
      </p:sp>
      <p:sp>
        <p:nvSpPr>
          <p:cNvPr id="8" name="Rounded Rectangle 7"/>
          <p:cNvSpPr/>
          <p:nvPr/>
        </p:nvSpPr>
        <p:spPr>
          <a:xfrm>
            <a:off x="411480" y="1143000"/>
            <a:ext cx="7589520" cy="512064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Chart 8"/>
          <p:cNvGraphicFramePr>
            <a:graphicFrameLocks noGrp="1"/>
          </p:cNvGraphicFramePr>
          <p:nvPr/>
        </p:nvGraphicFramePr>
        <p:xfrm>
          <a:off x="484632" y="1216152"/>
          <a:ext cx="7443216" cy="4974336"/>
        </p:xfrm>
        <a:graphic>
          <a:graphicData uri="http://schemas.openxmlformats.org/drawingml/2006/chart">
            <c:chart xmlns:c="http://schemas.openxmlformats.org/drawingml/2006/chart" r:id="rId2"/>
          </a:graphicData>
        </a:graphic>
      </p:graphicFrame>
      <p:sp>
        <p:nvSpPr>
          <p:cNvPr id="10" name="Rounded Rectangle 9"/>
          <p:cNvSpPr/>
          <p:nvPr/>
        </p:nvSpPr>
        <p:spPr>
          <a:xfrm>
            <a:off x="8229600" y="1097280"/>
            <a:ext cx="3611880" cy="525780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66760" y="1234440"/>
            <a:ext cx="3337560" cy="4983480"/>
          </a:xfrm>
          <a:prstGeom prst="rect">
            <a:avLst/>
          </a:prstGeom>
          <a:noFill/>
        </p:spPr>
        <p:txBody>
          <a:bodyPr wrap="square">
            <a:spAutoFit/>
          </a:bodyPr>
          <a:lstStyle/>
          <a:p>
            <a:pPr>
              <a:spcAft>
                <a:spcPts val="400"/>
              </a:spcAft>
            </a:pPr>
            <a:r>
              <a:rPr sz="1400" b="1">
                <a:solidFill>
                  <a:srgbClr val="163A6B"/>
                </a:solidFill>
              </a:rPr>
              <a:t>RESUMEN DEL DÍA</a:t>
            </a:r>
          </a:p>
          <a:p>
            <a:pPr>
              <a:spcAft>
                <a:spcPts val="500"/>
              </a:spcAft>
            </a:pPr>
            <a:r>
              <a:rPr sz="1300">
                <a:solidFill>
                  <a:srgbClr val="163A6B"/>
                </a:solidFill>
              </a:rPr>
              <a:t>741 puntos, -22 contra la rueda anterior. En las últimas 25 ruedas estuvo entre 555 y 765.</a:t>
            </a:r>
          </a:p>
          <a:p>
            <a:pPr>
              <a:spcAft>
                <a:spcPts val="500"/>
              </a:spcAft>
            </a:pPr>
            <a:r>
              <a:rPr sz="1300">
                <a:solidFill>
                  <a:srgbClr val="163A6B"/>
                </a:solidFill>
              </a:rPr>
              <a:t>Es lo que paga Argentina por encima de los bonos de Estados Unidos: cuanto más bajo, más barato le sale el crédito al país y a sus empresas.</a:t>
            </a:r>
          </a:p>
          <a:p>
            <a:pPr>
              <a:spcBef>
                <a:spcPts val="1200"/>
              </a:spcBef>
              <a:spcAft>
                <a:spcPts val="400"/>
              </a:spcAft>
            </a:pPr>
            <a:r>
              <a:rPr sz="1400" b="1">
                <a:solidFill>
                  <a:srgbClr val="163A6B"/>
                </a:solidFill>
              </a:rPr>
              <a:t>🤖 ANÁLISIS IA</a:t>
            </a:r>
          </a:p>
          <a:p>
            <a:pPr>
              <a:spcAft>
                <a:spcPts val="500"/>
              </a:spcAft>
            </a:pPr>
            <a:r>
              <a:rPr sz="1300">
                <a:solidFill>
                  <a:srgbClr val="163A6B"/>
                </a:solidFill>
              </a:rPr>
              <a:t>El Riesgo País finalizó en 741 puntos básicos, lo que implica un descenso diario de 22 puntos (-2.88%). No obstante, frente a los 533 puntos de hace 25 ruedas, el índice acumula un incremento de 208 puntos. Dentro de esta ventana temporal, el indicador osciló entre un mínimo de 533 puntos el 22/09 y un techo de 765 puntos alcanzado el 27/10.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91695" cy="822960"/>
          </a:xfrm>
          <a:prstGeom prst="rect">
            <a:avLst/>
          </a:prstGeom>
          <a:gradFill rotWithShape="1">
            <a:gsLst>
              <a:gs pos="0">
                <a:srgbClr val="081E40"/>
              </a:gs>
              <a:gs pos="100000">
                <a:srgbClr val="163A6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45720"/>
          </a:xfrm>
          <a:prstGeom prst="rect">
            <a:avLst/>
          </a:prstGeom>
          <a:solidFill>
            <a:srgbClr val="697E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8686800" cy="548640"/>
          </a:xfrm>
          <a:prstGeom prst="rect">
            <a:avLst/>
          </a:prstGeom>
          <a:noFill/>
        </p:spPr>
        <p:txBody>
          <a:bodyPr wrap="square">
            <a:spAutoFit/>
          </a:bodyPr>
          <a:lstStyle/>
          <a:p>
            <a:pPr algn="l"/>
            <a:r>
              <a:rPr sz="2400">
                <a:latin typeface="Segoe UI Emoji"/>
              </a:rPr>
              <a:t>📈 </a:t>
            </a:r>
            <a:r>
              <a:rPr sz="2600" b="1">
                <a:solidFill>
                  <a:srgbClr val="FFFFFF"/>
                </a:solidFill>
              </a:rPr>
              <a:t>Inflación y variaciones acumuladas</a:t>
            </a:r>
          </a:p>
        </p:txBody>
      </p:sp>
      <p:sp>
        <p:nvSpPr>
          <p:cNvPr id="5" name="TextBox 4"/>
          <p:cNvSpPr txBox="1"/>
          <p:nvPr/>
        </p:nvSpPr>
        <p:spPr>
          <a:xfrm>
            <a:off x="9509760" y="228600"/>
            <a:ext cx="2377440" cy="457200"/>
          </a:xfrm>
          <a:prstGeom prst="rect">
            <a:avLst/>
          </a:prstGeom>
          <a:noFill/>
        </p:spPr>
        <p:txBody>
          <a:bodyPr wrap="square">
            <a:spAutoFit/>
          </a:bodyPr>
          <a:lstStyle/>
          <a:p>
            <a:pPr algn="r"/>
            <a:r>
              <a:rPr sz="1600" b="0">
                <a:solidFill>
                  <a:srgbClr val="FFFFFF"/>
                </a:solidFill>
              </a:rPr>
              <a:t>30/10/2026</a:t>
            </a:r>
          </a:p>
        </p:txBody>
      </p:sp>
      <p:sp>
        <p:nvSpPr>
          <p:cNvPr id="6" name="TextBox 5"/>
          <p:cNvSpPr txBox="1"/>
          <p:nvPr/>
        </p:nvSpPr>
        <p:spPr>
          <a:xfrm>
            <a:off x="411480" y="6473952"/>
            <a:ext cx="8229600" cy="274320"/>
          </a:xfrm>
          <a:prstGeom prst="rect">
            <a:avLst/>
          </a:prstGeom>
          <a:noFill/>
        </p:spPr>
        <p:txBody>
          <a:bodyPr wrap="square">
            <a:spAutoFit/>
          </a:bodyPr>
          <a:lstStyle/>
          <a:p>
            <a:pPr algn="l"/>
            <a:r>
              <a:rPr sz="1000" b="0">
                <a:solidFill>
                  <a:srgbClr val="5D6D7E"/>
                </a:solidFill>
              </a:rPr>
              <a:t>Reporte Macroeconómico · Mauro E. Martinez · GlobalAIze</a:t>
            </a:r>
          </a:p>
        </p:txBody>
      </p:sp>
      <p:sp>
        <p:nvSpPr>
          <p:cNvPr id="7" name="TextBox 6"/>
          <p:cNvSpPr txBox="1"/>
          <p:nvPr/>
        </p:nvSpPr>
        <p:spPr>
          <a:xfrm>
            <a:off x="10881360" y="6473952"/>
            <a:ext cx="914400" cy="274320"/>
          </a:xfrm>
          <a:prstGeom prst="rect">
            <a:avLst/>
          </a:prstGeom>
          <a:noFill/>
        </p:spPr>
        <p:txBody>
          <a:bodyPr wrap="square">
            <a:spAutoFit/>
          </a:bodyPr>
          <a:lstStyle/>
          <a:p>
            <a:pPr algn="r"/>
            <a:r>
              <a:rPr sz="1000" b="0">
                <a:solidFill>
                  <a:srgbClr val="5D6D7E"/>
                </a:solidFill>
              </a:rPr>
              <a:t>5</a:t>
            </a:r>
          </a:p>
        </p:txBody>
      </p:sp>
      <p:sp>
        <p:nvSpPr>
          <p:cNvPr id="8" name="Rounded Rectangle 7"/>
          <p:cNvSpPr/>
          <p:nvPr/>
        </p:nvSpPr>
        <p:spPr>
          <a:xfrm>
            <a:off x="411480" y="1005840"/>
            <a:ext cx="5577840" cy="365760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Chart 8"/>
          <p:cNvGraphicFramePr>
            <a:graphicFrameLocks noGrp="1"/>
          </p:cNvGraphicFramePr>
          <p:nvPr/>
        </p:nvGraphicFramePr>
        <p:xfrm>
          <a:off x="484632" y="1078992"/>
          <a:ext cx="5431536" cy="3511296"/>
        </p:xfrm>
        <a:graphic>
          <a:graphicData uri="http://schemas.openxmlformats.org/drawingml/2006/chart">
            <c:chart xmlns:c="http://schemas.openxmlformats.org/drawingml/2006/chart" r:id="rId2"/>
          </a:graphicData>
        </a:graphic>
      </p:graphicFrame>
      <p:sp>
        <p:nvSpPr>
          <p:cNvPr id="10" name="Rounded Rectangle 9"/>
          <p:cNvSpPr/>
          <p:nvPr/>
        </p:nvSpPr>
        <p:spPr>
          <a:xfrm>
            <a:off x="6199632" y="1005840"/>
            <a:ext cx="5577840" cy="365760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1" name="Chart 10"/>
          <p:cNvGraphicFramePr>
            <a:graphicFrameLocks noGrp="1"/>
          </p:cNvGraphicFramePr>
          <p:nvPr/>
        </p:nvGraphicFramePr>
        <p:xfrm>
          <a:off x="6272784" y="1078992"/>
          <a:ext cx="5431536" cy="3511296"/>
        </p:xfrm>
        <a:graphic>
          <a:graphicData uri="http://schemas.openxmlformats.org/drawingml/2006/chart">
            <c:chart xmlns:c="http://schemas.openxmlformats.org/drawingml/2006/chart" r:id="rId3"/>
          </a:graphicData>
        </a:graphic>
      </p:graphicFrame>
      <p:sp>
        <p:nvSpPr>
          <p:cNvPr id="12" name="Rounded Rectangle 11"/>
          <p:cNvSpPr/>
          <p:nvPr/>
        </p:nvSpPr>
        <p:spPr>
          <a:xfrm>
            <a:off x="411480" y="4754880"/>
            <a:ext cx="11365992" cy="169164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48640" y="4892040"/>
            <a:ext cx="11091672" cy="1417320"/>
          </a:xfrm>
          <a:prstGeom prst="rect">
            <a:avLst/>
          </a:prstGeom>
          <a:noFill/>
        </p:spPr>
        <p:txBody>
          <a:bodyPr wrap="square">
            <a:spAutoFit/>
          </a:bodyPr>
          <a:lstStyle/>
          <a:p>
            <a:pPr>
              <a:spcAft>
                <a:spcPts val="400"/>
              </a:spcAft>
            </a:pPr>
            <a:r>
              <a:rPr sz="1700" b="1">
                <a:solidFill>
                  <a:srgbClr val="163A6B"/>
                </a:solidFill>
              </a:rPr>
              <a:t>RESUMEN DEL DÍA</a:t>
            </a:r>
          </a:p>
          <a:p>
            <a:pPr>
              <a:spcAft>
                <a:spcPts val="500"/>
              </a:spcAft>
            </a:pPr>
            <a:r>
              <a:rPr sz="1600">
                <a:solidFill>
                  <a:srgbClr val="163A6B"/>
                </a:solidFill>
              </a:rPr>
              <a:t>La inflación de septiembre de 2026 fue 1,9% (agosto: 1,7%) y la de los últimos 12 meses, 33,3%.</a:t>
            </a:r>
          </a:p>
          <a:p>
            <a:pPr>
              <a:spcAft>
                <a:spcPts val="500"/>
              </a:spcAft>
            </a:pPr>
            <a:r>
              <a:rPr sz="1600">
                <a:solidFill>
                  <a:srgbClr val="163A6B"/>
                </a:solidFill>
              </a:rPr>
              <a:t>Desde julio de 2025, los precios subieron 41,3%, el dólar blue +28,8% y el solidario +28,4%: el dólar subió menos que los precios, así que en pesos de hoy está más barato.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91695" cy="822960"/>
          </a:xfrm>
          <a:prstGeom prst="rect">
            <a:avLst/>
          </a:prstGeom>
          <a:gradFill rotWithShape="1">
            <a:gsLst>
              <a:gs pos="0">
                <a:srgbClr val="081E40"/>
              </a:gs>
              <a:gs pos="100000">
                <a:srgbClr val="163A6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45720"/>
          </a:xfrm>
          <a:prstGeom prst="rect">
            <a:avLst/>
          </a:prstGeom>
          <a:solidFill>
            <a:srgbClr val="697E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8686800" cy="548640"/>
          </a:xfrm>
          <a:prstGeom prst="rect">
            <a:avLst/>
          </a:prstGeom>
          <a:noFill/>
        </p:spPr>
        <p:txBody>
          <a:bodyPr wrap="square">
            <a:spAutoFit/>
          </a:bodyPr>
          <a:lstStyle/>
          <a:p>
            <a:pPr algn="l"/>
            <a:r>
              <a:rPr sz="2400">
                <a:latin typeface="Segoe UI Emoji"/>
              </a:rPr>
              <a:t>💰 </a:t>
            </a:r>
            <a:r>
              <a:rPr sz="2600" b="1">
                <a:solidFill>
                  <a:srgbClr val="FFFFFF"/>
                </a:solidFill>
              </a:rPr>
              <a:t>Agregados monetarios</a:t>
            </a:r>
          </a:p>
        </p:txBody>
      </p:sp>
      <p:sp>
        <p:nvSpPr>
          <p:cNvPr id="5" name="TextBox 4"/>
          <p:cNvSpPr txBox="1"/>
          <p:nvPr/>
        </p:nvSpPr>
        <p:spPr>
          <a:xfrm>
            <a:off x="9509760" y="228600"/>
            <a:ext cx="2377440" cy="457200"/>
          </a:xfrm>
          <a:prstGeom prst="rect">
            <a:avLst/>
          </a:prstGeom>
          <a:noFill/>
        </p:spPr>
        <p:txBody>
          <a:bodyPr wrap="square">
            <a:spAutoFit/>
          </a:bodyPr>
          <a:lstStyle/>
          <a:p>
            <a:pPr algn="r"/>
            <a:r>
              <a:rPr sz="1600" b="0">
                <a:solidFill>
                  <a:srgbClr val="FFFFFF"/>
                </a:solidFill>
              </a:rPr>
              <a:t>30/10/2026</a:t>
            </a:r>
          </a:p>
        </p:txBody>
      </p:sp>
      <p:sp>
        <p:nvSpPr>
          <p:cNvPr id="6" name="TextBox 5"/>
          <p:cNvSpPr txBox="1"/>
          <p:nvPr/>
        </p:nvSpPr>
        <p:spPr>
          <a:xfrm>
            <a:off x="411480" y="6473952"/>
            <a:ext cx="8229600" cy="274320"/>
          </a:xfrm>
          <a:prstGeom prst="rect">
            <a:avLst/>
          </a:prstGeom>
          <a:noFill/>
        </p:spPr>
        <p:txBody>
          <a:bodyPr wrap="square">
            <a:spAutoFit/>
          </a:bodyPr>
          <a:lstStyle/>
          <a:p>
            <a:pPr algn="l"/>
            <a:r>
              <a:rPr sz="1000" b="0">
                <a:solidFill>
                  <a:srgbClr val="5D6D7E"/>
                </a:solidFill>
              </a:rPr>
              <a:t>Reporte Macroeconómico · Mauro E. Martinez · GlobalAIze</a:t>
            </a:r>
          </a:p>
        </p:txBody>
      </p:sp>
      <p:sp>
        <p:nvSpPr>
          <p:cNvPr id="7" name="TextBox 6"/>
          <p:cNvSpPr txBox="1"/>
          <p:nvPr/>
        </p:nvSpPr>
        <p:spPr>
          <a:xfrm>
            <a:off x="10881360" y="6473952"/>
            <a:ext cx="914400" cy="274320"/>
          </a:xfrm>
          <a:prstGeom prst="rect">
            <a:avLst/>
          </a:prstGeom>
          <a:noFill/>
        </p:spPr>
        <p:txBody>
          <a:bodyPr wrap="square">
            <a:spAutoFit/>
          </a:bodyPr>
          <a:lstStyle/>
          <a:p>
            <a:pPr algn="r"/>
            <a:r>
              <a:rPr sz="1000" b="0">
                <a:solidFill>
                  <a:srgbClr val="5D6D7E"/>
                </a:solidFill>
              </a:rPr>
              <a:t>6</a:t>
            </a:r>
          </a:p>
        </p:txBody>
      </p:sp>
      <p:sp>
        <p:nvSpPr>
          <p:cNvPr id="8" name="Rounded Rectangle 7"/>
          <p:cNvSpPr/>
          <p:nvPr/>
        </p:nvSpPr>
        <p:spPr>
          <a:xfrm>
            <a:off x="411480" y="1005840"/>
            <a:ext cx="6126480" cy="539496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gregados Monetarios.jpg"/>
          <p:cNvPicPr>
            <a:picLocks noChangeAspect="1"/>
          </p:cNvPicPr>
          <p:nvPr/>
        </p:nvPicPr>
        <p:blipFill>
          <a:blip r:embed="rId2"/>
          <a:stretch>
            <a:fillRect/>
          </a:stretch>
        </p:blipFill>
        <p:spPr>
          <a:xfrm>
            <a:off x="886968" y="1115568"/>
            <a:ext cx="5175504" cy="5175504"/>
          </a:xfrm>
          <a:prstGeom prst="rect">
            <a:avLst/>
          </a:prstGeom>
        </p:spPr>
      </p:pic>
      <p:sp>
        <p:nvSpPr>
          <p:cNvPr id="10" name="Rounded Rectangle 9"/>
          <p:cNvSpPr/>
          <p:nvPr/>
        </p:nvSpPr>
        <p:spPr>
          <a:xfrm>
            <a:off x="6720840" y="1051560"/>
            <a:ext cx="5120640" cy="534924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1188720"/>
            <a:ext cx="4846320" cy="5074920"/>
          </a:xfrm>
          <a:prstGeom prst="rect">
            <a:avLst/>
          </a:prstGeom>
          <a:noFill/>
        </p:spPr>
        <p:txBody>
          <a:bodyPr wrap="square">
            <a:spAutoFit/>
          </a:bodyPr>
          <a:lstStyle/>
          <a:p>
            <a:pPr>
              <a:spcAft>
                <a:spcPts val="400"/>
              </a:spcAft>
            </a:pPr>
            <a:r>
              <a:rPr sz="1700" b="1">
                <a:solidFill>
                  <a:srgbClr val="163A6B"/>
                </a:solidFill>
              </a:rPr>
              <a:t>RESUMEN DEL DÍA</a:t>
            </a:r>
          </a:p>
          <a:p>
            <a:pPr>
              <a:spcAft>
                <a:spcPts val="500"/>
              </a:spcAft>
            </a:pPr>
            <a:r>
              <a:rPr sz="1600">
                <a:solidFill>
                  <a:srgbClr val="163A6B"/>
                </a:solidFill>
              </a:rPr>
              <a:t>En el último año la base monetaria creció 13,7% (al 27/10/2026) y el M2 creció 22,5% (al 26/10/2026), contra una inflación interanual de 33,3% en septiembre de 2026: descontada la inflación, las dos cayeron.</a:t>
            </a:r>
          </a:p>
          <a:p>
            <a:pPr>
              <a:spcBef>
                <a:spcPts val="1200"/>
              </a:spcBef>
              <a:spcAft>
                <a:spcPts val="400"/>
              </a:spcAft>
            </a:pPr>
            <a:r>
              <a:rPr sz="1700" b="1">
                <a:solidFill>
                  <a:srgbClr val="163A6B"/>
                </a:solidFill>
              </a:rPr>
              <a:t>¿QUÉ SERÍA LO IDEAL?</a:t>
            </a:r>
          </a:p>
          <a:p>
            <a:pPr>
              <a:spcAft>
                <a:spcPts val="500"/>
              </a:spcAft>
            </a:pPr>
            <a:r>
              <a:rPr sz="1600">
                <a:solidFill>
                  <a:srgbClr val="163A6B"/>
                </a:solidFill>
              </a:rPr>
              <a:t>Que la cantidad de pesos crezca al ritmo de los que la gente quiere tener: más o menos lo que crece la economía más una inflación baja. Si crece mucho más rápido, hay más pesos persiguiendo las mismas cosas y eso suele anticipar más inflación y un dólar más caro. Si crece mucho más lento, la inflación tiende a bajar, pero hay menos plata para consumir y menos crédito, y la actividad se enfría.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91695" cy="822960"/>
          </a:xfrm>
          <a:prstGeom prst="rect">
            <a:avLst/>
          </a:prstGeom>
          <a:gradFill rotWithShape="1">
            <a:gsLst>
              <a:gs pos="0">
                <a:srgbClr val="081E40"/>
              </a:gs>
              <a:gs pos="100000">
                <a:srgbClr val="163A6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45720"/>
          </a:xfrm>
          <a:prstGeom prst="rect">
            <a:avLst/>
          </a:prstGeom>
          <a:solidFill>
            <a:srgbClr val="697E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8686800" cy="548640"/>
          </a:xfrm>
          <a:prstGeom prst="rect">
            <a:avLst/>
          </a:prstGeom>
          <a:noFill/>
        </p:spPr>
        <p:txBody>
          <a:bodyPr wrap="square">
            <a:spAutoFit/>
          </a:bodyPr>
          <a:lstStyle/>
          <a:p>
            <a:pPr algn="l"/>
            <a:r>
              <a:rPr sz="2400">
                <a:latin typeface="Segoe UI Emoji"/>
              </a:rPr>
              <a:t>💸 </a:t>
            </a:r>
            <a:r>
              <a:rPr sz="2600" b="1">
                <a:solidFill>
                  <a:srgbClr val="FFFFFF"/>
                </a:solidFill>
              </a:rPr>
              <a:t>Endeudamiento, en dólares</a:t>
            </a:r>
          </a:p>
        </p:txBody>
      </p:sp>
      <p:sp>
        <p:nvSpPr>
          <p:cNvPr id="5" name="TextBox 4"/>
          <p:cNvSpPr txBox="1"/>
          <p:nvPr/>
        </p:nvSpPr>
        <p:spPr>
          <a:xfrm>
            <a:off x="9509760" y="228600"/>
            <a:ext cx="2377440" cy="457200"/>
          </a:xfrm>
          <a:prstGeom prst="rect">
            <a:avLst/>
          </a:prstGeom>
          <a:noFill/>
        </p:spPr>
        <p:txBody>
          <a:bodyPr wrap="square">
            <a:spAutoFit/>
          </a:bodyPr>
          <a:lstStyle/>
          <a:p>
            <a:pPr algn="r"/>
            <a:r>
              <a:rPr sz="1600" b="0">
                <a:solidFill>
                  <a:srgbClr val="FFFFFF"/>
                </a:solidFill>
              </a:rPr>
              <a:t>30/10/2026</a:t>
            </a:r>
          </a:p>
        </p:txBody>
      </p:sp>
      <p:sp>
        <p:nvSpPr>
          <p:cNvPr id="6" name="TextBox 5"/>
          <p:cNvSpPr txBox="1"/>
          <p:nvPr/>
        </p:nvSpPr>
        <p:spPr>
          <a:xfrm>
            <a:off x="411480" y="6473952"/>
            <a:ext cx="8229600" cy="274320"/>
          </a:xfrm>
          <a:prstGeom prst="rect">
            <a:avLst/>
          </a:prstGeom>
          <a:noFill/>
        </p:spPr>
        <p:txBody>
          <a:bodyPr wrap="square">
            <a:spAutoFit/>
          </a:bodyPr>
          <a:lstStyle/>
          <a:p>
            <a:pPr algn="l"/>
            <a:r>
              <a:rPr sz="1000" b="0">
                <a:solidFill>
                  <a:srgbClr val="5D6D7E"/>
                </a:solidFill>
              </a:rPr>
              <a:t>Reporte Macroeconómico · Mauro E. Martinez · GlobalAIze</a:t>
            </a:r>
          </a:p>
        </p:txBody>
      </p:sp>
      <p:sp>
        <p:nvSpPr>
          <p:cNvPr id="7" name="TextBox 6"/>
          <p:cNvSpPr txBox="1"/>
          <p:nvPr/>
        </p:nvSpPr>
        <p:spPr>
          <a:xfrm>
            <a:off x="10881360" y="6473952"/>
            <a:ext cx="914400" cy="274320"/>
          </a:xfrm>
          <a:prstGeom prst="rect">
            <a:avLst/>
          </a:prstGeom>
          <a:noFill/>
        </p:spPr>
        <p:txBody>
          <a:bodyPr wrap="square">
            <a:spAutoFit/>
          </a:bodyPr>
          <a:lstStyle/>
          <a:p>
            <a:pPr algn="r"/>
            <a:r>
              <a:rPr sz="1000" b="0">
                <a:solidFill>
                  <a:srgbClr val="5D6D7E"/>
                </a:solidFill>
              </a:rPr>
              <a:t>7</a:t>
            </a:r>
          </a:p>
        </p:txBody>
      </p:sp>
      <p:sp>
        <p:nvSpPr>
          <p:cNvPr id="8" name="Rounded Rectangle 7"/>
          <p:cNvSpPr/>
          <p:nvPr/>
        </p:nvSpPr>
        <p:spPr>
          <a:xfrm>
            <a:off x="411480" y="1005840"/>
            <a:ext cx="6126480" cy="539496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euda en Dólares.jpg"/>
          <p:cNvPicPr>
            <a:picLocks noChangeAspect="1"/>
          </p:cNvPicPr>
          <p:nvPr/>
        </p:nvPicPr>
        <p:blipFill>
          <a:blip r:embed="rId2"/>
          <a:stretch>
            <a:fillRect/>
          </a:stretch>
        </p:blipFill>
        <p:spPr>
          <a:xfrm>
            <a:off x="1318260" y="1115568"/>
            <a:ext cx="4312920" cy="5175504"/>
          </a:xfrm>
          <a:prstGeom prst="rect">
            <a:avLst/>
          </a:prstGeom>
        </p:spPr>
      </p:pic>
      <p:sp>
        <p:nvSpPr>
          <p:cNvPr id="10" name="Rounded Rectangle 9"/>
          <p:cNvSpPr/>
          <p:nvPr/>
        </p:nvSpPr>
        <p:spPr>
          <a:xfrm>
            <a:off x="6720840" y="1051560"/>
            <a:ext cx="5120640" cy="534924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0" y="1188720"/>
            <a:ext cx="4846320" cy="5074920"/>
          </a:xfrm>
          <a:prstGeom prst="rect">
            <a:avLst/>
          </a:prstGeom>
          <a:noFill/>
        </p:spPr>
        <p:txBody>
          <a:bodyPr wrap="square">
            <a:spAutoFit/>
          </a:bodyPr>
          <a:lstStyle/>
          <a:p>
            <a:pPr>
              <a:spcAft>
                <a:spcPts val="400"/>
              </a:spcAft>
            </a:pPr>
            <a:r>
              <a:rPr sz="1400" b="1">
                <a:solidFill>
                  <a:srgbClr val="163A6B"/>
                </a:solidFill>
              </a:rPr>
              <a:t>RESUMEN DEL DÍA</a:t>
            </a:r>
          </a:p>
          <a:p>
            <a:pPr>
              <a:spcAft>
                <a:spcPts val="500"/>
              </a:spcAft>
            </a:pPr>
            <a:r>
              <a:rPr sz="1300">
                <a:solidFill>
                  <a:srgbClr val="163A6B"/>
                </a:solidFill>
              </a:rPr>
              <a:t>Deuda bruta del Tesoro a fines de septiembre de 2026 (dato provisorio): USD 486,6 mil millones, 32,6 mil millones más que un año antes. Contra la misma fecha: hace 4 años, USD 382,3 mil millones (hoy, +27,3%). Sin comparación a 8 y 12 años: la serie mensual de la Secretaría de Finanzas empieza en 2019.</a:t>
            </a:r>
          </a:p>
          <a:p>
            <a:pPr>
              <a:spcAft>
                <a:spcPts val="500"/>
              </a:spcAft>
            </a:pPr>
            <a:r>
              <a:rPr sz="1300">
                <a:solidFill>
                  <a:srgbClr val="163A6B"/>
                </a:solidFill>
              </a:rPr>
              <a:t>Lo que familias y empresas les deben a los bancos, al 27/10/2026: USD 98,0 mil millones. Contra la misma fecha: hace 4 años, USD 44,3 mil millones (hoy, +121,5%); hace 8 años, USD 58,5 mil millones (hoy, +67,5%); hace 12 años, USD 66,2 mil millones (hoy, +48,0%). Con cepo, el dólar oficial estaba muy por debajo del paralelo, así que en dólares esos años se ven más altos de lo que eran.</a:t>
            </a:r>
          </a:p>
          <a:p>
            <a:pPr>
              <a:spcBef>
                <a:spcPts val="1200"/>
              </a:spcBef>
              <a:spcAft>
                <a:spcPts val="400"/>
              </a:spcAft>
            </a:pPr>
            <a:r>
              <a:rPr sz="1400" b="1">
                <a:solidFill>
                  <a:srgbClr val="163A6B"/>
                </a:solidFill>
              </a:rPr>
              <a:t>¿QUÉ SERÍA LO IDEAL?</a:t>
            </a:r>
          </a:p>
          <a:p>
            <a:pPr>
              <a:spcAft>
                <a:spcPts val="500"/>
              </a:spcAft>
            </a:pPr>
            <a:r>
              <a:rPr sz="1300">
                <a:solidFill>
                  <a:srgbClr val="163A6B"/>
                </a:solidFill>
              </a:rPr>
              <a:t>Que la deuda del Estado crezca más despacio que la economía (o baje), que el crédito a familias y empresas crezca de forma sostenida, y que los adelantos al Tesoro no aumenten.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Rectangle 1"/>
          <p:cNvSpPr/>
          <p:nvPr/>
        </p:nvSpPr>
        <p:spPr>
          <a:xfrm>
            <a:off x="0" y="0"/>
            <a:ext cx="12191695" cy="822960"/>
          </a:xfrm>
          <a:prstGeom prst="rect">
            <a:avLst/>
          </a:prstGeom>
          <a:solidFill>
            <a:srgbClr val="081E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45720"/>
          </a:xfrm>
          <a:prstGeom prst="rect">
            <a:avLst/>
          </a:prstGeom>
          <a:solidFill>
            <a:srgbClr val="697E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itcoin.png"/>
          <p:cNvPicPr>
            <a:picLocks noChangeAspect="1"/>
          </p:cNvPicPr>
          <p:nvPr/>
        </p:nvPicPr>
        <p:blipFill>
          <a:blip r:embed="rId2"/>
          <a:stretch>
            <a:fillRect/>
          </a:stretch>
        </p:blipFill>
        <p:spPr>
          <a:xfrm>
            <a:off x="411480" y="182880"/>
            <a:ext cx="457200" cy="457200"/>
          </a:xfrm>
          <a:prstGeom prst="rect">
            <a:avLst/>
          </a:prstGeom>
        </p:spPr>
      </p:pic>
      <p:sp>
        <p:nvSpPr>
          <p:cNvPr id="5" name="TextBox 4"/>
          <p:cNvSpPr txBox="1"/>
          <p:nvPr/>
        </p:nvSpPr>
        <p:spPr>
          <a:xfrm>
            <a:off x="960120" y="128016"/>
            <a:ext cx="8686800" cy="548640"/>
          </a:xfrm>
          <a:prstGeom prst="rect">
            <a:avLst/>
          </a:prstGeom>
          <a:noFill/>
        </p:spPr>
        <p:txBody>
          <a:bodyPr wrap="square">
            <a:spAutoFit/>
          </a:bodyPr>
          <a:lstStyle/>
          <a:p>
            <a:pPr algn="l"/>
            <a:r>
              <a:rPr sz="2600" b="1">
                <a:solidFill>
                  <a:srgbClr val="FFFFFF"/>
                </a:solidFill>
              </a:rPr>
              <a:t>Bitcoin</a:t>
            </a:r>
          </a:p>
        </p:txBody>
      </p:sp>
      <p:sp>
        <p:nvSpPr>
          <p:cNvPr id="6" name="TextBox 5"/>
          <p:cNvSpPr txBox="1"/>
          <p:nvPr/>
        </p:nvSpPr>
        <p:spPr>
          <a:xfrm>
            <a:off x="9509760" y="228600"/>
            <a:ext cx="2377440" cy="457200"/>
          </a:xfrm>
          <a:prstGeom prst="rect">
            <a:avLst/>
          </a:prstGeom>
          <a:noFill/>
        </p:spPr>
        <p:txBody>
          <a:bodyPr wrap="square">
            <a:spAutoFit/>
          </a:bodyPr>
          <a:lstStyle/>
          <a:p>
            <a:pPr algn="r"/>
            <a:r>
              <a:rPr sz="1600" b="0">
                <a:solidFill>
                  <a:srgbClr val="FFFFFF"/>
                </a:solidFill>
              </a:rPr>
              <a:t>30/10/2026</a:t>
            </a:r>
          </a:p>
        </p:txBody>
      </p:sp>
      <p:sp>
        <p:nvSpPr>
          <p:cNvPr id="7" name="TextBox 6"/>
          <p:cNvSpPr txBox="1"/>
          <p:nvPr/>
        </p:nvSpPr>
        <p:spPr>
          <a:xfrm>
            <a:off x="411480" y="6473952"/>
            <a:ext cx="8229600" cy="274320"/>
          </a:xfrm>
          <a:prstGeom prst="rect">
            <a:avLst/>
          </a:prstGeom>
          <a:noFill/>
        </p:spPr>
        <p:txBody>
          <a:bodyPr wrap="square">
            <a:spAutoFit/>
          </a:bodyPr>
          <a:lstStyle/>
          <a:p>
            <a:pPr algn="l"/>
            <a:r>
              <a:rPr sz="1000" b="0">
                <a:solidFill>
                  <a:srgbClr val="ECF0F1"/>
                </a:solidFill>
              </a:rPr>
              <a:t>Reporte Macroeconómico · Mauro E. Martinez · GlobalAIze</a:t>
            </a:r>
          </a:p>
        </p:txBody>
      </p:sp>
      <p:sp>
        <p:nvSpPr>
          <p:cNvPr id="8" name="TextBox 7"/>
          <p:cNvSpPr txBox="1"/>
          <p:nvPr/>
        </p:nvSpPr>
        <p:spPr>
          <a:xfrm>
            <a:off x="10881360" y="6473952"/>
            <a:ext cx="914400" cy="274320"/>
          </a:xfrm>
          <a:prstGeom prst="rect">
            <a:avLst/>
          </a:prstGeom>
          <a:noFill/>
        </p:spPr>
        <p:txBody>
          <a:bodyPr wrap="square">
            <a:spAutoFit/>
          </a:bodyPr>
          <a:lstStyle/>
          <a:p>
            <a:pPr algn="r"/>
            <a:r>
              <a:rPr sz="1000" b="0">
                <a:solidFill>
                  <a:srgbClr val="ECF0F1"/>
                </a:solidFill>
              </a:rPr>
              <a:t>8</a:t>
            </a:r>
          </a:p>
        </p:txBody>
      </p:sp>
      <p:sp>
        <p:nvSpPr>
          <p:cNvPr id="9" name="Rounded Rectangle 8"/>
          <p:cNvSpPr/>
          <p:nvPr/>
        </p:nvSpPr>
        <p:spPr>
          <a:xfrm>
            <a:off x="411480" y="1051560"/>
            <a:ext cx="7223760" cy="5303520"/>
          </a:xfrm>
          <a:prstGeom prst="roundRect">
            <a:avLst>
              <a:gd name="adj" fmla="val 4000"/>
            </a:avLst>
          </a:prstGeom>
          <a:solidFill>
            <a:srgbClr val="0B1B33"/>
          </a:solidFill>
          <a:ln w="12700">
            <a:solidFill>
              <a:srgbClr val="697E91"/>
            </a:solidFill>
          </a:ln>
          <a:effectLst>
            <a:outerShdw blurRad="177800" dist="63500" dir="5400000" algn="t" rotWithShape="0">
              <a:srgbClr val="081E4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Gráfico BTC.jpg"/>
          <p:cNvPicPr>
            <a:picLocks noChangeAspect="1"/>
          </p:cNvPicPr>
          <p:nvPr/>
        </p:nvPicPr>
        <p:blipFill>
          <a:blip r:embed="rId3"/>
          <a:stretch>
            <a:fillRect/>
          </a:stretch>
        </p:blipFill>
        <p:spPr>
          <a:xfrm>
            <a:off x="521208" y="1528299"/>
            <a:ext cx="7004304" cy="4350041"/>
          </a:xfrm>
          <a:prstGeom prst="rect">
            <a:avLst/>
          </a:prstGeom>
        </p:spPr>
      </p:pic>
      <p:sp>
        <p:nvSpPr>
          <p:cNvPr id="11" name="Rounded Rectangle 10"/>
          <p:cNvSpPr/>
          <p:nvPr/>
        </p:nvSpPr>
        <p:spPr>
          <a:xfrm>
            <a:off x="7863840" y="1097280"/>
            <a:ext cx="3977639" cy="5257800"/>
          </a:xfrm>
          <a:prstGeom prst="roundRect">
            <a:avLst>
              <a:gd name="adj" fmla="val 4000"/>
            </a:avLst>
          </a:prstGeom>
          <a:solidFill>
            <a:srgbClr val="0B1B33"/>
          </a:solidFill>
          <a:ln w="12700">
            <a:solidFill>
              <a:srgbClr val="697E91"/>
            </a:solidFill>
          </a:ln>
          <a:effectLst>
            <a:outerShdw blurRad="177800" dist="63500" dir="5400000" algn="t" rotWithShape="0">
              <a:srgbClr val="081E4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0" y="1234440"/>
            <a:ext cx="3703319" cy="4983480"/>
          </a:xfrm>
          <a:prstGeom prst="rect">
            <a:avLst/>
          </a:prstGeom>
          <a:noFill/>
        </p:spPr>
        <p:txBody>
          <a:bodyPr wrap="square">
            <a:spAutoFit/>
          </a:bodyPr>
          <a:lstStyle/>
          <a:p>
            <a:pPr>
              <a:spcAft>
                <a:spcPts val="400"/>
              </a:spcAft>
            </a:pPr>
            <a:r>
              <a:rPr sz="1600" b="1">
                <a:solidFill>
                  <a:srgbClr val="A8C3DB"/>
                </a:solidFill>
              </a:rPr>
              <a:t>RESUMEN DEL DÍA</a:t>
            </a:r>
          </a:p>
          <a:p>
            <a:pPr>
              <a:spcAft>
                <a:spcPts val="500"/>
              </a:spcAft>
            </a:pPr>
            <a:r>
              <a:rPr sz="1500">
                <a:solidFill>
                  <a:srgbClr val="ECF0F1"/>
                </a:solidFill>
              </a:rPr>
              <a:t>Bitcoin cerró en USD 76.382 el 30/10/2026: en 7 días -5,8%, en 30 días -8,6%, en el último año -30,3%.</a:t>
            </a:r>
          </a:p>
          <a:p>
            <a:pPr>
              <a:spcAft>
                <a:spcPts val="500"/>
              </a:spcAft>
            </a:pPr>
            <a:r>
              <a:rPr sz="1500">
                <a:solidFill>
                  <a:srgbClr val="ECF0F1"/>
                </a:solidFill>
              </a:rPr>
              <a:t>Volatilidad diaria de las últimas 20 ruedas: 1,6%.</a:t>
            </a:r>
          </a:p>
          <a:p>
            <a:pPr>
              <a:spcBef>
                <a:spcPts val="1200"/>
              </a:spcBef>
              <a:spcAft>
                <a:spcPts val="400"/>
              </a:spcAft>
            </a:pPr>
            <a:r>
              <a:rPr sz="1600" b="1">
                <a:solidFill>
                  <a:srgbClr val="A8C3DB"/>
                </a:solidFill>
              </a:rPr>
              <a:t>🤖 ANÁLISIS IA</a:t>
            </a:r>
          </a:p>
          <a:p>
            <a:pPr>
              <a:spcAft>
                <a:spcPts val="500"/>
              </a:spcAft>
            </a:pPr>
            <a:r>
              <a:rPr sz="1500">
                <a:solidFill>
                  <a:srgbClr val="ECF0F1"/>
                </a:solidFill>
              </a:rPr>
              <a:t>Bitcoin cerró la jornada en USD 76,382, registrando una caída del 5.79% en los últimos 7 días y del 8.58% en los últimos 30 días. La media móvil de 7 días se ubicó en USD 79,579, manteniéndose por debajo de la media de 30 días de USD 82,258. La volatilidad de 20 días operó en 1.60%, nivel inferior al promedio anual del 2.15%.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2F6FA"/>
        </a:solidFill>
        <a:effectLst/>
      </p:bgPr>
    </p:bg>
    <p:spTree>
      <p:nvGrpSpPr>
        <p:cNvPr id="1" name=""/>
        <p:cNvGrpSpPr/>
        <p:nvPr/>
      </p:nvGrpSpPr>
      <p:grpSpPr/>
      <p:sp>
        <p:nvSpPr>
          <p:cNvPr id="2" name="Rectangle 1"/>
          <p:cNvSpPr/>
          <p:nvPr/>
        </p:nvSpPr>
        <p:spPr>
          <a:xfrm>
            <a:off x="0" y="0"/>
            <a:ext cx="12191695" cy="822960"/>
          </a:xfrm>
          <a:prstGeom prst="rect">
            <a:avLst/>
          </a:prstGeom>
          <a:gradFill rotWithShape="1">
            <a:gsLst>
              <a:gs pos="0">
                <a:srgbClr val="081E40"/>
              </a:gs>
              <a:gs pos="100000">
                <a:srgbClr val="163A6B"/>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822960"/>
            <a:ext cx="12191695" cy="45720"/>
          </a:xfrm>
          <a:prstGeom prst="rect">
            <a:avLst/>
          </a:prstGeom>
          <a:solidFill>
            <a:srgbClr val="697E9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28016"/>
            <a:ext cx="8686800" cy="548640"/>
          </a:xfrm>
          <a:prstGeom prst="rect">
            <a:avLst/>
          </a:prstGeom>
          <a:noFill/>
        </p:spPr>
        <p:txBody>
          <a:bodyPr wrap="square">
            <a:spAutoFit/>
          </a:bodyPr>
          <a:lstStyle/>
          <a:p>
            <a:pPr algn="l"/>
            <a:r>
              <a:rPr sz="2400">
                <a:latin typeface="Segoe UI Emoji"/>
              </a:rPr>
              <a:t>📚 </a:t>
            </a:r>
            <a:r>
              <a:rPr sz="2600" b="1">
                <a:solidFill>
                  <a:srgbClr val="FFFFFF"/>
                </a:solidFill>
              </a:rPr>
              <a:t>Fuentes y contacto</a:t>
            </a:r>
          </a:p>
        </p:txBody>
      </p:sp>
      <p:sp>
        <p:nvSpPr>
          <p:cNvPr id="5" name="TextBox 4"/>
          <p:cNvSpPr txBox="1"/>
          <p:nvPr/>
        </p:nvSpPr>
        <p:spPr>
          <a:xfrm>
            <a:off x="9509760" y="228600"/>
            <a:ext cx="2377440" cy="457200"/>
          </a:xfrm>
          <a:prstGeom prst="rect">
            <a:avLst/>
          </a:prstGeom>
          <a:noFill/>
        </p:spPr>
        <p:txBody>
          <a:bodyPr wrap="square">
            <a:spAutoFit/>
          </a:bodyPr>
          <a:lstStyle/>
          <a:p>
            <a:pPr algn="r"/>
            <a:r>
              <a:rPr sz="1600" b="0">
                <a:solidFill>
                  <a:srgbClr val="FFFFFF"/>
                </a:solidFill>
              </a:rPr>
              <a:t>30/10/2026</a:t>
            </a:r>
          </a:p>
        </p:txBody>
      </p:sp>
      <p:sp>
        <p:nvSpPr>
          <p:cNvPr id="6" name="TextBox 5"/>
          <p:cNvSpPr txBox="1"/>
          <p:nvPr/>
        </p:nvSpPr>
        <p:spPr>
          <a:xfrm>
            <a:off x="411480" y="6473952"/>
            <a:ext cx="8229600" cy="274320"/>
          </a:xfrm>
          <a:prstGeom prst="rect">
            <a:avLst/>
          </a:prstGeom>
          <a:noFill/>
        </p:spPr>
        <p:txBody>
          <a:bodyPr wrap="square">
            <a:spAutoFit/>
          </a:bodyPr>
          <a:lstStyle/>
          <a:p>
            <a:pPr algn="l"/>
            <a:r>
              <a:rPr sz="1000" b="0">
                <a:solidFill>
                  <a:srgbClr val="5D6D7E"/>
                </a:solidFill>
              </a:rPr>
              <a:t>Reporte Macroeconómico · Mauro E. Martinez · GlobalAIze</a:t>
            </a:r>
          </a:p>
        </p:txBody>
      </p:sp>
      <p:sp>
        <p:nvSpPr>
          <p:cNvPr id="7" name="TextBox 6"/>
          <p:cNvSpPr txBox="1"/>
          <p:nvPr/>
        </p:nvSpPr>
        <p:spPr>
          <a:xfrm>
            <a:off x="10881360" y="6473952"/>
            <a:ext cx="914400" cy="274320"/>
          </a:xfrm>
          <a:prstGeom prst="rect">
            <a:avLst/>
          </a:prstGeom>
          <a:noFill/>
        </p:spPr>
        <p:txBody>
          <a:bodyPr wrap="square">
            <a:spAutoFit/>
          </a:bodyPr>
          <a:lstStyle/>
          <a:p>
            <a:pPr algn="r"/>
            <a:r>
              <a:rPr sz="1000" b="0">
                <a:solidFill>
                  <a:srgbClr val="5D6D7E"/>
                </a:solidFill>
              </a:rPr>
              <a:t>9</a:t>
            </a:r>
          </a:p>
        </p:txBody>
      </p:sp>
      <p:sp>
        <p:nvSpPr>
          <p:cNvPr id="8" name="Rounded Rectangle 7"/>
          <p:cNvSpPr/>
          <p:nvPr/>
        </p:nvSpPr>
        <p:spPr>
          <a:xfrm>
            <a:off x="320040" y="1005840"/>
            <a:ext cx="7178040" cy="5074920"/>
          </a:xfrm>
          <a:prstGeom prst="roundRect">
            <a:avLst>
              <a:gd name="adj" fmla="val 4000"/>
            </a:avLst>
          </a:prstGeom>
          <a:solidFill>
            <a:srgbClr val="FFFFFF"/>
          </a:solidFill>
          <a:ln w="9525">
            <a:solidFill>
              <a:srgbClr val="DCE6EF"/>
            </a:solidFill>
          </a:ln>
          <a:effectLst>
            <a:outerShdw blurRad="177800" dist="63500" dir="5400000" algn="t" rotWithShape="0">
              <a:srgbClr val="081E4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143000"/>
            <a:ext cx="6858000" cy="365760"/>
          </a:xfrm>
          <a:prstGeom prst="rect">
            <a:avLst/>
          </a:prstGeom>
          <a:noFill/>
        </p:spPr>
        <p:txBody>
          <a:bodyPr wrap="square">
            <a:spAutoFit/>
          </a:bodyPr>
          <a:lstStyle/>
          <a:p>
            <a:pPr algn="l"/>
            <a:r>
              <a:rPr sz="1400" b="1">
                <a:solidFill>
                  <a:srgbClr val="163A6B"/>
                </a:solidFill>
              </a:rPr>
              <a:t>FUENTES CONSULTADAS</a:t>
            </a:r>
          </a:p>
        </p:txBody>
      </p:sp>
      <p:sp>
        <p:nvSpPr>
          <p:cNvPr id="10" name="TextBox 9"/>
          <p:cNvSpPr txBox="1"/>
          <p:nvPr/>
        </p:nvSpPr>
        <p:spPr>
          <a:xfrm>
            <a:off x="502920" y="1554480"/>
            <a:ext cx="6858000" cy="4480560"/>
          </a:xfrm>
          <a:prstGeom prst="rect">
            <a:avLst/>
          </a:prstGeom>
          <a:noFill/>
        </p:spPr>
        <p:txBody>
          <a:bodyPr wrap="square">
            <a:spAutoFit/>
          </a:bodyPr>
          <a:lstStyle/>
          <a:p>
            <a:pPr>
              <a:spcAft>
                <a:spcPts val="900"/>
              </a:spcAft>
            </a:pPr>
            <a:r>
              <a:rPr sz="1500" b="1">
                <a:solidFill>
                  <a:srgbClr val="163A6B"/>
                </a:solidFill>
              </a:rPr>
              <a:t>Cotizaciones oficiales: </a:t>
            </a:r>
            <a:r>
              <a:rPr sz="1400">
                <a:solidFill>
                  <a:srgbClr val="2980B9"/>
                </a:solidFill>
                <a:hlinkClick r:id="rId2"/>
              </a:rPr>
              <a:t>https://www.bna.com.ar/Personas</a:t>
            </a:r>
          </a:p>
          <a:p>
            <a:pPr>
              <a:spcAft>
                <a:spcPts val="900"/>
              </a:spcAft>
            </a:pPr>
            <a:r>
              <a:rPr sz="1500" b="1">
                <a:solidFill>
                  <a:srgbClr val="163A6B"/>
                </a:solidFill>
              </a:rPr>
              <a:t>Cotizaciones paralelas: </a:t>
            </a:r>
            <a:r>
              <a:rPr sz="1400">
                <a:solidFill>
                  <a:srgbClr val="2980B9"/>
                </a:solidFill>
                <a:hlinkClick r:id="rId3"/>
              </a:rPr>
              <a:t>https://dolarhoy.com/cotizaciondolarblue</a:t>
            </a:r>
          </a:p>
          <a:p>
            <a:pPr>
              <a:spcAft>
                <a:spcPts val="900"/>
              </a:spcAft>
            </a:pPr>
            <a:r>
              <a:rPr sz="1500" b="1">
                <a:solidFill>
                  <a:srgbClr val="163A6B"/>
                </a:solidFill>
              </a:rPr>
              <a:t>Dólar MEP: </a:t>
            </a:r>
            <a:r>
              <a:rPr sz="1400">
                <a:solidFill>
                  <a:srgbClr val="2980B9"/>
                </a:solidFill>
                <a:hlinkClick r:id="rId4"/>
              </a:rPr>
              <a:t>https://www.ambito.com/contenidos/dolar-mep.html</a:t>
            </a:r>
          </a:p>
          <a:p>
            <a:pPr>
              <a:spcAft>
                <a:spcPts val="900"/>
              </a:spcAft>
            </a:pPr>
            <a:r>
              <a:rPr sz="1500" b="1">
                <a:solidFill>
                  <a:srgbClr val="163A6B"/>
                </a:solidFill>
              </a:rPr>
              <a:t>Euro blue: </a:t>
            </a:r>
            <a:r>
              <a:rPr sz="1400">
                <a:solidFill>
                  <a:srgbClr val="2980B9"/>
                </a:solidFill>
                <a:hlinkClick r:id="rId5"/>
              </a:rPr>
              <a:t>https://www.ambito.com/euro-informal</a:t>
            </a:r>
          </a:p>
          <a:p>
            <a:pPr>
              <a:spcAft>
                <a:spcPts val="900"/>
              </a:spcAft>
            </a:pPr>
            <a:r>
              <a:rPr sz="1500" b="1">
                <a:solidFill>
                  <a:srgbClr val="163A6B"/>
                </a:solidFill>
              </a:rPr>
              <a:t>Riesgo país y feriados: </a:t>
            </a:r>
            <a:r>
              <a:rPr sz="1400">
                <a:solidFill>
                  <a:srgbClr val="2980B9"/>
                </a:solidFill>
                <a:hlinkClick r:id="rId6"/>
              </a:rPr>
              <a:t>https://api.argentinadatos.com/v1/finanzas/indices/riesgo-pais</a:t>
            </a:r>
          </a:p>
          <a:p>
            <a:pPr>
              <a:spcAft>
                <a:spcPts val="900"/>
              </a:spcAft>
            </a:pPr>
            <a:r>
              <a:rPr sz="1500" b="1">
                <a:solidFill>
                  <a:srgbClr val="163A6B"/>
                </a:solidFill>
              </a:rPr>
              <a:t>Tasa de la FED (EFFR): </a:t>
            </a:r>
            <a:r>
              <a:rPr sz="1400">
                <a:solidFill>
                  <a:srgbClr val="2980B9"/>
                </a:solidFill>
                <a:hlinkClick r:id="rId7"/>
              </a:rPr>
              <a:t>https://api.stlouisfed.org/fred/series/observations</a:t>
            </a:r>
          </a:p>
          <a:p>
            <a:pPr>
              <a:spcAft>
                <a:spcPts val="900"/>
              </a:spcAft>
            </a:pPr>
            <a:r>
              <a:rPr sz="1500" b="1">
                <a:solidFill>
                  <a:srgbClr val="163A6B"/>
                </a:solidFill>
              </a:rPr>
              <a:t>BCRA: tasas, inflación, agregados, deuda y dólar mayorista: </a:t>
            </a:r>
            <a:r>
              <a:rPr sz="1400">
                <a:solidFill>
                  <a:srgbClr val="2980B9"/>
                </a:solidFill>
                <a:hlinkClick r:id="rId8"/>
              </a:rPr>
              <a:t>https://api.bcra.gob.ar/estadisticas/v4.0/Monetarias</a:t>
            </a:r>
          </a:p>
          <a:p>
            <a:pPr>
              <a:spcAft>
                <a:spcPts val="900"/>
              </a:spcAft>
            </a:pPr>
            <a:r>
              <a:rPr sz="1500" b="1">
                <a:solidFill>
                  <a:srgbClr val="163A6B"/>
                </a:solidFill>
              </a:rPr>
              <a:t>Deuda bruta del Tesoro (Secretaría de Finanzas): </a:t>
            </a:r>
            <a:r>
              <a:rPr sz="1400">
                <a:solidFill>
                  <a:srgbClr val="2980B9"/>
                </a:solidFill>
                <a:hlinkClick r:id="rId9"/>
              </a:rPr>
              <a:t>https://www.argentina.gob.ar/economia/finanzas/datos-mensuales-de-la-deuda/datos</a:t>
            </a:r>
          </a:p>
          <a:p>
            <a:pPr>
              <a:spcAft>
                <a:spcPts val="900"/>
              </a:spcAft>
            </a:pPr>
            <a:r>
              <a:rPr sz="1500" b="1">
                <a:solidFill>
                  <a:srgbClr val="163A6B"/>
                </a:solidFill>
              </a:rPr>
              <a:t>Bitcoin (Yahoo Finance): </a:t>
            </a:r>
            <a:r>
              <a:rPr sz="1400">
                <a:solidFill>
                  <a:srgbClr val="2980B9"/>
                </a:solidFill>
                <a:hlinkClick r:id="rId10"/>
              </a:rPr>
              <a:t>https://finance.yahoo.com/quote/BTC-USD</a:t>
            </a:r>
          </a:p>
        </p:txBody>
      </p:sp>
      <p:sp>
        <p:nvSpPr>
          <p:cNvPr id="11" name="Rounded Rectangle 10"/>
          <p:cNvSpPr/>
          <p:nvPr/>
        </p:nvSpPr>
        <p:spPr>
          <a:xfrm>
            <a:off x="7726679" y="1005840"/>
            <a:ext cx="4050791" cy="5074920"/>
          </a:xfrm>
          <a:prstGeom prst="roundRect">
            <a:avLst>
              <a:gd name="adj" fmla="val 4000"/>
            </a:avLst>
          </a:prstGeom>
          <a:solidFill>
            <a:srgbClr val="081E40"/>
          </a:solidFill>
          <a:ln w="12700">
            <a:solidFill>
              <a:srgbClr val="697E91"/>
            </a:solidFill>
          </a:ln>
          <a:effectLst>
            <a:outerShdw blurRad="177800" dist="63500" dir="5400000" algn="t" rotWithShape="0">
              <a:srgbClr val="081E40">
                <a:alpha val="35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0" y="1280160"/>
            <a:ext cx="3657600" cy="365760"/>
          </a:xfrm>
          <a:prstGeom prst="rect">
            <a:avLst/>
          </a:prstGeom>
          <a:noFill/>
        </p:spPr>
        <p:txBody>
          <a:bodyPr wrap="square">
            <a:spAutoFit/>
          </a:bodyPr>
          <a:lstStyle/>
          <a:p>
            <a:pPr algn="l"/>
            <a:r>
              <a:rPr sz="1400" b="1">
                <a:solidFill>
                  <a:srgbClr val="A8C3DB"/>
                </a:solidFill>
              </a:rPr>
              <a:t>CONTACTO</a:t>
            </a:r>
          </a:p>
        </p:txBody>
      </p:sp>
      <p:sp>
        <p:nvSpPr>
          <p:cNvPr id="13" name="TextBox 12"/>
          <p:cNvSpPr txBox="1"/>
          <p:nvPr/>
        </p:nvSpPr>
        <p:spPr>
          <a:xfrm>
            <a:off x="8001000" y="1691640"/>
            <a:ext cx="3657600" cy="822960"/>
          </a:xfrm>
          <a:prstGeom prst="rect">
            <a:avLst/>
          </a:prstGeom>
          <a:noFill/>
        </p:spPr>
        <p:txBody>
          <a:bodyPr wrap="square">
            <a:spAutoFit/>
          </a:bodyPr>
          <a:lstStyle/>
          <a:p>
            <a:pPr algn="l"/>
            <a:r>
              <a:rPr sz="1400" b="0">
                <a:solidFill>
                  <a:srgbClr val="ECF0F1"/>
                </a:solidFill>
              </a:rPr>
              <a:t>Reporte hecho íntegramente en Python por Mauro E. Martinez, de GlobalAIze (sitio en construcción).</a:t>
            </a:r>
          </a:p>
        </p:txBody>
      </p:sp>
      <p:pic>
        <p:nvPicPr>
          <p:cNvPr id="14" name="Picture 13" descr="linkedin.png">
            <a:hlinkClick r:id="rId12"/>
          </p:cNvPr>
          <p:cNvPicPr>
            <a:picLocks noChangeAspect="1"/>
          </p:cNvPicPr>
          <p:nvPr/>
        </p:nvPicPr>
        <p:blipFill>
          <a:blip r:embed="rId11"/>
          <a:stretch>
            <a:fillRect/>
          </a:stretch>
        </p:blipFill>
        <p:spPr>
          <a:xfrm>
            <a:off x="8151876" y="2743200"/>
            <a:ext cx="457200" cy="457200"/>
          </a:xfrm>
          <a:prstGeom prst="rect">
            <a:avLst/>
          </a:prstGeom>
        </p:spPr>
      </p:pic>
      <p:sp>
        <p:nvSpPr>
          <p:cNvPr id="15" name="TextBox 14">
            <a:hlinkClick r:id="rId12"/>
          </p:cNvPr>
          <p:cNvSpPr txBox="1"/>
          <p:nvPr/>
        </p:nvSpPr>
        <p:spPr>
          <a:xfrm>
            <a:off x="7909560" y="3227832"/>
            <a:ext cx="941832" cy="457200"/>
          </a:xfrm>
          <a:prstGeom prst="rect">
            <a:avLst/>
          </a:prstGeom>
          <a:noFill/>
        </p:spPr>
        <p:txBody>
          <a:bodyPr wrap="square">
            <a:spAutoFit/>
          </a:bodyPr>
          <a:lstStyle/>
          <a:p>
            <a:pPr algn="ctr"/>
            <a:r>
              <a:rPr sz="1100" b="0">
                <a:solidFill>
                  <a:srgbClr val="ECF0F1"/>
                </a:solidFill>
              </a:rPr>
              <a:t>LinkedIn</a:t>
            </a:r>
          </a:p>
        </p:txBody>
      </p:sp>
      <p:pic>
        <p:nvPicPr>
          <p:cNvPr id="16" name="Picture 15" descr="github.png">
            <a:hlinkClick r:id="rId14"/>
          </p:cNvPr>
          <p:cNvPicPr>
            <a:picLocks noChangeAspect="1"/>
          </p:cNvPicPr>
          <p:nvPr/>
        </p:nvPicPr>
        <p:blipFill>
          <a:blip r:embed="rId13"/>
          <a:stretch>
            <a:fillRect/>
          </a:stretch>
        </p:blipFill>
        <p:spPr>
          <a:xfrm>
            <a:off x="9093708" y="2743200"/>
            <a:ext cx="457200" cy="457200"/>
          </a:xfrm>
          <a:prstGeom prst="rect">
            <a:avLst/>
          </a:prstGeom>
        </p:spPr>
      </p:pic>
      <p:sp>
        <p:nvSpPr>
          <p:cNvPr id="17" name="TextBox 16">
            <a:hlinkClick r:id="rId14"/>
          </p:cNvPr>
          <p:cNvSpPr txBox="1"/>
          <p:nvPr/>
        </p:nvSpPr>
        <p:spPr>
          <a:xfrm>
            <a:off x="8851392" y="3227832"/>
            <a:ext cx="941832" cy="457200"/>
          </a:xfrm>
          <a:prstGeom prst="rect">
            <a:avLst/>
          </a:prstGeom>
          <a:noFill/>
        </p:spPr>
        <p:txBody>
          <a:bodyPr wrap="square">
            <a:spAutoFit/>
          </a:bodyPr>
          <a:lstStyle/>
          <a:p>
            <a:pPr algn="ctr"/>
            <a:r>
              <a:rPr sz="1100" b="0">
                <a:solidFill>
                  <a:srgbClr val="ECF0F1"/>
                </a:solidFill>
              </a:rPr>
              <a:t>GitHub</a:t>
            </a:r>
          </a:p>
        </p:txBody>
      </p:sp>
      <p:pic>
        <p:nvPicPr>
          <p:cNvPr id="18" name="Picture 17" descr="globalaize_logo_redondeado.png">
            <a:hlinkClick r:id="rId16"/>
          </p:cNvPr>
          <p:cNvPicPr>
            <a:picLocks noChangeAspect="1"/>
          </p:cNvPicPr>
          <p:nvPr/>
        </p:nvPicPr>
        <p:blipFill>
          <a:blip r:embed="rId15"/>
          <a:stretch>
            <a:fillRect/>
          </a:stretch>
        </p:blipFill>
        <p:spPr>
          <a:xfrm>
            <a:off x="10035540" y="2743200"/>
            <a:ext cx="457200" cy="457200"/>
          </a:xfrm>
          <a:prstGeom prst="rect">
            <a:avLst/>
          </a:prstGeom>
        </p:spPr>
      </p:pic>
      <p:sp>
        <p:nvSpPr>
          <p:cNvPr id="19" name="TextBox 18">
            <a:hlinkClick r:id="rId16"/>
          </p:cNvPr>
          <p:cNvSpPr txBox="1"/>
          <p:nvPr/>
        </p:nvSpPr>
        <p:spPr>
          <a:xfrm>
            <a:off x="9793224" y="3227832"/>
            <a:ext cx="941832" cy="457200"/>
          </a:xfrm>
          <a:prstGeom prst="rect">
            <a:avLst/>
          </a:prstGeom>
          <a:noFill/>
        </p:spPr>
        <p:txBody>
          <a:bodyPr wrap="square">
            <a:spAutoFit/>
          </a:bodyPr>
          <a:lstStyle/>
          <a:p>
            <a:pPr algn="ctr"/>
            <a:r>
              <a:rPr sz="1100" b="0">
                <a:solidFill>
                  <a:srgbClr val="ECF0F1"/>
                </a:solidFill>
              </a:rPr>
              <a:t>GlobalAIze</a:t>
            </a:r>
          </a:p>
        </p:txBody>
      </p:sp>
      <p:pic>
        <p:nvPicPr>
          <p:cNvPr id="20" name="Picture 19" descr="linkedin.png">
            <a:hlinkClick r:id="rId17"/>
          </p:cNvPr>
          <p:cNvPicPr>
            <a:picLocks noChangeAspect="1"/>
          </p:cNvPicPr>
          <p:nvPr/>
        </p:nvPicPr>
        <p:blipFill>
          <a:blip r:embed="rId11"/>
          <a:stretch>
            <a:fillRect/>
          </a:stretch>
        </p:blipFill>
        <p:spPr>
          <a:xfrm>
            <a:off x="10977372" y="2743200"/>
            <a:ext cx="457200" cy="457200"/>
          </a:xfrm>
          <a:prstGeom prst="rect">
            <a:avLst/>
          </a:prstGeom>
        </p:spPr>
      </p:pic>
      <p:sp>
        <p:nvSpPr>
          <p:cNvPr id="21" name="TextBox 20">
            <a:hlinkClick r:id="rId17"/>
          </p:cNvPr>
          <p:cNvSpPr txBox="1"/>
          <p:nvPr/>
        </p:nvSpPr>
        <p:spPr>
          <a:xfrm>
            <a:off x="10735056" y="3227832"/>
            <a:ext cx="941832" cy="457200"/>
          </a:xfrm>
          <a:prstGeom prst="rect">
            <a:avLst/>
          </a:prstGeom>
          <a:noFill/>
        </p:spPr>
        <p:txBody>
          <a:bodyPr wrap="square">
            <a:spAutoFit/>
          </a:bodyPr>
          <a:lstStyle/>
          <a:p>
            <a:pPr algn="ctr"/>
            <a:r>
              <a:rPr sz="1100" b="0">
                <a:solidFill>
                  <a:srgbClr val="ECF0F1"/>
                </a:solidFill>
              </a:rPr>
              <a:t>GlobalAIze en LinkedIn</a:t>
            </a:r>
          </a:p>
        </p:txBody>
      </p:sp>
      <p:sp>
        <p:nvSpPr>
          <p:cNvPr id="22" name="TextBox 21"/>
          <p:cNvSpPr txBox="1"/>
          <p:nvPr/>
        </p:nvSpPr>
        <p:spPr>
          <a:xfrm>
            <a:off x="8001000" y="4069080"/>
            <a:ext cx="3657600" cy="731520"/>
          </a:xfrm>
          <a:prstGeom prst="rect">
            <a:avLst/>
          </a:prstGeom>
          <a:noFill/>
        </p:spPr>
        <p:txBody>
          <a:bodyPr wrap="square">
            <a:spAutoFit/>
          </a:bodyPr>
          <a:lstStyle/>
          <a:p>
            <a:pPr algn="l"/>
            <a:r>
              <a:rPr sz="1500" b="1">
                <a:solidFill>
                  <a:srgbClr val="FFFFFF"/>
                </a:solidFill>
              </a:rPr>
              <a:t>☕ ¿Te sirvió el reporte? Podés apoyar el proyecto al alias mauroemartinezmp</a:t>
            </a:r>
          </a:p>
        </p:txBody>
      </p:sp>
      <p:sp>
        <p:nvSpPr>
          <p:cNvPr id="23" name="TextBox 22">
            <a:hlinkClick r:id="rId18"/>
          </p:cNvPr>
          <p:cNvSpPr txBox="1"/>
          <p:nvPr/>
        </p:nvSpPr>
        <p:spPr>
          <a:xfrm>
            <a:off x="8001000" y="4937760"/>
            <a:ext cx="3657600" cy="822960"/>
          </a:xfrm>
          <a:prstGeom prst="rect">
            <a:avLst/>
          </a:prstGeom>
          <a:noFill/>
        </p:spPr>
        <p:txBody>
          <a:bodyPr wrap="square">
            <a:spAutoFit/>
          </a:bodyPr>
          <a:lstStyle/>
          <a:p>
            <a:pPr algn="l"/>
            <a:r>
              <a:rPr sz="1400" b="0">
                <a:solidFill>
                  <a:srgbClr val="ECF0F1"/>
                </a:solidFill>
              </a:rPr>
              <a:t>📧 Consultas, desuscripciones o propuestas:</a:t>
            </a:r>
          </a:p>
          <a:p>
            <a:pPr algn="l"/>
            <a:r>
              <a:rPr sz="1400" b="0">
                <a:solidFill>
                  <a:srgbClr val="ECF0F1"/>
                </a:solidFill>
              </a:rPr>
              <a:t>mauro@globalaize.com</a:t>
            </a:r>
          </a:p>
        </p:txBody>
      </p:sp>
      <p:sp>
        <p:nvSpPr>
          <p:cNvPr id="24" name="TextBox 23"/>
          <p:cNvSpPr txBox="1"/>
          <p:nvPr/>
        </p:nvSpPr>
        <p:spPr>
          <a:xfrm>
            <a:off x="0" y="6144768"/>
            <a:ext cx="12191695" cy="320040"/>
          </a:xfrm>
          <a:prstGeom prst="rect">
            <a:avLst/>
          </a:prstGeom>
          <a:noFill/>
        </p:spPr>
        <p:txBody>
          <a:bodyPr wrap="square">
            <a:spAutoFit/>
          </a:bodyPr>
          <a:lstStyle/>
          <a:p>
            <a:pPr algn="ctr"/>
            <a:r>
              <a:rPr sz="1000" b="0">
                <a:solidFill>
                  <a:srgbClr val="5D6D7E"/>
                </a:solidFill>
              </a:rPr>
              <a:t>Análisis generado con Gemini a partir de los datos del día. No es asesoramiento financiero.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1F4E79"/>
      </a:hlink>
      <a:folHlink>
        <a:srgbClr val="081E4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Application>Seguimiento Macroeconómico</Application>
  <PresentationFormat>16:9</PresentationFormat>
  <Slides>9</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Reporte Macroeconómico 30/10/2026</dc:title>
  <dc:subject/>
  <dc:creator>Seguimiento Macroeconómico</dc:creator>
  <cp:keywords/>
  <dc:description/>
  <cp:lastModifiedBy>Seguimiento Macroeconómico</cp:lastModifiedBy>
  <cp:revision>1</cp:revision>
  <dcterms:created xsi:type="dcterms:W3CDTF">2026-10-30T19:02:38Z</dcterms:created>
  <dcterms:modified xsi:type="dcterms:W3CDTF">2026-10-30T19:02:38Z</dcterms:modified>
  <cp:category/>
</cp:coreProperties>
</file>